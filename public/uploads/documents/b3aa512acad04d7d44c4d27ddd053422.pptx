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15"/>
  </p:notesMasterIdLst>
  <p:sldIdLst>
    <p:sldId id="256" r:id="rId2"/>
    <p:sldId id="257" r:id="rId3"/>
    <p:sldId id="258" r:id="rId4"/>
    <p:sldId id="259" r:id="rId5"/>
    <p:sldId id="265" r:id="rId6"/>
    <p:sldId id="267" r:id="rId7"/>
    <p:sldId id="260" r:id="rId8"/>
    <p:sldId id="266" r:id="rId9"/>
    <p:sldId id="261" r:id="rId10"/>
    <p:sldId id="262" r:id="rId11"/>
    <p:sldId id="263" r:id="rId12"/>
    <p:sldId id="268" r:id="rId13"/>
    <p:sldId id="264" r:id="rId14"/>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0932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9/1/2026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38562335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9/1/2026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412030748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9/1/2026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15303622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9/1/2026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6550718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9/1/2026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52177057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9/1/2026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11724337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9/1/2026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69159958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9/1/2026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413446341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9/1/2026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75915664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9/1/2026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404457980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9/1/2026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27352910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9/1/2026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423576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9/1/2026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90420407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9/1/2026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70146413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9/1/2026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30633391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9/1/2026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770093898"/>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9/1/2026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447877772"/>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4794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9/1/2026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extLst>
      <p:ext uri="{BB962C8B-B14F-4D97-AF65-F5344CB8AC3E}">
        <p14:creationId xmlns:p14="http://schemas.microsoft.com/office/powerpoint/2010/main" val="3634894611"/>
      </p:ext>
    </p:extLst>
  </p:cSld>
  <p:clrMap bg1="dk1" tx1="lt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showMasterSp="0">
  <p:cSld name="Slide 1">
    <p:bg>
      <p:bgPr>
        <a:pattFill prst="dashHorz">
          <a:fgClr>
            <a:srgbClr val="0B2E33"/>
          </a:fgClr>
          <a:bgClr>
            <a:schemeClr val="bg1">
              <a:lumMod val="85000"/>
              <a:lumOff val="15000"/>
            </a:schemeClr>
          </a:bgClr>
        </a:pattFill>
        <a:effectLst/>
      </p:bgPr>
    </p:bg>
    <p:spTree>
      <p:nvGrpSpPr>
        <p:cNvPr id="1" name=""/>
        <p:cNvGrpSpPr/>
        <p:nvPr/>
      </p:nvGrpSpPr>
      <p:grpSpPr>
        <a:xfrm>
          <a:off x="0" y="0"/>
          <a:ext cx="0" cy="0"/>
          <a:chOff x="0" y="0"/>
          <a:chExt cx="0" cy="0"/>
        </a:xfrm>
      </p:grpSpPr>
      <p:sp>
        <p:nvSpPr>
          <p:cNvPr id="2" name="Text 0"/>
          <p:cNvSpPr txBox="1"/>
          <p:nvPr/>
        </p:nvSpPr>
        <p:spPr>
          <a:xfrm>
            <a:off x="822960" y="2103120"/>
            <a:ext cx="10515600" cy="1005840"/>
          </a:xfrm>
          <a:prstGeom prst="rect">
            <a:avLst/>
          </a:prstGeom>
          <a:noFill/>
          <a:ln/>
        </p:spPr>
        <p:txBody>
          <a:bodyPr wrap="square" lIns="0" tIns="0" rIns="0" bIns="0" rtlCol="0" anchor="ctr"/>
          <a:lstStyle/>
          <a:p>
            <a:pPr marL="0" indent="0">
              <a:buNone/>
            </a:pPr>
            <a:r>
              <a:rPr lang="en-US" sz="5000" b="1" dirty="0">
                <a:solidFill>
                  <a:srgbClr val="FFFFFF"/>
                </a:solidFill>
                <a:latin typeface="Arial" panose="020B0604020202020204" pitchFamily="34" charset="0"/>
                <a:ea typeface="Cambria" pitchFamily="34" charset="-122"/>
                <a:cs typeface="Arial" panose="020B0604020202020204" pitchFamily="34" charset="0"/>
              </a:rPr>
              <a:t>CampusLink</a:t>
            </a:r>
            <a:endParaRPr lang="en-US" sz="5000" dirty="0">
              <a:latin typeface="Arial" panose="020B0604020202020204" pitchFamily="34" charset="0"/>
              <a:cs typeface="Arial" panose="020B0604020202020204" pitchFamily="34" charset="0"/>
            </a:endParaRPr>
          </a:p>
        </p:txBody>
      </p:sp>
      <p:sp>
        <p:nvSpPr>
          <p:cNvPr id="3" name="Text 1"/>
          <p:cNvSpPr txBox="1"/>
          <p:nvPr/>
        </p:nvSpPr>
        <p:spPr>
          <a:xfrm>
            <a:off x="822960" y="3154680"/>
            <a:ext cx="9875520" cy="502920"/>
          </a:xfrm>
          <a:prstGeom prst="rect">
            <a:avLst/>
          </a:prstGeom>
          <a:noFill/>
          <a:ln/>
        </p:spPr>
        <p:txBody>
          <a:bodyPr wrap="square" lIns="0" tIns="0" rIns="0" bIns="0" rtlCol="0" anchor="ctr"/>
          <a:lstStyle/>
          <a:p>
            <a:pPr marL="0" indent="0">
              <a:buNone/>
            </a:pPr>
            <a:r>
              <a:rPr lang="en-US" sz="1900" dirty="0">
                <a:solidFill>
                  <a:srgbClr val="6FD9CE"/>
                </a:solidFill>
                <a:latin typeface="Arial" panose="020B0604020202020204" pitchFamily="34" charset="0"/>
                <a:ea typeface="Calibri" pitchFamily="34" charset="-122"/>
                <a:cs typeface="Arial" panose="020B0604020202020204" pitchFamily="34" charset="0"/>
              </a:rPr>
              <a:t>A verified student platform for Tanzanian and East African universities</a:t>
            </a:r>
            <a:endParaRPr lang="en-US" sz="1900" dirty="0">
              <a:latin typeface="Arial" panose="020B0604020202020204" pitchFamily="34" charset="0"/>
              <a:cs typeface="Arial" panose="020B0604020202020204" pitchFamily="34" charset="0"/>
            </a:endParaRPr>
          </a:p>
        </p:txBody>
      </p:sp>
      <p:sp>
        <p:nvSpPr>
          <p:cNvPr id="4" name="Text 2"/>
          <p:cNvSpPr txBox="1"/>
          <p:nvPr/>
        </p:nvSpPr>
        <p:spPr>
          <a:xfrm>
            <a:off x="822960" y="3794760"/>
            <a:ext cx="8961120" cy="1005840"/>
          </a:xfrm>
          <a:prstGeom prst="rect">
            <a:avLst/>
          </a:prstGeom>
          <a:noFill/>
          <a:ln/>
        </p:spPr>
        <p:txBody>
          <a:bodyPr wrap="square" lIns="0" tIns="0" rIns="0" bIns="0" rtlCol="0" anchor="ctr"/>
          <a:lstStyle/>
          <a:p>
            <a:pPr marL="0" indent="0">
              <a:buNone/>
            </a:pPr>
            <a:r>
              <a:rPr lang="en-US" sz="1300" dirty="0">
                <a:solidFill>
                  <a:srgbClr val="C9D9D8"/>
                </a:solidFill>
                <a:latin typeface="Arial" panose="020B0604020202020204" pitchFamily="34" charset="0"/>
                <a:ea typeface="Calibri" pitchFamily="34" charset="-122"/>
                <a:cs typeface="Arial" panose="020B0604020202020204" pitchFamily="34" charset="0"/>
              </a:rPr>
              <a:t>Chat, class documents, groups, a marketplace, and a skills directory, brought together in one place and locked to real, verified students starting at the University of Dodoma and 40+ other institutions across Tanzania.</a:t>
            </a:r>
            <a:endParaRPr lang="en-US" sz="1300" dirty="0">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marL="0" indent="0">
              <a:buNone/>
            </a:pPr>
            <a:r>
              <a:rPr lang="en-US" sz="3000" b="1" dirty="0">
                <a:solidFill>
                  <a:srgbClr val="1C1C1C"/>
                </a:solidFill>
                <a:latin typeface="Arial" panose="020B0604020202020204" pitchFamily="34" charset="0"/>
                <a:ea typeface="Cambria" pitchFamily="34" charset="-122"/>
                <a:cs typeface="Arial" panose="020B0604020202020204" pitchFamily="34" charset="0"/>
              </a:rPr>
              <a:t>The problem</a:t>
            </a:r>
            <a:endParaRPr lang="en-US" sz="3000" dirty="0">
              <a:latin typeface="Arial" panose="020B0604020202020204" pitchFamily="34" charset="0"/>
              <a:cs typeface="Arial" panose="020B0604020202020204" pitchFamily="34" charset="0"/>
            </a:endParaRPr>
          </a:p>
        </p:txBody>
      </p:sp>
      <p:sp>
        <p:nvSpPr>
          <p:cNvPr id="3" name="Text 1"/>
          <p:cNvSpPr txBox="1"/>
          <p:nvPr/>
        </p:nvSpPr>
        <p:spPr>
          <a:xfrm>
            <a:off x="640080" y="1033272"/>
            <a:ext cx="10881360" cy="457200"/>
          </a:xfrm>
          <a:prstGeom prst="rect">
            <a:avLst/>
          </a:prstGeom>
          <a:noFill/>
          <a:ln/>
        </p:spPr>
        <p:txBody>
          <a:bodyPr wrap="square" lIns="0" tIns="0" rIns="0" bIns="0" rtlCol="0" anchor="ctr"/>
          <a:lstStyle/>
          <a:p>
            <a:pPr marL="0" indent="0">
              <a:buNone/>
            </a:pPr>
            <a:r>
              <a:rPr lang="en-US" sz="1350" dirty="0">
                <a:solidFill>
                  <a:srgbClr val="5B6B6D"/>
                </a:solidFill>
                <a:latin typeface="Arial" panose="020B0604020202020204" pitchFamily="34" charset="0"/>
                <a:ea typeface="Calibri" pitchFamily="34" charset="-122"/>
                <a:cs typeface="Arial" panose="020B0604020202020204" pitchFamily="34" charset="0"/>
              </a:rPr>
              <a:t>Student life runs on tools that were never built for students</a:t>
            </a:r>
            <a:endParaRPr lang="en-US" sz="1350" dirty="0">
              <a:latin typeface="Arial" panose="020B0604020202020204" pitchFamily="34" charset="0"/>
              <a:cs typeface="Arial" panose="020B0604020202020204" pitchFamily="34" charset="0"/>
            </a:endParaRPr>
          </a:p>
        </p:txBody>
      </p:sp>
      <p:sp>
        <p:nvSpPr>
          <p:cNvPr id="4" name="Text 2"/>
          <p:cNvSpPr txBox="1"/>
          <p:nvPr/>
        </p:nvSpPr>
        <p:spPr>
          <a:xfrm>
            <a:off x="640080" y="1600200"/>
            <a:ext cx="10881360" cy="685800"/>
          </a:xfrm>
          <a:prstGeom prst="rect">
            <a:avLst/>
          </a:prstGeom>
          <a:noFill/>
          <a:ln/>
        </p:spPr>
        <p:txBody>
          <a:bodyPr wrap="square" lIns="0" tIns="0" rIns="0" bIns="0" rtlCol="0" anchor="ctr"/>
          <a:lstStyle/>
          <a:p>
            <a:r>
              <a:rPr lang="en-US" sz="1350" dirty="0">
                <a:solidFill>
                  <a:srgbClr val="1C1C1C"/>
                </a:solidFill>
                <a:latin typeface="Arial" panose="020B0604020202020204" pitchFamily="34" charset="0"/>
                <a:ea typeface="Calibri" pitchFamily="34" charset="-122"/>
                <a:cs typeface="Arial" panose="020B0604020202020204" pitchFamily="34" charset="0"/>
              </a:rPr>
              <a:t>Across Tanzanian universities UDOM included students patch together a handful of unofficial, unstructured tools just to get through a semester. There is no one centralized place for students across Tanzania to share resources and interact as students.</a:t>
            </a:r>
            <a:endParaRPr lang="en-US" sz="1350" dirty="0">
              <a:latin typeface="Arial" panose="020B0604020202020204" pitchFamily="34" charset="0"/>
              <a:cs typeface="Arial" panose="020B0604020202020204" pitchFamily="34" charset="0"/>
            </a:endParaRPr>
          </a:p>
        </p:txBody>
      </p:sp>
      <p:sp>
        <p:nvSpPr>
          <p:cNvPr id="5" name="Text 3"/>
          <p:cNvSpPr txBox="1"/>
          <p:nvPr/>
        </p:nvSpPr>
        <p:spPr>
          <a:xfrm>
            <a:off x="640080" y="2423160"/>
            <a:ext cx="4206240" cy="704088"/>
          </a:xfrm>
          <a:prstGeom prst="rect">
            <a:avLst/>
          </a:prstGeom>
          <a:noFill/>
          <a:ln/>
        </p:spPr>
        <p:txBody>
          <a:bodyPr wrap="square" lIns="0" tIns="0" rIns="0" bIns="0" rtlCol="0" anchor="t"/>
          <a:lstStyle/>
          <a:p>
            <a:pPr marL="0" indent="0">
              <a:buNone/>
            </a:pPr>
            <a:r>
              <a:rPr lang="en-US" sz="1250" b="1" dirty="0">
                <a:solidFill>
                  <a:srgbClr val="028090"/>
                </a:solidFill>
                <a:latin typeface="Arial" panose="020B0604020202020204" pitchFamily="34" charset="0"/>
                <a:ea typeface="Calibri" pitchFamily="34" charset="-122"/>
                <a:cs typeface="Arial" panose="020B0604020202020204" pitchFamily="34" charset="0"/>
              </a:rPr>
              <a:t>WhatsApp groups for class communication</a:t>
            </a:r>
            <a:endParaRPr lang="en-US" sz="1250" dirty="0">
              <a:latin typeface="Arial" panose="020B0604020202020204" pitchFamily="34" charset="0"/>
              <a:cs typeface="Arial" panose="020B0604020202020204" pitchFamily="34" charset="0"/>
            </a:endParaRPr>
          </a:p>
        </p:txBody>
      </p:sp>
      <p:sp>
        <p:nvSpPr>
          <p:cNvPr id="6" name="Text 4"/>
          <p:cNvSpPr txBox="1"/>
          <p:nvPr/>
        </p:nvSpPr>
        <p:spPr>
          <a:xfrm>
            <a:off x="5029200" y="2423160"/>
            <a:ext cx="6492240" cy="704088"/>
          </a:xfrm>
          <a:prstGeom prst="rect">
            <a:avLst/>
          </a:prstGeom>
          <a:noFill/>
          <a:ln/>
        </p:spPr>
        <p:txBody>
          <a:bodyPr wrap="square" lIns="0" tIns="0" rIns="0" bIns="0" rtlCol="0" anchor="t"/>
          <a:lstStyle/>
          <a:p>
            <a:pPr marL="0" indent="0">
              <a:buNone/>
            </a:pPr>
            <a:r>
              <a:rPr lang="en-US" sz="1150" dirty="0">
                <a:solidFill>
                  <a:srgbClr val="5B6B6D"/>
                </a:solidFill>
                <a:latin typeface="Arial" panose="020B0604020202020204" pitchFamily="34" charset="0"/>
                <a:ea typeface="Calibri" pitchFamily="34" charset="-122"/>
                <a:cs typeface="Arial" panose="020B0604020202020204" pitchFamily="34" charset="0"/>
              </a:rPr>
              <a:t>Anyone can be added, admins change, history gets lost when a group is deleted, and there's no way to separate an urgent announcement from casual chat.</a:t>
            </a:r>
            <a:endParaRPr lang="en-US" sz="1150" dirty="0">
              <a:latin typeface="Arial" panose="020B0604020202020204" pitchFamily="34" charset="0"/>
              <a:cs typeface="Arial" panose="020B0604020202020204" pitchFamily="34" charset="0"/>
            </a:endParaRPr>
          </a:p>
        </p:txBody>
      </p:sp>
      <p:sp>
        <p:nvSpPr>
          <p:cNvPr id="7" name="Text 5"/>
          <p:cNvSpPr txBox="1"/>
          <p:nvPr/>
        </p:nvSpPr>
        <p:spPr>
          <a:xfrm>
            <a:off x="640080" y="3218688"/>
            <a:ext cx="4206240" cy="704088"/>
          </a:xfrm>
          <a:prstGeom prst="rect">
            <a:avLst/>
          </a:prstGeom>
          <a:noFill/>
          <a:ln/>
        </p:spPr>
        <p:txBody>
          <a:bodyPr wrap="square" lIns="0" tIns="0" rIns="0" bIns="0" rtlCol="0" anchor="t"/>
          <a:lstStyle/>
          <a:p>
            <a:pPr marL="0" indent="0">
              <a:buNone/>
            </a:pPr>
            <a:r>
              <a:rPr lang="en-US" sz="1250" b="1" dirty="0">
                <a:solidFill>
                  <a:srgbClr val="028090"/>
                </a:solidFill>
                <a:latin typeface="Arial" panose="020B0604020202020204" pitchFamily="34" charset="0"/>
                <a:ea typeface="Calibri" pitchFamily="34" charset="-122"/>
                <a:cs typeface="Arial" panose="020B0604020202020204" pitchFamily="34" charset="0"/>
              </a:rPr>
              <a:t>Google Drive links passed around informally</a:t>
            </a:r>
            <a:endParaRPr lang="en-US" sz="1250" dirty="0">
              <a:latin typeface="Arial" panose="020B0604020202020204" pitchFamily="34" charset="0"/>
              <a:cs typeface="Arial" panose="020B0604020202020204" pitchFamily="34" charset="0"/>
            </a:endParaRPr>
          </a:p>
        </p:txBody>
      </p:sp>
      <p:sp>
        <p:nvSpPr>
          <p:cNvPr id="8" name="Text 6"/>
          <p:cNvSpPr txBox="1"/>
          <p:nvPr/>
        </p:nvSpPr>
        <p:spPr>
          <a:xfrm>
            <a:off x="5029200" y="3218688"/>
            <a:ext cx="6492240" cy="704088"/>
          </a:xfrm>
          <a:prstGeom prst="rect">
            <a:avLst/>
          </a:prstGeom>
          <a:noFill/>
          <a:ln/>
        </p:spPr>
        <p:txBody>
          <a:bodyPr wrap="square" lIns="0" tIns="0" rIns="0" bIns="0" rtlCol="0" anchor="t"/>
          <a:lstStyle/>
          <a:p>
            <a:pPr marL="0" indent="0">
              <a:buNone/>
            </a:pPr>
            <a:r>
              <a:rPr lang="en-US" sz="1150" dirty="0">
                <a:solidFill>
                  <a:srgbClr val="5B6B6D"/>
                </a:solidFill>
                <a:latin typeface="Arial" panose="020B0604020202020204" pitchFamily="34" charset="0"/>
                <a:ea typeface="Calibri" pitchFamily="34" charset="-122"/>
                <a:cs typeface="Arial" panose="020B0604020202020204" pitchFamily="34" charset="0"/>
              </a:rPr>
              <a:t>Notes and past papers live in whichever link someone last shared. There's no shared library, no way to search past semesters, and links break or expire.</a:t>
            </a:r>
            <a:endParaRPr lang="en-US" sz="1150" dirty="0">
              <a:latin typeface="Arial" panose="020B0604020202020204" pitchFamily="34" charset="0"/>
              <a:cs typeface="Arial" panose="020B0604020202020204" pitchFamily="34" charset="0"/>
            </a:endParaRPr>
          </a:p>
        </p:txBody>
      </p:sp>
      <p:sp>
        <p:nvSpPr>
          <p:cNvPr id="9" name="Text 7"/>
          <p:cNvSpPr txBox="1"/>
          <p:nvPr/>
        </p:nvSpPr>
        <p:spPr>
          <a:xfrm>
            <a:off x="640080" y="4014216"/>
            <a:ext cx="4206240" cy="704088"/>
          </a:xfrm>
          <a:prstGeom prst="rect">
            <a:avLst/>
          </a:prstGeom>
          <a:noFill/>
          <a:ln/>
        </p:spPr>
        <p:txBody>
          <a:bodyPr wrap="square" lIns="0" tIns="0" rIns="0" bIns="0" rtlCol="0" anchor="t"/>
          <a:lstStyle/>
          <a:p>
            <a:pPr marL="0" indent="0">
              <a:buNone/>
            </a:pPr>
            <a:r>
              <a:rPr lang="en-US" sz="1250" b="1" dirty="0">
                <a:solidFill>
                  <a:srgbClr val="028090"/>
                </a:solidFill>
                <a:latin typeface="Arial" panose="020B0604020202020204" pitchFamily="34" charset="0"/>
                <a:ea typeface="Calibri" pitchFamily="34" charset="-122"/>
                <a:cs typeface="Arial" panose="020B0604020202020204" pitchFamily="34" charset="0"/>
              </a:rPr>
              <a:t>Facebook Marketplace and word-of-mouth for textbooks</a:t>
            </a:r>
            <a:endParaRPr lang="en-US" sz="1250" dirty="0">
              <a:latin typeface="Arial" panose="020B0604020202020204" pitchFamily="34" charset="0"/>
              <a:cs typeface="Arial" panose="020B0604020202020204" pitchFamily="34" charset="0"/>
            </a:endParaRPr>
          </a:p>
        </p:txBody>
      </p:sp>
      <p:sp>
        <p:nvSpPr>
          <p:cNvPr id="10" name="Text 8"/>
          <p:cNvSpPr txBox="1"/>
          <p:nvPr/>
        </p:nvSpPr>
        <p:spPr>
          <a:xfrm>
            <a:off x="5029200" y="4014216"/>
            <a:ext cx="6492240" cy="704088"/>
          </a:xfrm>
          <a:prstGeom prst="rect">
            <a:avLst/>
          </a:prstGeom>
          <a:noFill/>
          <a:ln/>
        </p:spPr>
        <p:txBody>
          <a:bodyPr wrap="square" lIns="0" tIns="0" rIns="0" bIns="0" rtlCol="0" anchor="t"/>
          <a:lstStyle/>
          <a:p>
            <a:pPr marL="0" indent="0">
              <a:buNone/>
            </a:pPr>
            <a:r>
              <a:rPr lang="en-US" sz="1150" dirty="0">
                <a:solidFill>
                  <a:srgbClr val="5B6B6D"/>
                </a:solidFill>
                <a:latin typeface="Arial" panose="020B0604020202020204" pitchFamily="34" charset="0"/>
                <a:ea typeface="Calibri" pitchFamily="34" charset="-122"/>
                <a:cs typeface="Arial" panose="020B0604020202020204" pitchFamily="34" charset="0"/>
              </a:rPr>
              <a:t>Buying or selling a textbook means posting in a group and hoping the right person sees it, with no way to confirm the other person is actually a student.</a:t>
            </a:r>
            <a:endParaRPr lang="en-US" sz="1150" dirty="0">
              <a:latin typeface="Arial" panose="020B0604020202020204" pitchFamily="34" charset="0"/>
              <a:cs typeface="Arial" panose="020B0604020202020204" pitchFamily="34" charset="0"/>
            </a:endParaRPr>
          </a:p>
        </p:txBody>
      </p:sp>
      <p:sp>
        <p:nvSpPr>
          <p:cNvPr id="11" name="Text 9"/>
          <p:cNvSpPr txBox="1"/>
          <p:nvPr/>
        </p:nvSpPr>
        <p:spPr>
          <a:xfrm>
            <a:off x="640080" y="4809744"/>
            <a:ext cx="4206240" cy="704088"/>
          </a:xfrm>
          <a:prstGeom prst="rect">
            <a:avLst/>
          </a:prstGeom>
          <a:noFill/>
          <a:ln/>
        </p:spPr>
        <p:txBody>
          <a:bodyPr wrap="square" lIns="0" tIns="0" rIns="0" bIns="0" rtlCol="0" anchor="t"/>
          <a:lstStyle/>
          <a:p>
            <a:pPr marL="0" indent="0">
              <a:buNone/>
            </a:pPr>
            <a:r>
              <a:rPr lang="en-US" sz="1250" b="1" dirty="0">
                <a:solidFill>
                  <a:srgbClr val="028090"/>
                </a:solidFill>
                <a:latin typeface="Arial" panose="020B0604020202020204" pitchFamily="34" charset="0"/>
                <a:ea typeface="Calibri" pitchFamily="34" charset="-122"/>
                <a:cs typeface="Arial" panose="020B0604020202020204" pitchFamily="34" charset="0"/>
              </a:rPr>
              <a:t>No structured way to find classmates by skill</a:t>
            </a:r>
            <a:endParaRPr lang="en-US" sz="1250" dirty="0">
              <a:latin typeface="Arial" panose="020B0604020202020204" pitchFamily="34" charset="0"/>
              <a:cs typeface="Arial" panose="020B0604020202020204" pitchFamily="34" charset="0"/>
            </a:endParaRPr>
          </a:p>
        </p:txBody>
      </p:sp>
      <p:sp>
        <p:nvSpPr>
          <p:cNvPr id="12" name="Text 10"/>
          <p:cNvSpPr txBox="1"/>
          <p:nvPr/>
        </p:nvSpPr>
        <p:spPr>
          <a:xfrm>
            <a:off x="5029200" y="4809744"/>
            <a:ext cx="6492240" cy="704088"/>
          </a:xfrm>
          <a:prstGeom prst="rect">
            <a:avLst/>
          </a:prstGeom>
          <a:noFill/>
          <a:ln/>
        </p:spPr>
        <p:txBody>
          <a:bodyPr wrap="square" lIns="0" tIns="0" rIns="0" bIns="0" rtlCol="0" anchor="t"/>
          <a:lstStyle/>
          <a:p>
            <a:pPr marL="0" indent="0">
              <a:buNone/>
            </a:pPr>
            <a:r>
              <a:rPr lang="en-US" sz="1150" dirty="0">
                <a:solidFill>
                  <a:srgbClr val="5B6B6D"/>
                </a:solidFill>
                <a:latin typeface="Arial" panose="020B0604020202020204" pitchFamily="34" charset="0"/>
                <a:ea typeface="Calibri" pitchFamily="34" charset="-122"/>
                <a:cs typeface="Arial" panose="020B0604020202020204" pitchFamily="34" charset="0"/>
              </a:rPr>
              <a:t>Group projects rely on already knowing the right person. There's no directory of who can code, design, write, or present.</a:t>
            </a:r>
            <a:endParaRPr lang="en-US" sz="1150" dirty="0">
              <a:latin typeface="Arial" panose="020B0604020202020204" pitchFamily="34" charset="0"/>
              <a:cs typeface="Arial" panose="020B0604020202020204" pitchFamily="34" charset="0"/>
            </a:endParaRPr>
          </a:p>
        </p:txBody>
      </p:sp>
      <p:sp>
        <p:nvSpPr>
          <p:cNvPr id="13" name="Text 11"/>
          <p:cNvSpPr txBox="1"/>
          <p:nvPr/>
        </p:nvSpPr>
        <p:spPr>
          <a:xfrm>
            <a:off x="640080" y="5605272"/>
            <a:ext cx="4206240" cy="704088"/>
          </a:xfrm>
          <a:prstGeom prst="rect">
            <a:avLst/>
          </a:prstGeom>
          <a:noFill/>
          <a:ln/>
        </p:spPr>
        <p:txBody>
          <a:bodyPr wrap="square" lIns="0" tIns="0" rIns="0" bIns="0" rtlCol="0" anchor="t"/>
          <a:lstStyle/>
          <a:p>
            <a:pPr marL="0" indent="0">
              <a:buNone/>
            </a:pPr>
            <a:r>
              <a:rPr lang="en-US" sz="1250" b="1" dirty="0">
                <a:solidFill>
                  <a:srgbClr val="028090"/>
                </a:solidFill>
                <a:latin typeface="Arial" panose="020B0604020202020204" pitchFamily="34" charset="0"/>
                <a:ea typeface="Calibri" pitchFamily="34" charset="-122"/>
                <a:cs typeface="Arial" panose="020B0604020202020204" pitchFamily="34" charset="0"/>
              </a:rPr>
              <a:t>No single space exclusive to one university's students</a:t>
            </a:r>
            <a:endParaRPr lang="en-US" sz="1250" dirty="0">
              <a:latin typeface="Arial" panose="020B0604020202020204" pitchFamily="34" charset="0"/>
              <a:cs typeface="Arial" panose="020B0604020202020204" pitchFamily="34" charset="0"/>
            </a:endParaRPr>
          </a:p>
        </p:txBody>
      </p:sp>
      <p:sp>
        <p:nvSpPr>
          <p:cNvPr id="14" name="Text 12"/>
          <p:cNvSpPr txBox="1"/>
          <p:nvPr/>
        </p:nvSpPr>
        <p:spPr>
          <a:xfrm>
            <a:off x="5029200" y="5605272"/>
            <a:ext cx="6492240" cy="704088"/>
          </a:xfrm>
          <a:prstGeom prst="rect">
            <a:avLst/>
          </a:prstGeom>
          <a:noFill/>
          <a:ln/>
        </p:spPr>
        <p:txBody>
          <a:bodyPr wrap="square" lIns="0" tIns="0" rIns="0" bIns="0" rtlCol="0" anchor="t"/>
          <a:lstStyle/>
          <a:p>
            <a:pPr marL="0" indent="0">
              <a:buNone/>
            </a:pPr>
            <a:r>
              <a:rPr lang="en-US" sz="1150" dirty="0">
                <a:solidFill>
                  <a:srgbClr val="5B6B6D"/>
                </a:solidFill>
                <a:latin typeface="Arial" panose="020B0604020202020204" pitchFamily="34" charset="0"/>
                <a:ea typeface="Calibri" pitchFamily="34" charset="-122"/>
                <a:cs typeface="Arial" panose="020B0604020202020204" pitchFamily="34" charset="0"/>
              </a:rPr>
              <a:t>Every one of these tools is open to anyone with a link — there's no trust layer confirming who is actually enrolled.</a:t>
            </a:r>
            <a:endParaRPr lang="en-US" sz="1150" dirty="0">
              <a:latin typeface="Arial" panose="020B0604020202020204" pitchFamily="34" charset="0"/>
              <a:cs typeface="Arial" panose="020B0604020202020204" pitchFamily="34" charset="0"/>
            </a:endParaRPr>
          </a:p>
        </p:txBody>
      </p:sp>
      <p:sp>
        <p:nvSpPr>
          <p:cNvPr id="15" name="Text 13"/>
          <p:cNvSpPr txBox="1"/>
          <p:nvPr/>
        </p:nvSpPr>
        <p:spPr>
          <a:xfrm>
            <a:off x="457200" y="6537960"/>
            <a:ext cx="2743200" cy="274320"/>
          </a:xfrm>
          <a:prstGeom prst="rect">
            <a:avLst/>
          </a:prstGeom>
          <a:noFill/>
          <a:ln/>
        </p:spPr>
        <p:txBody>
          <a:bodyPr wrap="square" lIns="0" tIns="0" rIns="0" bIns="0" rtlCol="0" anchor="ctr"/>
          <a:lstStyle/>
          <a:p>
            <a:pPr marL="0" indent="0">
              <a:buNone/>
            </a:pPr>
            <a:r>
              <a:rPr lang="en-US" sz="1000" dirty="0">
                <a:solidFill>
                  <a:srgbClr val="5B6B6D"/>
                </a:solidFill>
                <a:latin typeface="Calibri" pitchFamily="34" charset="0"/>
                <a:ea typeface="Calibri" pitchFamily="34" charset="-122"/>
                <a:cs typeface="Calibri" pitchFamily="34" charset="-120"/>
              </a:rPr>
              <a:t>CampusLink</a:t>
            </a:r>
            <a:endParaRPr lang="en-US" sz="1000" dirty="0"/>
          </a:p>
        </p:txBody>
      </p:sp>
      <p:sp>
        <p:nvSpPr>
          <p:cNvPr id="16" name="Text 14"/>
          <p:cNvSpPr txBox="1"/>
          <p:nvPr/>
        </p:nvSpPr>
        <p:spPr>
          <a:xfrm>
            <a:off x="11521440" y="6537960"/>
            <a:ext cx="457200" cy="274320"/>
          </a:xfrm>
          <a:prstGeom prst="rect">
            <a:avLst/>
          </a:prstGeom>
          <a:noFill/>
          <a:ln/>
        </p:spPr>
        <p:txBody>
          <a:bodyPr wrap="square" lIns="0" tIns="0" rIns="0" bIns="0" rtlCol="0" anchor="ctr"/>
          <a:lstStyle/>
          <a:p>
            <a:pPr marL="0" indent="0" algn="r">
              <a:buNone/>
            </a:pPr>
            <a:r>
              <a:rPr lang="en-US" sz="1000" dirty="0">
                <a:solidFill>
                  <a:srgbClr val="5B6B6D"/>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marL="0" indent="0">
              <a:buNone/>
            </a:pPr>
            <a:r>
              <a:rPr lang="en-US" sz="3000" b="1" dirty="0">
                <a:solidFill>
                  <a:srgbClr val="1C1C1C"/>
                </a:solidFill>
                <a:latin typeface="Arial" panose="020B0604020202020204" pitchFamily="34" charset="0"/>
                <a:ea typeface="Cambria" pitchFamily="34" charset="-122"/>
                <a:cs typeface="Arial" panose="020B0604020202020204" pitchFamily="34" charset="0"/>
              </a:rPr>
              <a:t>The solution</a:t>
            </a:r>
            <a:endParaRPr lang="en-US" sz="3000" dirty="0">
              <a:latin typeface="Arial" panose="020B0604020202020204" pitchFamily="34" charset="0"/>
              <a:cs typeface="Arial" panose="020B0604020202020204" pitchFamily="34" charset="0"/>
            </a:endParaRPr>
          </a:p>
        </p:txBody>
      </p:sp>
      <p:sp>
        <p:nvSpPr>
          <p:cNvPr id="3" name="Text 1"/>
          <p:cNvSpPr txBox="1"/>
          <p:nvPr/>
        </p:nvSpPr>
        <p:spPr>
          <a:xfrm>
            <a:off x="640080" y="1033272"/>
            <a:ext cx="10881360" cy="457200"/>
          </a:xfrm>
          <a:prstGeom prst="rect">
            <a:avLst/>
          </a:prstGeom>
          <a:noFill/>
          <a:ln/>
        </p:spPr>
        <p:txBody>
          <a:bodyPr wrap="square" lIns="0" tIns="0" rIns="0" bIns="0" rtlCol="0" anchor="ctr"/>
          <a:lstStyle/>
          <a:p>
            <a:pPr marL="0" indent="0">
              <a:buNone/>
            </a:pPr>
            <a:r>
              <a:rPr lang="en-US" sz="1350" dirty="0">
                <a:solidFill>
                  <a:srgbClr val="5B6B6D"/>
                </a:solidFill>
                <a:latin typeface="Arial" panose="020B0604020202020204" pitchFamily="34" charset="0"/>
                <a:ea typeface="Calibri" pitchFamily="34" charset="-122"/>
                <a:cs typeface="Arial" panose="020B0604020202020204" pitchFamily="34" charset="0"/>
              </a:rPr>
              <a:t>One verified platform instead of five disconnected tools</a:t>
            </a:r>
            <a:endParaRPr lang="en-US" sz="1350" dirty="0">
              <a:latin typeface="Arial" panose="020B0604020202020204" pitchFamily="34" charset="0"/>
              <a:cs typeface="Arial" panose="020B0604020202020204" pitchFamily="34" charset="0"/>
            </a:endParaRPr>
          </a:p>
        </p:txBody>
      </p:sp>
      <p:sp>
        <p:nvSpPr>
          <p:cNvPr id="4" name="Text 2"/>
          <p:cNvSpPr txBox="1"/>
          <p:nvPr/>
        </p:nvSpPr>
        <p:spPr>
          <a:xfrm>
            <a:off x="640080" y="1600200"/>
            <a:ext cx="10881360" cy="1005840"/>
          </a:xfrm>
          <a:prstGeom prst="rect">
            <a:avLst/>
          </a:prstGeom>
          <a:noFill/>
          <a:ln/>
        </p:spPr>
        <p:txBody>
          <a:bodyPr wrap="square" lIns="0" tIns="0" rIns="0" bIns="0" rtlCol="0" anchor="ctr"/>
          <a:lstStyle/>
          <a:p>
            <a:pPr marL="0" indent="0">
              <a:buNone/>
            </a:pPr>
            <a:r>
              <a:rPr lang="en-US" sz="1400" dirty="0">
                <a:solidFill>
                  <a:srgbClr val="1C1C1C"/>
                </a:solidFill>
                <a:latin typeface="Arial" panose="020B0604020202020204" pitchFamily="34" charset="0"/>
                <a:ea typeface="Calibri" pitchFamily="34" charset="-122"/>
                <a:cs typeface="Arial" panose="020B0604020202020204" pitchFamily="34" charset="0"/>
              </a:rPr>
              <a:t>CampusLink is built around a single idea: every tool a student needs during campus life, in one place, locked to real, verified students only. Signing up requires a university email or student ID, so there are no random people, no fake accounts, and no spam — just the students who actually attend your university.</a:t>
            </a:r>
            <a:endParaRPr lang="en-US" sz="1400" dirty="0">
              <a:latin typeface="Arial" panose="020B0604020202020204" pitchFamily="34" charset="0"/>
              <a:cs typeface="Arial" panose="020B0604020202020204" pitchFamily="34" charset="0"/>
            </a:endParaRPr>
          </a:p>
        </p:txBody>
      </p:sp>
      <p:sp>
        <p:nvSpPr>
          <p:cNvPr id="5" name="Shape 3"/>
          <p:cNvSpPr/>
          <p:nvPr/>
        </p:nvSpPr>
        <p:spPr>
          <a:xfrm>
            <a:off x="640080" y="2743200"/>
            <a:ext cx="10881360" cy="0"/>
          </a:xfrm>
          <a:prstGeom prst="line">
            <a:avLst/>
          </a:prstGeom>
          <a:noFill/>
          <a:ln w="12700">
            <a:solidFill>
              <a:srgbClr val="DCE6E5"/>
            </a:solidFill>
            <a:prstDash val="solid"/>
          </a:ln>
        </p:spPr>
        <p:txBody>
          <a:bodyPr/>
          <a:lstStyle/>
          <a:p>
            <a:endParaRPr lang="en-US"/>
          </a:p>
        </p:txBody>
      </p:sp>
      <p:sp>
        <p:nvSpPr>
          <p:cNvPr id="6" name="Text 4"/>
          <p:cNvSpPr txBox="1"/>
          <p:nvPr/>
        </p:nvSpPr>
        <p:spPr>
          <a:xfrm>
            <a:off x="640080" y="3017520"/>
            <a:ext cx="3200400" cy="777240"/>
          </a:xfrm>
          <a:prstGeom prst="rect">
            <a:avLst/>
          </a:prstGeom>
          <a:noFill/>
          <a:ln/>
        </p:spPr>
        <p:txBody>
          <a:bodyPr wrap="square" lIns="0" tIns="0" rIns="0" bIns="0" rtlCol="0" anchor="t"/>
          <a:lstStyle/>
          <a:p>
            <a:pPr marL="0" indent="0">
              <a:buNone/>
            </a:pPr>
            <a:r>
              <a:rPr lang="en-US" sz="1250" dirty="0">
                <a:solidFill>
                  <a:srgbClr val="5B6B6D"/>
                </a:solidFill>
                <a:latin typeface="Arial" panose="020B0604020202020204" pitchFamily="34" charset="0"/>
                <a:ea typeface="Calibri" pitchFamily="34" charset="-122"/>
                <a:cs typeface="Arial" panose="020B0604020202020204" pitchFamily="34" charset="0"/>
              </a:rPr>
              <a:t>WhatsApp groups</a:t>
            </a:r>
            <a:endParaRPr lang="en-US" sz="1250" dirty="0">
              <a:latin typeface="Arial" panose="020B0604020202020204" pitchFamily="34" charset="0"/>
              <a:cs typeface="Arial" panose="020B0604020202020204" pitchFamily="34" charset="0"/>
            </a:endParaRPr>
          </a:p>
        </p:txBody>
      </p:sp>
      <p:sp>
        <p:nvSpPr>
          <p:cNvPr id="7" name="Text 5"/>
          <p:cNvSpPr txBox="1"/>
          <p:nvPr/>
        </p:nvSpPr>
        <p:spPr>
          <a:xfrm>
            <a:off x="3886200" y="3017520"/>
            <a:ext cx="457200" cy="777240"/>
          </a:xfrm>
          <a:prstGeom prst="rect">
            <a:avLst/>
          </a:prstGeom>
          <a:noFill/>
          <a:ln/>
        </p:spPr>
        <p:txBody>
          <a:bodyPr wrap="square" lIns="0" tIns="0" rIns="0" bIns="0" rtlCol="0" anchor="t"/>
          <a:lstStyle/>
          <a:p>
            <a:pPr marL="0" indent="0">
              <a:buNone/>
            </a:pPr>
            <a:r>
              <a:rPr lang="en-US" sz="1500" dirty="0">
                <a:solidFill>
                  <a:srgbClr val="028090"/>
                </a:solidFill>
                <a:latin typeface="Arial" panose="020B0604020202020204" pitchFamily="34" charset="0"/>
                <a:ea typeface="Calibri" pitchFamily="34" charset="-122"/>
                <a:cs typeface="Arial" panose="020B0604020202020204" pitchFamily="34" charset="0"/>
              </a:rPr>
              <a:t>→</a:t>
            </a:r>
            <a:endParaRPr lang="en-US" sz="1500" dirty="0">
              <a:latin typeface="Arial" panose="020B0604020202020204" pitchFamily="34" charset="0"/>
              <a:cs typeface="Arial" panose="020B0604020202020204" pitchFamily="34" charset="0"/>
            </a:endParaRPr>
          </a:p>
        </p:txBody>
      </p:sp>
      <p:sp>
        <p:nvSpPr>
          <p:cNvPr id="8" name="Text 6"/>
          <p:cNvSpPr txBox="1"/>
          <p:nvPr/>
        </p:nvSpPr>
        <p:spPr>
          <a:xfrm>
            <a:off x="4389120" y="3017520"/>
            <a:ext cx="7132320" cy="777240"/>
          </a:xfrm>
          <a:prstGeom prst="rect">
            <a:avLst/>
          </a:prstGeom>
          <a:noFill/>
          <a:ln/>
        </p:spPr>
        <p:txBody>
          <a:bodyPr wrap="square" lIns="0" tIns="0" rIns="0" bIns="0" rtlCol="0" anchor="t"/>
          <a:lstStyle/>
          <a:p>
            <a:pPr marL="0" indent="0">
              <a:buNone/>
            </a:pPr>
            <a:r>
              <a:rPr lang="en-US" sz="1250" b="1" dirty="0">
                <a:solidFill>
                  <a:srgbClr val="1C1C1C"/>
                </a:solidFill>
                <a:latin typeface="Arial" panose="020B0604020202020204" pitchFamily="34" charset="0"/>
                <a:ea typeface="Calibri" pitchFamily="34" charset="-122"/>
                <a:cs typeface="Arial" panose="020B0604020202020204" pitchFamily="34" charset="0"/>
              </a:rPr>
              <a:t>Organized class and group chat, tied to your actual course and faculty.</a:t>
            </a:r>
            <a:endParaRPr lang="en-US" sz="1250" dirty="0">
              <a:latin typeface="Arial" panose="020B0604020202020204" pitchFamily="34" charset="0"/>
              <a:cs typeface="Arial" panose="020B0604020202020204" pitchFamily="34" charset="0"/>
            </a:endParaRPr>
          </a:p>
        </p:txBody>
      </p:sp>
      <p:sp>
        <p:nvSpPr>
          <p:cNvPr id="9" name="Text 7"/>
          <p:cNvSpPr txBox="1"/>
          <p:nvPr/>
        </p:nvSpPr>
        <p:spPr>
          <a:xfrm>
            <a:off x="640080" y="3813048"/>
            <a:ext cx="3200400" cy="777240"/>
          </a:xfrm>
          <a:prstGeom prst="rect">
            <a:avLst/>
          </a:prstGeom>
          <a:noFill/>
          <a:ln/>
        </p:spPr>
        <p:txBody>
          <a:bodyPr wrap="square" lIns="0" tIns="0" rIns="0" bIns="0" rtlCol="0" anchor="t"/>
          <a:lstStyle/>
          <a:p>
            <a:pPr marL="0" indent="0">
              <a:buNone/>
            </a:pPr>
            <a:r>
              <a:rPr lang="en-US" sz="1250" dirty="0">
                <a:solidFill>
                  <a:srgbClr val="5B6B6D"/>
                </a:solidFill>
                <a:latin typeface="Arial" panose="020B0604020202020204" pitchFamily="34" charset="0"/>
                <a:ea typeface="Calibri" pitchFamily="34" charset="-122"/>
                <a:cs typeface="Arial" panose="020B0604020202020204" pitchFamily="34" charset="0"/>
              </a:rPr>
              <a:t>Random Drive links</a:t>
            </a:r>
            <a:endParaRPr lang="en-US" sz="1250" dirty="0">
              <a:latin typeface="Arial" panose="020B0604020202020204" pitchFamily="34" charset="0"/>
              <a:cs typeface="Arial" panose="020B0604020202020204" pitchFamily="34" charset="0"/>
            </a:endParaRPr>
          </a:p>
        </p:txBody>
      </p:sp>
      <p:sp>
        <p:nvSpPr>
          <p:cNvPr id="10" name="Text 8"/>
          <p:cNvSpPr txBox="1"/>
          <p:nvPr/>
        </p:nvSpPr>
        <p:spPr>
          <a:xfrm>
            <a:off x="3886200" y="3813048"/>
            <a:ext cx="457200" cy="777240"/>
          </a:xfrm>
          <a:prstGeom prst="rect">
            <a:avLst/>
          </a:prstGeom>
          <a:noFill/>
          <a:ln/>
        </p:spPr>
        <p:txBody>
          <a:bodyPr wrap="square" lIns="0" tIns="0" rIns="0" bIns="0" rtlCol="0" anchor="t"/>
          <a:lstStyle/>
          <a:p>
            <a:pPr marL="0" indent="0">
              <a:buNone/>
            </a:pPr>
            <a:r>
              <a:rPr lang="en-US" sz="1500" dirty="0">
                <a:solidFill>
                  <a:srgbClr val="028090"/>
                </a:solidFill>
                <a:latin typeface="Arial" panose="020B0604020202020204" pitchFamily="34" charset="0"/>
                <a:ea typeface="Calibri" pitchFamily="34" charset="-122"/>
                <a:cs typeface="Arial" panose="020B0604020202020204" pitchFamily="34" charset="0"/>
              </a:rPr>
              <a:t>→</a:t>
            </a:r>
            <a:endParaRPr lang="en-US" sz="1500" dirty="0">
              <a:latin typeface="Arial" panose="020B0604020202020204" pitchFamily="34" charset="0"/>
              <a:cs typeface="Arial" panose="020B0604020202020204" pitchFamily="34" charset="0"/>
            </a:endParaRPr>
          </a:p>
        </p:txBody>
      </p:sp>
      <p:sp>
        <p:nvSpPr>
          <p:cNvPr id="11" name="Text 9"/>
          <p:cNvSpPr txBox="1"/>
          <p:nvPr/>
        </p:nvSpPr>
        <p:spPr>
          <a:xfrm>
            <a:off x="4389120" y="3813048"/>
            <a:ext cx="7132320" cy="777240"/>
          </a:xfrm>
          <a:prstGeom prst="rect">
            <a:avLst/>
          </a:prstGeom>
          <a:noFill/>
          <a:ln/>
        </p:spPr>
        <p:txBody>
          <a:bodyPr wrap="square" lIns="0" tIns="0" rIns="0" bIns="0" rtlCol="0" anchor="t"/>
          <a:lstStyle/>
          <a:p>
            <a:pPr marL="0" indent="0">
              <a:buNone/>
            </a:pPr>
            <a:r>
              <a:rPr lang="en-US" sz="1250" b="1" dirty="0">
                <a:solidFill>
                  <a:srgbClr val="1C1C1C"/>
                </a:solidFill>
                <a:latin typeface="Arial" panose="020B0604020202020204" pitchFamily="34" charset="0"/>
                <a:ea typeface="Calibri" pitchFamily="34" charset="-122"/>
                <a:cs typeface="Arial" panose="020B0604020202020204" pitchFamily="34" charset="0"/>
              </a:rPr>
              <a:t>A shared, searchable document library for notes and past papers.</a:t>
            </a:r>
            <a:endParaRPr lang="en-US" sz="1250" dirty="0">
              <a:latin typeface="Arial" panose="020B0604020202020204" pitchFamily="34" charset="0"/>
              <a:cs typeface="Arial" panose="020B0604020202020204" pitchFamily="34" charset="0"/>
            </a:endParaRPr>
          </a:p>
        </p:txBody>
      </p:sp>
      <p:sp>
        <p:nvSpPr>
          <p:cNvPr id="12" name="Text 10"/>
          <p:cNvSpPr txBox="1"/>
          <p:nvPr/>
        </p:nvSpPr>
        <p:spPr>
          <a:xfrm>
            <a:off x="640080" y="4608576"/>
            <a:ext cx="3200400" cy="777240"/>
          </a:xfrm>
          <a:prstGeom prst="rect">
            <a:avLst/>
          </a:prstGeom>
          <a:noFill/>
          <a:ln/>
        </p:spPr>
        <p:txBody>
          <a:bodyPr wrap="square" lIns="0" tIns="0" rIns="0" bIns="0" rtlCol="0" anchor="t"/>
          <a:lstStyle/>
          <a:p>
            <a:pPr marL="0" indent="0">
              <a:buNone/>
            </a:pPr>
            <a:r>
              <a:rPr lang="en-US" sz="1250" dirty="0">
                <a:solidFill>
                  <a:srgbClr val="5B6B6D"/>
                </a:solidFill>
                <a:latin typeface="Arial" panose="020B0604020202020204" pitchFamily="34" charset="0"/>
                <a:ea typeface="Calibri" pitchFamily="34" charset="-122"/>
                <a:cs typeface="Arial" panose="020B0604020202020204" pitchFamily="34" charset="0"/>
              </a:rPr>
              <a:t>Marketplace / word of mouth</a:t>
            </a:r>
            <a:endParaRPr lang="en-US" sz="1250" dirty="0">
              <a:latin typeface="Arial" panose="020B0604020202020204" pitchFamily="34" charset="0"/>
              <a:cs typeface="Arial" panose="020B0604020202020204" pitchFamily="34" charset="0"/>
            </a:endParaRPr>
          </a:p>
        </p:txBody>
      </p:sp>
      <p:sp>
        <p:nvSpPr>
          <p:cNvPr id="13" name="Text 11"/>
          <p:cNvSpPr txBox="1"/>
          <p:nvPr/>
        </p:nvSpPr>
        <p:spPr>
          <a:xfrm>
            <a:off x="3886200" y="4608576"/>
            <a:ext cx="457200" cy="777240"/>
          </a:xfrm>
          <a:prstGeom prst="rect">
            <a:avLst/>
          </a:prstGeom>
          <a:noFill/>
          <a:ln/>
        </p:spPr>
        <p:txBody>
          <a:bodyPr wrap="square" lIns="0" tIns="0" rIns="0" bIns="0" rtlCol="0" anchor="t"/>
          <a:lstStyle/>
          <a:p>
            <a:pPr marL="0" indent="0">
              <a:buNone/>
            </a:pPr>
            <a:r>
              <a:rPr lang="en-US" sz="1500" dirty="0">
                <a:solidFill>
                  <a:srgbClr val="028090"/>
                </a:solidFill>
                <a:latin typeface="Arial" panose="020B0604020202020204" pitchFamily="34" charset="0"/>
                <a:ea typeface="Calibri" pitchFamily="34" charset="-122"/>
                <a:cs typeface="Arial" panose="020B0604020202020204" pitchFamily="34" charset="0"/>
              </a:rPr>
              <a:t>→</a:t>
            </a:r>
            <a:endParaRPr lang="en-US" sz="1500" dirty="0">
              <a:latin typeface="Arial" panose="020B0604020202020204" pitchFamily="34" charset="0"/>
              <a:cs typeface="Arial" panose="020B0604020202020204" pitchFamily="34" charset="0"/>
            </a:endParaRPr>
          </a:p>
        </p:txBody>
      </p:sp>
      <p:sp>
        <p:nvSpPr>
          <p:cNvPr id="14" name="Text 12"/>
          <p:cNvSpPr txBox="1"/>
          <p:nvPr/>
        </p:nvSpPr>
        <p:spPr>
          <a:xfrm>
            <a:off x="4389120" y="4608576"/>
            <a:ext cx="7132320" cy="777240"/>
          </a:xfrm>
          <a:prstGeom prst="rect">
            <a:avLst/>
          </a:prstGeom>
          <a:noFill/>
          <a:ln/>
        </p:spPr>
        <p:txBody>
          <a:bodyPr wrap="square" lIns="0" tIns="0" rIns="0" bIns="0" rtlCol="0" anchor="t"/>
          <a:lstStyle/>
          <a:p>
            <a:pPr marL="0" indent="0">
              <a:buNone/>
            </a:pPr>
            <a:r>
              <a:rPr lang="en-US" sz="1250" b="1" dirty="0">
                <a:solidFill>
                  <a:srgbClr val="1C1C1C"/>
                </a:solidFill>
                <a:latin typeface="Arial" panose="020B0604020202020204" pitchFamily="34" charset="0"/>
                <a:ea typeface="Calibri" pitchFamily="34" charset="-122"/>
                <a:cs typeface="Arial" panose="020B0604020202020204" pitchFamily="34" charset="0"/>
              </a:rPr>
              <a:t>An in-app marketplace, priced in Tanzanian shillings, for verified students only.</a:t>
            </a:r>
            <a:endParaRPr lang="en-US" sz="1250" dirty="0">
              <a:latin typeface="Arial" panose="020B0604020202020204" pitchFamily="34" charset="0"/>
              <a:cs typeface="Arial" panose="020B0604020202020204" pitchFamily="34" charset="0"/>
            </a:endParaRPr>
          </a:p>
        </p:txBody>
      </p:sp>
      <p:sp>
        <p:nvSpPr>
          <p:cNvPr id="15" name="Text 13"/>
          <p:cNvSpPr txBox="1"/>
          <p:nvPr/>
        </p:nvSpPr>
        <p:spPr>
          <a:xfrm>
            <a:off x="640080" y="5404104"/>
            <a:ext cx="3200400" cy="777240"/>
          </a:xfrm>
          <a:prstGeom prst="rect">
            <a:avLst/>
          </a:prstGeom>
          <a:noFill/>
          <a:ln/>
        </p:spPr>
        <p:txBody>
          <a:bodyPr wrap="square" lIns="0" tIns="0" rIns="0" bIns="0" rtlCol="0" anchor="t"/>
          <a:lstStyle/>
          <a:p>
            <a:pPr marL="0" indent="0">
              <a:buNone/>
            </a:pPr>
            <a:r>
              <a:rPr lang="en-US" sz="1250" dirty="0">
                <a:solidFill>
                  <a:srgbClr val="5B6B6D"/>
                </a:solidFill>
                <a:latin typeface="Arial" panose="020B0604020202020204" pitchFamily="34" charset="0"/>
                <a:ea typeface="Calibri" pitchFamily="34" charset="-122"/>
                <a:cs typeface="Arial" panose="020B0604020202020204" pitchFamily="34" charset="0"/>
              </a:rPr>
              <a:t>No skills directory</a:t>
            </a:r>
            <a:endParaRPr lang="en-US" sz="1250" dirty="0">
              <a:latin typeface="Arial" panose="020B0604020202020204" pitchFamily="34" charset="0"/>
              <a:cs typeface="Arial" panose="020B0604020202020204" pitchFamily="34" charset="0"/>
            </a:endParaRPr>
          </a:p>
        </p:txBody>
      </p:sp>
      <p:sp>
        <p:nvSpPr>
          <p:cNvPr id="16" name="Text 14"/>
          <p:cNvSpPr txBox="1"/>
          <p:nvPr/>
        </p:nvSpPr>
        <p:spPr>
          <a:xfrm>
            <a:off x="3886200" y="5404104"/>
            <a:ext cx="457200" cy="777240"/>
          </a:xfrm>
          <a:prstGeom prst="rect">
            <a:avLst/>
          </a:prstGeom>
          <a:noFill/>
          <a:ln/>
        </p:spPr>
        <p:txBody>
          <a:bodyPr wrap="square" lIns="0" tIns="0" rIns="0" bIns="0" rtlCol="0" anchor="t"/>
          <a:lstStyle/>
          <a:p>
            <a:pPr marL="0" indent="0">
              <a:buNone/>
            </a:pPr>
            <a:r>
              <a:rPr lang="en-US" sz="1500" dirty="0">
                <a:solidFill>
                  <a:srgbClr val="028090"/>
                </a:solidFill>
                <a:latin typeface="Arial" panose="020B0604020202020204" pitchFamily="34" charset="0"/>
                <a:ea typeface="Calibri" pitchFamily="34" charset="-122"/>
                <a:cs typeface="Arial" panose="020B0604020202020204" pitchFamily="34" charset="0"/>
              </a:rPr>
              <a:t>→</a:t>
            </a:r>
            <a:endParaRPr lang="en-US" sz="1500" dirty="0">
              <a:latin typeface="Arial" panose="020B0604020202020204" pitchFamily="34" charset="0"/>
              <a:cs typeface="Arial" panose="020B0604020202020204" pitchFamily="34" charset="0"/>
            </a:endParaRPr>
          </a:p>
        </p:txBody>
      </p:sp>
      <p:sp>
        <p:nvSpPr>
          <p:cNvPr id="17" name="Text 15"/>
          <p:cNvSpPr txBox="1"/>
          <p:nvPr/>
        </p:nvSpPr>
        <p:spPr>
          <a:xfrm>
            <a:off x="4389120" y="5404104"/>
            <a:ext cx="7132320" cy="777240"/>
          </a:xfrm>
          <a:prstGeom prst="rect">
            <a:avLst/>
          </a:prstGeom>
          <a:noFill/>
          <a:ln/>
        </p:spPr>
        <p:txBody>
          <a:bodyPr wrap="square" lIns="0" tIns="0" rIns="0" bIns="0" rtlCol="0" anchor="t"/>
          <a:lstStyle/>
          <a:p>
            <a:pPr marL="0" indent="0">
              <a:buNone/>
            </a:pPr>
            <a:r>
              <a:rPr lang="en-US" sz="1250" b="1" dirty="0">
                <a:solidFill>
                  <a:srgbClr val="1C1C1C"/>
                </a:solidFill>
                <a:latin typeface="Arial" panose="020B0604020202020204" pitchFamily="34" charset="0"/>
                <a:ea typeface="Calibri" pitchFamily="34" charset="-122"/>
                <a:cs typeface="Arial" panose="020B0604020202020204" pitchFamily="34" charset="0"/>
              </a:rPr>
              <a:t>A searchable directory to find classmates by skill for group projects.</a:t>
            </a:r>
            <a:endParaRPr lang="en-US" sz="1250" dirty="0">
              <a:latin typeface="Arial" panose="020B0604020202020204" pitchFamily="34" charset="0"/>
              <a:cs typeface="Arial" panose="020B0604020202020204" pitchFamily="34" charset="0"/>
            </a:endParaRPr>
          </a:p>
        </p:txBody>
      </p:sp>
      <p:sp>
        <p:nvSpPr>
          <p:cNvPr id="18" name="Text 16"/>
          <p:cNvSpPr txBox="1"/>
          <p:nvPr/>
        </p:nvSpPr>
        <p:spPr>
          <a:xfrm>
            <a:off x="457200" y="6537960"/>
            <a:ext cx="2743200" cy="274320"/>
          </a:xfrm>
          <a:prstGeom prst="rect">
            <a:avLst/>
          </a:prstGeom>
          <a:noFill/>
          <a:ln/>
        </p:spPr>
        <p:txBody>
          <a:bodyPr wrap="square" lIns="0" tIns="0" rIns="0" bIns="0" rtlCol="0" anchor="ctr"/>
          <a:lstStyle/>
          <a:p>
            <a:pPr marL="0" indent="0">
              <a:buNone/>
            </a:pPr>
            <a:r>
              <a:rPr lang="en-US" sz="1000" dirty="0">
                <a:solidFill>
                  <a:srgbClr val="5B6B6D"/>
                </a:solidFill>
                <a:latin typeface="Calibri" pitchFamily="34" charset="0"/>
                <a:ea typeface="Calibri" pitchFamily="34" charset="-122"/>
                <a:cs typeface="Calibri" pitchFamily="34" charset="-120"/>
              </a:rPr>
              <a:t>CampusLink</a:t>
            </a:r>
            <a:endParaRPr lang="en-US" sz="1000" dirty="0"/>
          </a:p>
        </p:txBody>
      </p:sp>
      <p:sp>
        <p:nvSpPr>
          <p:cNvPr id="19" name="Text 17"/>
          <p:cNvSpPr txBox="1"/>
          <p:nvPr/>
        </p:nvSpPr>
        <p:spPr>
          <a:xfrm>
            <a:off x="11521440" y="6537960"/>
            <a:ext cx="457200" cy="274320"/>
          </a:xfrm>
          <a:prstGeom prst="rect">
            <a:avLst/>
          </a:prstGeom>
          <a:noFill/>
          <a:ln/>
        </p:spPr>
        <p:txBody>
          <a:bodyPr wrap="square" lIns="0" tIns="0" rIns="0" bIns="0" rtlCol="0" anchor="ctr"/>
          <a:lstStyle/>
          <a:p>
            <a:pPr marL="0" indent="0" algn="r">
              <a:buNone/>
            </a:pPr>
            <a:r>
              <a:rPr lang="en-US" sz="1000" dirty="0">
                <a:solidFill>
                  <a:srgbClr val="5B6B6D"/>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marL="0" indent="0">
              <a:buNone/>
            </a:pPr>
            <a:r>
              <a:rPr lang="en-US" sz="3000" b="1" dirty="0">
                <a:solidFill>
                  <a:srgbClr val="1C1C1C"/>
                </a:solidFill>
                <a:latin typeface="Arial" panose="020B0604020202020204" pitchFamily="34" charset="0"/>
                <a:ea typeface="Cambria" pitchFamily="34" charset="-122"/>
                <a:cs typeface="Arial" panose="020B0604020202020204" pitchFamily="34" charset="0"/>
              </a:rPr>
              <a:t>Who it's for</a:t>
            </a:r>
            <a:endParaRPr lang="en-US" sz="3000" dirty="0">
              <a:latin typeface="Arial" panose="020B0604020202020204" pitchFamily="34" charset="0"/>
              <a:cs typeface="Arial" panose="020B0604020202020204" pitchFamily="34" charset="0"/>
            </a:endParaRPr>
          </a:p>
        </p:txBody>
      </p:sp>
      <p:sp>
        <p:nvSpPr>
          <p:cNvPr id="3" name="Text 1"/>
          <p:cNvSpPr txBox="1"/>
          <p:nvPr/>
        </p:nvSpPr>
        <p:spPr>
          <a:xfrm>
            <a:off x="640080" y="1033272"/>
            <a:ext cx="10881360" cy="457200"/>
          </a:xfrm>
          <a:prstGeom prst="rect">
            <a:avLst/>
          </a:prstGeom>
          <a:noFill/>
          <a:ln/>
        </p:spPr>
        <p:txBody>
          <a:bodyPr wrap="square" lIns="0" tIns="0" rIns="0" bIns="0" rtlCol="0" anchor="ctr"/>
          <a:lstStyle/>
          <a:p>
            <a:pPr marL="0" indent="0">
              <a:buNone/>
            </a:pPr>
            <a:r>
              <a:rPr lang="en-US" sz="1350" dirty="0">
                <a:solidFill>
                  <a:srgbClr val="5B6B6D"/>
                </a:solidFill>
                <a:latin typeface="Arial" panose="020B0604020202020204" pitchFamily="34" charset="0"/>
                <a:ea typeface="Calibri" pitchFamily="34" charset="-122"/>
                <a:cs typeface="Arial" panose="020B0604020202020204" pitchFamily="34" charset="0"/>
              </a:rPr>
              <a:t>University students across Tanzania, starting with UDOM</a:t>
            </a:r>
            <a:endParaRPr lang="en-US" sz="1350" dirty="0">
              <a:latin typeface="Arial" panose="020B0604020202020204" pitchFamily="34" charset="0"/>
              <a:cs typeface="Arial" panose="020B0604020202020204" pitchFamily="34" charset="0"/>
            </a:endParaRPr>
          </a:p>
        </p:txBody>
      </p:sp>
      <p:sp>
        <p:nvSpPr>
          <p:cNvPr id="4" name="Text 2"/>
          <p:cNvSpPr txBox="1"/>
          <p:nvPr/>
        </p:nvSpPr>
        <p:spPr>
          <a:xfrm>
            <a:off x="640080" y="1600200"/>
            <a:ext cx="10881360" cy="914400"/>
          </a:xfrm>
          <a:prstGeom prst="rect">
            <a:avLst/>
          </a:prstGeom>
          <a:noFill/>
          <a:ln/>
        </p:spPr>
        <p:txBody>
          <a:bodyPr wrap="square" lIns="0" tIns="0" rIns="0" bIns="0" rtlCol="0" anchor="ctr"/>
          <a:lstStyle/>
          <a:p>
            <a:pPr marL="0" indent="0">
              <a:buNone/>
            </a:pPr>
            <a:r>
              <a:rPr lang="en-US" sz="1350" dirty="0">
                <a:solidFill>
                  <a:srgbClr val="1C1C1C"/>
                </a:solidFill>
                <a:latin typeface="Arial" panose="020B0604020202020204" pitchFamily="34" charset="0"/>
                <a:ea typeface="Calibri" pitchFamily="34" charset="-122"/>
                <a:cs typeface="Arial" panose="020B0604020202020204" pitchFamily="34" charset="0"/>
              </a:rPr>
              <a:t>CampusLink is built for university students in Tanzania and, over time, East Africa. The system will include the University of Dodoma (UDOM), the University of Dar es Salaam (UDSM), Mzumbe University, the Institute of Finance Management (IFM), Muhimbili University of Health and Allied Sciences (MUHAS), the Dar es Salaam Institute of Technology (DIT), and more than 40 other institutions.</a:t>
            </a:r>
            <a:endParaRPr lang="en-US" sz="1350" dirty="0">
              <a:latin typeface="Arial" panose="020B0604020202020204" pitchFamily="34" charset="0"/>
              <a:cs typeface="Arial" panose="020B0604020202020204" pitchFamily="34" charset="0"/>
            </a:endParaRPr>
          </a:p>
        </p:txBody>
      </p:sp>
      <p:sp>
        <p:nvSpPr>
          <p:cNvPr id="5" name="Text 3"/>
          <p:cNvSpPr txBox="1"/>
          <p:nvPr/>
        </p:nvSpPr>
        <p:spPr>
          <a:xfrm>
            <a:off x="640080" y="2606040"/>
            <a:ext cx="10881360" cy="685800"/>
          </a:xfrm>
          <a:prstGeom prst="rect">
            <a:avLst/>
          </a:prstGeom>
          <a:noFill/>
          <a:ln/>
        </p:spPr>
        <p:txBody>
          <a:bodyPr wrap="square" lIns="0" tIns="0" rIns="0" bIns="0" rtlCol="0" anchor="ctr"/>
          <a:lstStyle/>
          <a:p>
            <a:pPr marL="0" indent="0">
              <a:buNone/>
            </a:pPr>
            <a:r>
              <a:rPr lang="en-US" sz="1350" dirty="0">
                <a:solidFill>
                  <a:srgbClr val="1C1C1C"/>
                </a:solidFill>
                <a:latin typeface="Arial" panose="020B0604020202020204" pitchFamily="34" charset="0"/>
                <a:ea typeface="Calibri" pitchFamily="34" charset="-122"/>
                <a:cs typeface="Arial" panose="020B0604020202020204" pitchFamily="34" charset="0"/>
              </a:rPr>
              <a:t>Verification: to join, a student signs up with their university email address or uploads a student ID for review. An account isn't activated until that identity is confirmed, so every profile on the platform belongs to a real, currently enrolled student.</a:t>
            </a:r>
            <a:endParaRPr lang="en-US" sz="1350" dirty="0">
              <a:latin typeface="Arial" panose="020B0604020202020204" pitchFamily="34" charset="0"/>
              <a:cs typeface="Arial" panose="020B0604020202020204" pitchFamily="34" charset="0"/>
            </a:endParaRPr>
          </a:p>
        </p:txBody>
      </p:sp>
      <p:sp>
        <p:nvSpPr>
          <p:cNvPr id="12" name="Shape 10"/>
          <p:cNvSpPr/>
          <p:nvPr/>
        </p:nvSpPr>
        <p:spPr>
          <a:xfrm>
            <a:off x="640080" y="5074920"/>
            <a:ext cx="10881360" cy="0"/>
          </a:xfrm>
          <a:prstGeom prst="line">
            <a:avLst/>
          </a:prstGeom>
          <a:noFill/>
          <a:ln w="12700">
            <a:solidFill>
              <a:srgbClr val="DCE6E5"/>
            </a:solidFill>
            <a:prstDash val="solid"/>
          </a:ln>
        </p:spPr>
        <p:txBody>
          <a:bodyPr/>
          <a:lstStyle/>
          <a:p>
            <a:endParaRPr lang="en-US"/>
          </a:p>
        </p:txBody>
      </p:sp>
      <p:sp>
        <p:nvSpPr>
          <p:cNvPr id="13" name="Text 11"/>
          <p:cNvSpPr txBox="1"/>
          <p:nvPr/>
        </p:nvSpPr>
        <p:spPr>
          <a:xfrm>
            <a:off x="640080" y="5303520"/>
            <a:ext cx="10881360" cy="640080"/>
          </a:xfrm>
          <a:prstGeom prst="rect">
            <a:avLst/>
          </a:prstGeom>
          <a:noFill/>
          <a:ln/>
        </p:spPr>
        <p:txBody>
          <a:bodyPr wrap="square" lIns="0" tIns="0" rIns="0" bIns="0" rtlCol="0" anchor="ctr"/>
          <a:lstStyle/>
          <a:p>
            <a:pPr marL="0" indent="0">
              <a:buNone/>
            </a:pPr>
            <a:r>
              <a:rPr lang="en-US" sz="1250" i="1" dirty="0">
                <a:solidFill>
                  <a:srgbClr val="5B6B6D"/>
                </a:solidFill>
                <a:latin typeface="Arial" panose="020B0604020202020204" pitchFamily="34" charset="0"/>
                <a:ea typeface="Calibri" pitchFamily="34" charset="-122"/>
                <a:cs typeface="Arial" panose="020B0604020202020204" pitchFamily="34" charset="0"/>
              </a:rPr>
              <a:t>Each university's students sit in their own verified space inside the platform, so a UDOM student sees UDOM courses, UDOM groups, and UDOM classmates by default — not a mixed feed of every school in the system.</a:t>
            </a:r>
            <a:endParaRPr lang="en-US" sz="1250" dirty="0">
              <a:latin typeface="Arial" panose="020B0604020202020204" pitchFamily="34" charset="0"/>
              <a:cs typeface="Arial" panose="020B0604020202020204" pitchFamily="34" charset="0"/>
            </a:endParaRPr>
          </a:p>
        </p:txBody>
      </p:sp>
      <p:sp>
        <p:nvSpPr>
          <p:cNvPr id="14" name="Text 12"/>
          <p:cNvSpPr txBox="1"/>
          <p:nvPr/>
        </p:nvSpPr>
        <p:spPr>
          <a:xfrm>
            <a:off x="457200" y="6537960"/>
            <a:ext cx="2743200" cy="274320"/>
          </a:xfrm>
          <a:prstGeom prst="rect">
            <a:avLst/>
          </a:prstGeom>
          <a:noFill/>
          <a:ln/>
        </p:spPr>
        <p:txBody>
          <a:bodyPr wrap="square" lIns="0" tIns="0" rIns="0" bIns="0" rtlCol="0" anchor="ctr"/>
          <a:lstStyle/>
          <a:p>
            <a:pPr marL="0" indent="0">
              <a:buNone/>
            </a:pPr>
            <a:r>
              <a:rPr lang="en-US" sz="1000" dirty="0">
                <a:solidFill>
                  <a:srgbClr val="5B6B6D"/>
                </a:solidFill>
                <a:latin typeface="Calibri" pitchFamily="34" charset="0"/>
                <a:ea typeface="Calibri" pitchFamily="34" charset="-122"/>
                <a:cs typeface="Calibri" pitchFamily="34" charset="-120"/>
              </a:rPr>
              <a:t>CampusLink</a:t>
            </a:r>
            <a:endParaRPr lang="en-US" sz="1000" dirty="0"/>
          </a:p>
        </p:txBody>
      </p:sp>
      <p:sp>
        <p:nvSpPr>
          <p:cNvPr id="15" name="Text 13"/>
          <p:cNvSpPr txBox="1"/>
          <p:nvPr/>
        </p:nvSpPr>
        <p:spPr>
          <a:xfrm>
            <a:off x="11521440" y="6537960"/>
            <a:ext cx="457200" cy="274320"/>
          </a:xfrm>
          <a:prstGeom prst="rect">
            <a:avLst/>
          </a:prstGeom>
          <a:noFill/>
          <a:ln/>
        </p:spPr>
        <p:txBody>
          <a:bodyPr wrap="square" lIns="0" tIns="0" rIns="0" bIns="0" rtlCol="0" anchor="ctr"/>
          <a:lstStyle/>
          <a:p>
            <a:pPr marL="0" indent="0" algn="r">
              <a:buNone/>
            </a:pPr>
            <a:r>
              <a:rPr lang="en-US" sz="1000" dirty="0">
                <a:solidFill>
                  <a:srgbClr val="5B6B6D"/>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9" name="TextBox 38">
            <a:extLst>
              <a:ext uri="{FF2B5EF4-FFF2-40B4-BE49-F238E27FC236}">
                <a16:creationId xmlns:a16="http://schemas.microsoft.com/office/drawing/2014/main" id="{E5163A76-D867-D9C8-8AAE-B1EE8B17FA6A}"/>
              </a:ext>
            </a:extLst>
          </p:cNvPr>
          <p:cNvSpPr txBox="1"/>
          <p:nvPr/>
        </p:nvSpPr>
        <p:spPr>
          <a:xfrm>
            <a:off x="640080" y="457200"/>
            <a:ext cx="10881360" cy="640080"/>
          </a:xfrm>
          <a:prstGeom prst="rect">
            <a:avLst/>
          </a:prstGeom>
          <a:noFill/>
        </p:spPr>
        <p:txBody>
          <a:bodyPr wrap="square" lIns="0" tIns="0" rIns="0" bIns="0">
            <a:spAutoFit/>
          </a:bodyPr>
          <a:lstStyle/>
          <a:p>
            <a:r>
              <a:rPr sz="3000" b="1" i="0">
                <a:solidFill>
                  <a:srgbClr val="1C1C1C"/>
                </a:solidFill>
                <a:latin typeface="Arial"/>
              </a:rPr>
              <a:t>Functional requirements</a:t>
            </a:r>
          </a:p>
        </p:txBody>
      </p:sp>
      <p:sp>
        <p:nvSpPr>
          <p:cNvPr id="41" name="TextBox 40">
            <a:extLst>
              <a:ext uri="{FF2B5EF4-FFF2-40B4-BE49-F238E27FC236}">
                <a16:creationId xmlns:a16="http://schemas.microsoft.com/office/drawing/2014/main" id="{173A23AD-4A46-B53F-1636-1F822648402F}"/>
              </a:ext>
            </a:extLst>
          </p:cNvPr>
          <p:cNvSpPr txBox="1"/>
          <p:nvPr/>
        </p:nvSpPr>
        <p:spPr>
          <a:xfrm>
            <a:off x="640080" y="1033271"/>
            <a:ext cx="10881360" cy="457200"/>
          </a:xfrm>
          <a:prstGeom prst="rect">
            <a:avLst/>
          </a:prstGeom>
          <a:noFill/>
        </p:spPr>
        <p:txBody>
          <a:bodyPr wrap="square" lIns="0" tIns="0" rIns="0" bIns="0">
            <a:spAutoFit/>
          </a:bodyPr>
          <a:lstStyle/>
          <a:p>
            <a:r>
              <a:rPr sz="1350" b="0" i="0">
                <a:solidFill>
                  <a:srgbClr val="5B6B6D"/>
                </a:solidFill>
                <a:latin typeface="Arial"/>
              </a:rPr>
              <a:t>What the system must be able to do, grouped by module</a:t>
            </a:r>
          </a:p>
        </p:txBody>
      </p:sp>
      <p:sp>
        <p:nvSpPr>
          <p:cNvPr id="43" name="TextBox 42">
            <a:extLst>
              <a:ext uri="{FF2B5EF4-FFF2-40B4-BE49-F238E27FC236}">
                <a16:creationId xmlns:a16="http://schemas.microsoft.com/office/drawing/2014/main" id="{F55CB484-4726-9F2D-BF26-41DAF53F73BA}"/>
              </a:ext>
            </a:extLst>
          </p:cNvPr>
          <p:cNvSpPr txBox="1"/>
          <p:nvPr/>
        </p:nvSpPr>
        <p:spPr>
          <a:xfrm>
            <a:off x="640080" y="1645920"/>
            <a:ext cx="2194560" cy="685800"/>
          </a:xfrm>
          <a:prstGeom prst="rect">
            <a:avLst/>
          </a:prstGeom>
          <a:noFill/>
        </p:spPr>
        <p:txBody>
          <a:bodyPr wrap="square" lIns="0" tIns="0" rIns="0" bIns="0" anchor="t">
            <a:spAutoFit/>
          </a:bodyPr>
          <a:lstStyle/>
          <a:p>
            <a:r>
              <a:rPr sz="1400" b="1" i="0">
                <a:solidFill>
                  <a:srgbClr val="028090"/>
                </a:solidFill>
                <a:latin typeface="Arial"/>
              </a:rPr>
              <a:t>Account &amp; verification</a:t>
            </a:r>
          </a:p>
        </p:txBody>
      </p:sp>
      <p:sp>
        <p:nvSpPr>
          <p:cNvPr id="45" name="TextBox 44">
            <a:extLst>
              <a:ext uri="{FF2B5EF4-FFF2-40B4-BE49-F238E27FC236}">
                <a16:creationId xmlns:a16="http://schemas.microsoft.com/office/drawing/2014/main" id="{4AEDEB4E-9995-E7CE-4264-08AA226A6C1C}"/>
              </a:ext>
            </a:extLst>
          </p:cNvPr>
          <p:cNvSpPr txBox="1"/>
          <p:nvPr/>
        </p:nvSpPr>
        <p:spPr>
          <a:xfrm>
            <a:off x="2971800" y="1645920"/>
            <a:ext cx="8549640" cy="685800"/>
          </a:xfrm>
          <a:prstGeom prst="rect">
            <a:avLst/>
          </a:prstGeom>
          <a:noFill/>
        </p:spPr>
        <p:txBody>
          <a:bodyPr wrap="square" lIns="0" tIns="0" rIns="0" bIns="0" anchor="t">
            <a:spAutoFit/>
          </a:bodyPr>
          <a:lstStyle/>
          <a:p>
            <a:r>
              <a:rPr sz="1200" b="0" i="0">
                <a:solidFill>
                  <a:srgbClr val="1C1C1C"/>
                </a:solidFill>
                <a:latin typeface="Arial"/>
              </a:rPr>
              <a:t>Register with a university email or student ID; review and approve or reject sign-ups; maintain one verified profile per student, tied to a faculty and course.</a:t>
            </a:r>
          </a:p>
        </p:txBody>
      </p:sp>
      <p:sp>
        <p:nvSpPr>
          <p:cNvPr id="47" name="TextBox 46">
            <a:extLst>
              <a:ext uri="{FF2B5EF4-FFF2-40B4-BE49-F238E27FC236}">
                <a16:creationId xmlns:a16="http://schemas.microsoft.com/office/drawing/2014/main" id="{FDA81705-DCCC-2B66-F7D8-C3029F020FDA}"/>
              </a:ext>
            </a:extLst>
          </p:cNvPr>
          <p:cNvSpPr txBox="1"/>
          <p:nvPr/>
        </p:nvSpPr>
        <p:spPr>
          <a:xfrm>
            <a:off x="640080" y="2441448"/>
            <a:ext cx="2194560" cy="685800"/>
          </a:xfrm>
          <a:prstGeom prst="rect">
            <a:avLst/>
          </a:prstGeom>
          <a:noFill/>
        </p:spPr>
        <p:txBody>
          <a:bodyPr wrap="square" lIns="0" tIns="0" rIns="0" bIns="0" anchor="t">
            <a:spAutoFit/>
          </a:bodyPr>
          <a:lstStyle/>
          <a:p>
            <a:r>
              <a:rPr sz="1400" b="1" i="0">
                <a:solidFill>
                  <a:srgbClr val="028090"/>
                </a:solidFill>
                <a:latin typeface="Arial"/>
              </a:rPr>
              <a:t>Messaging &amp; groups</a:t>
            </a:r>
          </a:p>
        </p:txBody>
      </p:sp>
      <p:sp>
        <p:nvSpPr>
          <p:cNvPr id="49" name="TextBox 48">
            <a:extLst>
              <a:ext uri="{FF2B5EF4-FFF2-40B4-BE49-F238E27FC236}">
                <a16:creationId xmlns:a16="http://schemas.microsoft.com/office/drawing/2014/main" id="{DE04F937-6FBD-13E5-B47B-7EC604D99399}"/>
              </a:ext>
            </a:extLst>
          </p:cNvPr>
          <p:cNvSpPr txBox="1"/>
          <p:nvPr/>
        </p:nvSpPr>
        <p:spPr>
          <a:xfrm>
            <a:off x="2971800" y="2441448"/>
            <a:ext cx="8549640" cy="685800"/>
          </a:xfrm>
          <a:prstGeom prst="rect">
            <a:avLst/>
          </a:prstGeom>
          <a:noFill/>
        </p:spPr>
        <p:txBody>
          <a:bodyPr wrap="square" lIns="0" tIns="0" rIns="0" bIns="0" anchor="t">
            <a:spAutoFit/>
          </a:bodyPr>
          <a:lstStyle/>
          <a:p>
            <a:r>
              <a:rPr sz="1200" b="0" i="0">
                <a:solidFill>
                  <a:srgbClr val="1C1C1C"/>
                </a:solidFill>
                <a:latin typeface="Arial"/>
              </a:rPr>
              <a:t>Create and join course, faculty, and club groups; post and reply within a group; assign, change, or remove group admins.</a:t>
            </a:r>
          </a:p>
        </p:txBody>
      </p:sp>
      <p:sp>
        <p:nvSpPr>
          <p:cNvPr id="51" name="TextBox 50">
            <a:extLst>
              <a:ext uri="{FF2B5EF4-FFF2-40B4-BE49-F238E27FC236}">
                <a16:creationId xmlns:a16="http://schemas.microsoft.com/office/drawing/2014/main" id="{D4A5FE0A-E66B-D330-2A0A-15BA28056E50}"/>
              </a:ext>
            </a:extLst>
          </p:cNvPr>
          <p:cNvSpPr txBox="1"/>
          <p:nvPr/>
        </p:nvSpPr>
        <p:spPr>
          <a:xfrm>
            <a:off x="640080" y="3236976"/>
            <a:ext cx="2194560" cy="685800"/>
          </a:xfrm>
          <a:prstGeom prst="rect">
            <a:avLst/>
          </a:prstGeom>
          <a:noFill/>
        </p:spPr>
        <p:txBody>
          <a:bodyPr wrap="square" lIns="0" tIns="0" rIns="0" bIns="0" anchor="t">
            <a:spAutoFit/>
          </a:bodyPr>
          <a:lstStyle/>
          <a:p>
            <a:r>
              <a:rPr sz="1400" b="1" i="0">
                <a:solidFill>
                  <a:srgbClr val="028090"/>
                </a:solidFill>
                <a:latin typeface="Arial"/>
              </a:rPr>
              <a:t>Document library</a:t>
            </a:r>
          </a:p>
        </p:txBody>
      </p:sp>
      <p:sp>
        <p:nvSpPr>
          <p:cNvPr id="53" name="TextBox 52">
            <a:extLst>
              <a:ext uri="{FF2B5EF4-FFF2-40B4-BE49-F238E27FC236}">
                <a16:creationId xmlns:a16="http://schemas.microsoft.com/office/drawing/2014/main" id="{E093055B-9AF9-51AE-6D44-CBA2D78354F8}"/>
              </a:ext>
            </a:extLst>
          </p:cNvPr>
          <p:cNvSpPr txBox="1"/>
          <p:nvPr/>
        </p:nvSpPr>
        <p:spPr>
          <a:xfrm>
            <a:off x="2971800" y="3236976"/>
            <a:ext cx="8549640" cy="685800"/>
          </a:xfrm>
          <a:prstGeom prst="rect">
            <a:avLst/>
          </a:prstGeom>
          <a:noFill/>
        </p:spPr>
        <p:txBody>
          <a:bodyPr wrap="square" lIns="0" tIns="0" rIns="0" bIns="0" anchor="t">
            <a:spAutoFit/>
          </a:bodyPr>
          <a:lstStyle/>
          <a:p>
            <a:r>
              <a:rPr sz="1200" b="0" i="0">
                <a:solidFill>
                  <a:srgbClr val="1C1C1C"/>
                </a:solidFill>
                <a:latin typeface="Arial"/>
              </a:rPr>
              <a:t>Upload, tag, and search notes and past papers by course, unit, and year; preview or download shared documents.</a:t>
            </a:r>
          </a:p>
        </p:txBody>
      </p:sp>
      <p:sp>
        <p:nvSpPr>
          <p:cNvPr id="55" name="TextBox 54">
            <a:extLst>
              <a:ext uri="{FF2B5EF4-FFF2-40B4-BE49-F238E27FC236}">
                <a16:creationId xmlns:a16="http://schemas.microsoft.com/office/drawing/2014/main" id="{835907CA-8815-E799-A693-5D7ED9EBD001}"/>
              </a:ext>
            </a:extLst>
          </p:cNvPr>
          <p:cNvSpPr txBox="1"/>
          <p:nvPr/>
        </p:nvSpPr>
        <p:spPr>
          <a:xfrm>
            <a:off x="640080" y="4032504"/>
            <a:ext cx="2194560" cy="685800"/>
          </a:xfrm>
          <a:prstGeom prst="rect">
            <a:avLst/>
          </a:prstGeom>
          <a:noFill/>
        </p:spPr>
        <p:txBody>
          <a:bodyPr wrap="square" lIns="0" tIns="0" rIns="0" bIns="0" anchor="t">
            <a:spAutoFit/>
          </a:bodyPr>
          <a:lstStyle/>
          <a:p>
            <a:r>
              <a:rPr sz="1400" b="1" i="0">
                <a:solidFill>
                  <a:srgbClr val="028090"/>
                </a:solidFill>
                <a:latin typeface="Arial"/>
              </a:rPr>
              <a:t>Marketplace</a:t>
            </a:r>
          </a:p>
        </p:txBody>
      </p:sp>
      <p:sp>
        <p:nvSpPr>
          <p:cNvPr id="57" name="TextBox 56">
            <a:extLst>
              <a:ext uri="{FF2B5EF4-FFF2-40B4-BE49-F238E27FC236}">
                <a16:creationId xmlns:a16="http://schemas.microsoft.com/office/drawing/2014/main" id="{A1834BC7-DC93-64A1-1823-AAAC1591E0EC}"/>
              </a:ext>
            </a:extLst>
          </p:cNvPr>
          <p:cNvSpPr txBox="1"/>
          <p:nvPr/>
        </p:nvSpPr>
        <p:spPr>
          <a:xfrm>
            <a:off x="2971800" y="4032504"/>
            <a:ext cx="8549640" cy="685800"/>
          </a:xfrm>
          <a:prstGeom prst="rect">
            <a:avLst/>
          </a:prstGeom>
          <a:noFill/>
        </p:spPr>
        <p:txBody>
          <a:bodyPr wrap="square" lIns="0" tIns="0" rIns="0" bIns="0" anchor="t">
            <a:spAutoFit/>
          </a:bodyPr>
          <a:lstStyle/>
          <a:p>
            <a:r>
              <a:rPr sz="1200" b="0" i="0">
                <a:solidFill>
                  <a:srgbClr val="1C1C1C"/>
                </a:solidFill>
                <a:latin typeface="Arial"/>
              </a:rPr>
              <a:t>List an item for sale with a price in Tanzanian shillings, photos, and a description; search and filter listings; contact a seller and mark a listing as sold.</a:t>
            </a:r>
          </a:p>
        </p:txBody>
      </p:sp>
      <p:sp>
        <p:nvSpPr>
          <p:cNvPr id="59" name="TextBox 58">
            <a:extLst>
              <a:ext uri="{FF2B5EF4-FFF2-40B4-BE49-F238E27FC236}">
                <a16:creationId xmlns:a16="http://schemas.microsoft.com/office/drawing/2014/main" id="{AC5C1732-9DEE-FF68-A3AD-E8233E434B16}"/>
              </a:ext>
            </a:extLst>
          </p:cNvPr>
          <p:cNvSpPr txBox="1"/>
          <p:nvPr/>
        </p:nvSpPr>
        <p:spPr>
          <a:xfrm>
            <a:off x="640080" y="4828032"/>
            <a:ext cx="2194560" cy="685800"/>
          </a:xfrm>
          <a:prstGeom prst="rect">
            <a:avLst/>
          </a:prstGeom>
          <a:noFill/>
        </p:spPr>
        <p:txBody>
          <a:bodyPr wrap="square" lIns="0" tIns="0" rIns="0" bIns="0" anchor="t">
            <a:spAutoFit/>
          </a:bodyPr>
          <a:lstStyle/>
          <a:p>
            <a:r>
              <a:rPr sz="1400" b="1" i="0">
                <a:solidFill>
                  <a:srgbClr val="028090"/>
                </a:solidFill>
                <a:latin typeface="Arial"/>
              </a:rPr>
              <a:t>Skills directory</a:t>
            </a:r>
          </a:p>
        </p:txBody>
      </p:sp>
      <p:sp>
        <p:nvSpPr>
          <p:cNvPr id="61" name="TextBox 60">
            <a:extLst>
              <a:ext uri="{FF2B5EF4-FFF2-40B4-BE49-F238E27FC236}">
                <a16:creationId xmlns:a16="http://schemas.microsoft.com/office/drawing/2014/main" id="{C67E5F75-8194-4B1B-B768-19C1F2EFD694}"/>
              </a:ext>
            </a:extLst>
          </p:cNvPr>
          <p:cNvSpPr txBox="1"/>
          <p:nvPr/>
        </p:nvSpPr>
        <p:spPr>
          <a:xfrm>
            <a:off x="2971800" y="4828032"/>
            <a:ext cx="8549640" cy="685800"/>
          </a:xfrm>
          <a:prstGeom prst="rect">
            <a:avLst/>
          </a:prstGeom>
          <a:noFill/>
        </p:spPr>
        <p:txBody>
          <a:bodyPr wrap="square" lIns="0" tIns="0" rIns="0" bIns="0" anchor="t">
            <a:spAutoFit/>
          </a:bodyPr>
          <a:lstStyle/>
          <a:p>
            <a:r>
              <a:rPr sz="1200" b="0" i="0">
                <a:solidFill>
                  <a:srgbClr val="1C1C1C"/>
                </a:solidFill>
                <a:latin typeface="Arial"/>
              </a:rPr>
              <a:t>Add skill tags to a profile; search classmates by skill; view a classmate's faculty and course alongside their listed skills.</a:t>
            </a:r>
          </a:p>
        </p:txBody>
      </p:sp>
      <p:sp>
        <p:nvSpPr>
          <p:cNvPr id="63" name="TextBox 62">
            <a:extLst>
              <a:ext uri="{FF2B5EF4-FFF2-40B4-BE49-F238E27FC236}">
                <a16:creationId xmlns:a16="http://schemas.microsoft.com/office/drawing/2014/main" id="{F74990DE-8B49-FA51-EDC7-268DDE141193}"/>
              </a:ext>
            </a:extLst>
          </p:cNvPr>
          <p:cNvSpPr txBox="1"/>
          <p:nvPr/>
        </p:nvSpPr>
        <p:spPr>
          <a:xfrm>
            <a:off x="640080" y="5623560"/>
            <a:ext cx="2194560" cy="685800"/>
          </a:xfrm>
          <a:prstGeom prst="rect">
            <a:avLst/>
          </a:prstGeom>
          <a:noFill/>
        </p:spPr>
        <p:txBody>
          <a:bodyPr wrap="square" lIns="0" tIns="0" rIns="0" bIns="0" anchor="t">
            <a:spAutoFit/>
          </a:bodyPr>
          <a:lstStyle/>
          <a:p>
            <a:r>
              <a:rPr sz="1400" b="1" i="0">
                <a:solidFill>
                  <a:srgbClr val="028090"/>
                </a:solidFill>
                <a:latin typeface="Arial"/>
              </a:rPr>
              <a:t>Administration &amp; moderation</a:t>
            </a:r>
          </a:p>
        </p:txBody>
      </p:sp>
      <p:sp>
        <p:nvSpPr>
          <p:cNvPr id="65" name="TextBox 64">
            <a:extLst>
              <a:ext uri="{FF2B5EF4-FFF2-40B4-BE49-F238E27FC236}">
                <a16:creationId xmlns:a16="http://schemas.microsoft.com/office/drawing/2014/main" id="{27602C14-6C7C-8BAD-E82F-DC309C4712CD}"/>
              </a:ext>
            </a:extLst>
          </p:cNvPr>
          <p:cNvSpPr txBox="1"/>
          <p:nvPr/>
        </p:nvSpPr>
        <p:spPr>
          <a:xfrm>
            <a:off x="2971800" y="5623560"/>
            <a:ext cx="8549640" cy="685800"/>
          </a:xfrm>
          <a:prstGeom prst="rect">
            <a:avLst/>
          </a:prstGeom>
          <a:noFill/>
        </p:spPr>
        <p:txBody>
          <a:bodyPr wrap="square" lIns="0" tIns="0" rIns="0" bIns="0" anchor="t">
            <a:spAutoFit/>
          </a:bodyPr>
          <a:lstStyle/>
          <a:p>
            <a:r>
              <a:rPr sz="1200" b="0" i="0">
                <a:solidFill>
                  <a:srgbClr val="1C1C1C"/>
                </a:solidFill>
                <a:latin typeface="Arial"/>
              </a:rPr>
              <a:t>Review reported content or accounts; manage the list of participating universities; send status notifications for verification, messages, and marketplace activity.</a:t>
            </a:r>
          </a:p>
        </p:txBody>
      </p:sp>
      <p:sp>
        <p:nvSpPr>
          <p:cNvPr id="67" name="TextBox 66">
            <a:extLst>
              <a:ext uri="{FF2B5EF4-FFF2-40B4-BE49-F238E27FC236}">
                <a16:creationId xmlns:a16="http://schemas.microsoft.com/office/drawing/2014/main" id="{204C77DE-4723-79F3-58E2-3F729ED62A79}"/>
              </a:ext>
            </a:extLst>
          </p:cNvPr>
          <p:cNvSpPr txBox="1"/>
          <p:nvPr/>
        </p:nvSpPr>
        <p:spPr>
          <a:xfrm>
            <a:off x="457200" y="6537960"/>
            <a:ext cx="2743200" cy="274320"/>
          </a:xfrm>
          <a:prstGeom prst="rect">
            <a:avLst/>
          </a:prstGeom>
          <a:noFill/>
        </p:spPr>
        <p:txBody>
          <a:bodyPr wrap="square" lIns="0" tIns="0" rIns="0" bIns="0">
            <a:spAutoFit/>
          </a:bodyPr>
          <a:lstStyle/>
          <a:p>
            <a:r>
              <a:rPr sz="1000" b="0" i="0" dirty="0">
                <a:solidFill>
                  <a:srgbClr val="5B6B6D"/>
                </a:solidFill>
                <a:latin typeface="Arial"/>
              </a:rPr>
              <a:t>CampusLink</a:t>
            </a:r>
          </a:p>
        </p:txBody>
      </p:sp>
      <p:sp>
        <p:nvSpPr>
          <p:cNvPr id="69" name="TextBox 68">
            <a:extLst>
              <a:ext uri="{FF2B5EF4-FFF2-40B4-BE49-F238E27FC236}">
                <a16:creationId xmlns:a16="http://schemas.microsoft.com/office/drawing/2014/main" id="{4A6061AB-AAEC-1710-4165-B08616D7AE07}"/>
              </a:ext>
            </a:extLst>
          </p:cNvPr>
          <p:cNvSpPr txBox="1"/>
          <p:nvPr/>
        </p:nvSpPr>
        <p:spPr>
          <a:xfrm>
            <a:off x="11521440" y="6537960"/>
            <a:ext cx="457200" cy="274320"/>
          </a:xfrm>
          <a:prstGeom prst="rect">
            <a:avLst/>
          </a:prstGeom>
          <a:noFill/>
        </p:spPr>
        <p:txBody>
          <a:bodyPr wrap="square" lIns="0" tIns="0" rIns="0" bIns="0">
            <a:spAutoFit/>
          </a:bodyPr>
          <a:lstStyle/>
          <a:p>
            <a:pPr algn="r"/>
            <a:r>
              <a:rPr sz="1000" b="0" i="0">
                <a:solidFill>
                  <a:srgbClr val="5B6B6D"/>
                </a:solidFill>
                <a:latin typeface="Arial"/>
              </a:rPr>
              <a:t>9</a:t>
            </a:r>
          </a:p>
        </p:txBody>
      </p:sp>
    </p:spTree>
    <p:extLst>
      <p:ext uri="{BB962C8B-B14F-4D97-AF65-F5344CB8AC3E}">
        <p14:creationId xmlns:p14="http://schemas.microsoft.com/office/powerpoint/2010/main" val="10849843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marL="0" indent="0">
              <a:buNone/>
            </a:pPr>
            <a:r>
              <a:rPr lang="en-US" sz="3000" b="1" dirty="0">
                <a:solidFill>
                  <a:srgbClr val="1C1C1C"/>
                </a:solidFill>
                <a:latin typeface="Arial" panose="020B0604020202020204" pitchFamily="34" charset="0"/>
                <a:ea typeface="Cambria" pitchFamily="34" charset="-122"/>
                <a:cs typeface="Arial" panose="020B0604020202020204" pitchFamily="34" charset="0"/>
              </a:rPr>
              <a:t>Roles &amp; Access Levels</a:t>
            </a:r>
            <a:endParaRPr lang="en-US" sz="3000" dirty="0">
              <a:latin typeface="Arial" panose="020B0604020202020204" pitchFamily="34" charset="0"/>
              <a:cs typeface="Arial" panose="020B0604020202020204" pitchFamily="34" charset="0"/>
            </a:endParaRPr>
          </a:p>
        </p:txBody>
      </p:sp>
      <p:sp>
        <p:nvSpPr>
          <p:cNvPr id="3" name="Text 1"/>
          <p:cNvSpPr txBox="1"/>
          <p:nvPr/>
        </p:nvSpPr>
        <p:spPr>
          <a:xfrm>
            <a:off x="640080" y="1033272"/>
            <a:ext cx="10881360" cy="457200"/>
          </a:xfrm>
          <a:prstGeom prst="rect">
            <a:avLst/>
          </a:prstGeom>
          <a:noFill/>
          <a:ln/>
        </p:spPr>
        <p:txBody>
          <a:bodyPr wrap="square" lIns="0" tIns="0" rIns="0" bIns="0" rtlCol="0" anchor="ctr"/>
          <a:lstStyle/>
          <a:p>
            <a:pPr marL="0" indent="0">
              <a:buNone/>
            </a:pPr>
            <a:r>
              <a:rPr lang="en-US" sz="1350" dirty="0">
                <a:solidFill>
                  <a:srgbClr val="5B6B6D"/>
                </a:solidFill>
                <a:latin typeface="Arial" panose="020B0604020202020204" pitchFamily="34" charset="0"/>
                <a:ea typeface="Calibri" pitchFamily="34" charset="-122"/>
                <a:cs typeface="Arial" panose="020B0604020202020204" pitchFamily="34" charset="0"/>
              </a:rPr>
              <a:t>The system will have 2 main roles where there will be an Admin of the system and a normal student. Where a students has multiple sub roles among them.</a:t>
            </a:r>
            <a:endParaRPr lang="en-US" sz="1350" dirty="0">
              <a:latin typeface="Arial" panose="020B0604020202020204" pitchFamily="34" charset="0"/>
              <a:cs typeface="Arial" panose="020B0604020202020204" pitchFamily="34" charset="0"/>
            </a:endParaRPr>
          </a:p>
        </p:txBody>
      </p:sp>
      <p:sp>
        <p:nvSpPr>
          <p:cNvPr id="4" name="Text 2"/>
          <p:cNvSpPr txBox="1"/>
          <p:nvPr/>
        </p:nvSpPr>
        <p:spPr>
          <a:xfrm>
            <a:off x="640080" y="1600200"/>
            <a:ext cx="10881360" cy="822960"/>
          </a:xfrm>
          <a:prstGeom prst="rect">
            <a:avLst/>
          </a:prstGeom>
          <a:noFill/>
          <a:ln/>
        </p:spPr>
        <p:txBody>
          <a:bodyPr wrap="square" lIns="0" tIns="0" rIns="0" bIns="0" rtlCol="0" anchor="ctr"/>
          <a:lstStyle/>
          <a:p>
            <a:pPr marL="0" indent="0">
              <a:buNone/>
            </a:pPr>
            <a:r>
              <a:rPr lang="en-US" sz="1350" dirty="0">
                <a:solidFill>
                  <a:srgbClr val="1C1C1C"/>
                </a:solidFill>
                <a:latin typeface="Arial" panose="020B0604020202020204" pitchFamily="34" charset="0"/>
                <a:ea typeface="Calibri" pitchFamily="34" charset="-122"/>
                <a:cs typeface="Arial" panose="020B0604020202020204" pitchFamily="34" charset="0"/>
              </a:rPr>
              <a:t>Verification (previous page) creates one identity per student. On top of that, CampusLink will add finer-grained roles inside groups and communities, so the right people have control without opening every space to everyone.</a:t>
            </a:r>
            <a:endParaRPr lang="en-US" sz="1350" dirty="0">
              <a:latin typeface="Arial" panose="020B0604020202020204" pitchFamily="34" charset="0"/>
              <a:cs typeface="Arial" panose="020B0604020202020204" pitchFamily="34" charset="0"/>
            </a:endParaRPr>
          </a:p>
        </p:txBody>
      </p:sp>
      <p:sp>
        <p:nvSpPr>
          <p:cNvPr id="5" name="Text 3"/>
          <p:cNvSpPr txBox="1"/>
          <p:nvPr/>
        </p:nvSpPr>
        <p:spPr>
          <a:xfrm>
            <a:off x="640080" y="2606040"/>
            <a:ext cx="365760" cy="777240"/>
          </a:xfrm>
          <a:prstGeom prst="rect">
            <a:avLst/>
          </a:prstGeom>
          <a:noFill/>
          <a:ln/>
        </p:spPr>
        <p:txBody>
          <a:bodyPr wrap="square" lIns="0" tIns="0" rIns="0" bIns="0" rtlCol="0" anchor="ctr"/>
          <a:lstStyle/>
          <a:p>
            <a:pPr marL="0" indent="0">
              <a:buNone/>
            </a:pPr>
            <a:r>
              <a:rPr lang="en-US" sz="2000" b="1" dirty="0">
                <a:solidFill>
                  <a:srgbClr val="028090"/>
                </a:solidFill>
                <a:latin typeface="Arial" panose="020B0604020202020204" pitchFamily="34" charset="0"/>
                <a:ea typeface="Cambria" pitchFamily="34" charset="-122"/>
                <a:cs typeface="Arial" panose="020B0604020202020204" pitchFamily="34" charset="0"/>
              </a:rPr>
              <a:t>1</a:t>
            </a:r>
            <a:endParaRPr lang="en-US" sz="2000" dirty="0">
              <a:latin typeface="Arial" panose="020B0604020202020204" pitchFamily="34" charset="0"/>
              <a:cs typeface="Arial" panose="020B0604020202020204" pitchFamily="34" charset="0"/>
            </a:endParaRPr>
          </a:p>
        </p:txBody>
      </p:sp>
      <p:sp>
        <p:nvSpPr>
          <p:cNvPr id="6" name="Text 4"/>
          <p:cNvSpPr txBox="1"/>
          <p:nvPr/>
        </p:nvSpPr>
        <p:spPr>
          <a:xfrm>
            <a:off x="1143000" y="2606040"/>
            <a:ext cx="9966960" cy="320040"/>
          </a:xfrm>
          <a:prstGeom prst="rect">
            <a:avLst/>
          </a:prstGeom>
          <a:noFill/>
          <a:ln/>
        </p:spPr>
        <p:txBody>
          <a:bodyPr wrap="square" lIns="0" tIns="0" rIns="0" bIns="0" rtlCol="0" anchor="ctr"/>
          <a:lstStyle/>
          <a:p>
            <a:pPr marL="0" indent="0">
              <a:buNone/>
            </a:pPr>
            <a:r>
              <a:rPr lang="en-US" sz="1300" b="1" dirty="0">
                <a:solidFill>
                  <a:srgbClr val="1C1C1C"/>
                </a:solidFill>
                <a:latin typeface="Arial" panose="020B0604020202020204" pitchFamily="34" charset="0"/>
                <a:ea typeface="Calibri" pitchFamily="34" charset="-122"/>
                <a:cs typeface="Arial" panose="020B0604020202020204" pitchFamily="34" charset="0"/>
              </a:rPr>
              <a:t>Verified Student</a:t>
            </a:r>
            <a:endParaRPr lang="en-US" sz="1300" dirty="0">
              <a:latin typeface="Arial" panose="020B0604020202020204" pitchFamily="34" charset="0"/>
              <a:cs typeface="Arial" panose="020B0604020202020204" pitchFamily="34" charset="0"/>
            </a:endParaRPr>
          </a:p>
        </p:txBody>
      </p:sp>
      <p:sp>
        <p:nvSpPr>
          <p:cNvPr id="7" name="Text 5"/>
          <p:cNvSpPr txBox="1"/>
          <p:nvPr/>
        </p:nvSpPr>
        <p:spPr>
          <a:xfrm>
            <a:off x="1143000" y="2935224"/>
            <a:ext cx="9966960" cy="365760"/>
          </a:xfrm>
          <a:prstGeom prst="rect">
            <a:avLst/>
          </a:prstGeom>
          <a:noFill/>
          <a:ln/>
        </p:spPr>
        <p:txBody>
          <a:bodyPr wrap="square" lIns="0" tIns="0" rIns="0" bIns="0" rtlCol="0" anchor="ctr"/>
          <a:lstStyle/>
          <a:p>
            <a:pPr marL="0" indent="0">
              <a:buNone/>
            </a:pPr>
            <a:r>
              <a:rPr lang="en-US" sz="1150" dirty="0">
                <a:solidFill>
                  <a:srgbClr val="5B6B6D"/>
                </a:solidFill>
                <a:latin typeface="Arial" panose="020B0604020202020204" pitchFamily="34" charset="0"/>
                <a:ea typeface="Calibri" pitchFamily="34" charset="-122"/>
                <a:cs typeface="Arial" panose="020B0604020202020204" pitchFamily="34" charset="0"/>
              </a:rPr>
              <a:t>The base role for every account once university identity is confirmed. Can browse the feed, post updates, message other students, and join any group.</a:t>
            </a:r>
            <a:endParaRPr lang="en-US" sz="1150" dirty="0">
              <a:latin typeface="Arial" panose="020B0604020202020204" pitchFamily="34" charset="0"/>
              <a:cs typeface="Arial" panose="020B0604020202020204" pitchFamily="34" charset="0"/>
            </a:endParaRPr>
          </a:p>
        </p:txBody>
      </p:sp>
      <p:sp>
        <p:nvSpPr>
          <p:cNvPr id="8" name="Text 6"/>
          <p:cNvSpPr txBox="1"/>
          <p:nvPr/>
        </p:nvSpPr>
        <p:spPr>
          <a:xfrm>
            <a:off x="640080" y="3520440"/>
            <a:ext cx="365760" cy="777240"/>
          </a:xfrm>
          <a:prstGeom prst="rect">
            <a:avLst/>
          </a:prstGeom>
          <a:noFill/>
          <a:ln/>
        </p:spPr>
        <p:txBody>
          <a:bodyPr wrap="square" lIns="0" tIns="0" rIns="0" bIns="0" rtlCol="0" anchor="ctr"/>
          <a:lstStyle/>
          <a:p>
            <a:pPr marL="0" indent="0">
              <a:buNone/>
            </a:pPr>
            <a:r>
              <a:rPr lang="en-US" sz="2000" b="1" dirty="0">
                <a:solidFill>
                  <a:srgbClr val="028090"/>
                </a:solidFill>
                <a:latin typeface="Arial" panose="020B0604020202020204" pitchFamily="34" charset="0"/>
                <a:ea typeface="Cambria" pitchFamily="34" charset="-122"/>
                <a:cs typeface="Arial" panose="020B0604020202020204" pitchFamily="34" charset="0"/>
              </a:rPr>
              <a:t>2</a:t>
            </a:r>
            <a:endParaRPr lang="en-US" sz="2000" dirty="0">
              <a:latin typeface="Arial" panose="020B0604020202020204" pitchFamily="34" charset="0"/>
              <a:cs typeface="Arial" panose="020B0604020202020204" pitchFamily="34" charset="0"/>
            </a:endParaRPr>
          </a:p>
        </p:txBody>
      </p:sp>
      <p:sp>
        <p:nvSpPr>
          <p:cNvPr id="9" name="Text 7"/>
          <p:cNvSpPr txBox="1"/>
          <p:nvPr/>
        </p:nvSpPr>
        <p:spPr>
          <a:xfrm>
            <a:off x="1143000" y="3520440"/>
            <a:ext cx="9966960" cy="320040"/>
          </a:xfrm>
          <a:prstGeom prst="rect">
            <a:avLst/>
          </a:prstGeom>
          <a:noFill/>
          <a:ln/>
        </p:spPr>
        <p:txBody>
          <a:bodyPr wrap="square" lIns="0" tIns="0" rIns="0" bIns="0" rtlCol="0" anchor="ctr"/>
          <a:lstStyle/>
          <a:p>
            <a:pPr marL="0" indent="0">
              <a:buNone/>
            </a:pPr>
            <a:r>
              <a:rPr lang="en-US" sz="1300" b="1" dirty="0">
                <a:solidFill>
                  <a:srgbClr val="1C1C1C"/>
                </a:solidFill>
                <a:latin typeface="Arial" panose="020B0604020202020204" pitchFamily="34" charset="0"/>
                <a:ea typeface="Calibri" pitchFamily="34" charset="-122"/>
                <a:cs typeface="Arial" panose="020B0604020202020204" pitchFamily="34" charset="0"/>
              </a:rPr>
              <a:t>Group Admin</a:t>
            </a:r>
            <a:endParaRPr lang="en-US" sz="1300" dirty="0">
              <a:latin typeface="Arial" panose="020B0604020202020204" pitchFamily="34" charset="0"/>
              <a:cs typeface="Arial" panose="020B0604020202020204" pitchFamily="34" charset="0"/>
            </a:endParaRPr>
          </a:p>
        </p:txBody>
      </p:sp>
      <p:sp>
        <p:nvSpPr>
          <p:cNvPr id="10" name="Text 8"/>
          <p:cNvSpPr txBox="1"/>
          <p:nvPr/>
        </p:nvSpPr>
        <p:spPr>
          <a:xfrm>
            <a:off x="1143000" y="3849624"/>
            <a:ext cx="9966960" cy="365760"/>
          </a:xfrm>
          <a:prstGeom prst="rect">
            <a:avLst/>
          </a:prstGeom>
          <a:noFill/>
          <a:ln/>
        </p:spPr>
        <p:txBody>
          <a:bodyPr wrap="square" lIns="0" tIns="0" rIns="0" bIns="0" rtlCol="0" anchor="ctr"/>
          <a:lstStyle/>
          <a:p>
            <a:pPr marL="0" indent="0">
              <a:buNone/>
            </a:pPr>
            <a:r>
              <a:rPr lang="en-US" sz="1150" dirty="0">
                <a:solidFill>
                  <a:srgbClr val="5B6B6D"/>
                </a:solidFill>
                <a:latin typeface="Arial" panose="020B0604020202020204" pitchFamily="34" charset="0"/>
                <a:ea typeface="Calibri" pitchFamily="34" charset="-122"/>
                <a:cs typeface="Arial" panose="020B0604020202020204" pitchFamily="34" charset="0"/>
              </a:rPr>
              <a:t>Automatically assigned to whoever creates a group. Can post announcements, moderate members, and choose the group’s posting mode.</a:t>
            </a:r>
            <a:endParaRPr lang="en-US" sz="1150" dirty="0">
              <a:latin typeface="Arial" panose="020B0604020202020204" pitchFamily="34" charset="0"/>
              <a:cs typeface="Arial" panose="020B0604020202020204" pitchFamily="34" charset="0"/>
            </a:endParaRPr>
          </a:p>
        </p:txBody>
      </p:sp>
      <p:sp>
        <p:nvSpPr>
          <p:cNvPr id="11" name="Text 9"/>
          <p:cNvSpPr txBox="1"/>
          <p:nvPr/>
        </p:nvSpPr>
        <p:spPr>
          <a:xfrm>
            <a:off x="640080" y="4434840"/>
            <a:ext cx="365760" cy="777240"/>
          </a:xfrm>
          <a:prstGeom prst="rect">
            <a:avLst/>
          </a:prstGeom>
          <a:noFill/>
          <a:ln/>
        </p:spPr>
        <p:txBody>
          <a:bodyPr wrap="square" lIns="0" tIns="0" rIns="0" bIns="0" rtlCol="0" anchor="ctr"/>
          <a:lstStyle/>
          <a:p>
            <a:pPr marL="0" indent="0">
              <a:buNone/>
            </a:pPr>
            <a:r>
              <a:rPr lang="en-US" sz="2000" b="1" dirty="0">
                <a:solidFill>
                  <a:srgbClr val="028090"/>
                </a:solidFill>
                <a:latin typeface="Arial" panose="020B0604020202020204" pitchFamily="34" charset="0"/>
                <a:ea typeface="Cambria" pitchFamily="34" charset="-122"/>
                <a:cs typeface="Arial" panose="020B0604020202020204" pitchFamily="34" charset="0"/>
              </a:rPr>
              <a:t>3</a:t>
            </a:r>
            <a:endParaRPr lang="en-US" sz="2000" dirty="0">
              <a:latin typeface="Arial" panose="020B0604020202020204" pitchFamily="34" charset="0"/>
              <a:cs typeface="Arial" panose="020B0604020202020204" pitchFamily="34" charset="0"/>
            </a:endParaRPr>
          </a:p>
        </p:txBody>
      </p:sp>
      <p:sp>
        <p:nvSpPr>
          <p:cNvPr id="12" name="Text 10"/>
          <p:cNvSpPr txBox="1"/>
          <p:nvPr/>
        </p:nvSpPr>
        <p:spPr>
          <a:xfrm>
            <a:off x="1143000" y="4434840"/>
            <a:ext cx="9966960" cy="320040"/>
          </a:xfrm>
          <a:prstGeom prst="rect">
            <a:avLst/>
          </a:prstGeom>
          <a:noFill/>
          <a:ln/>
        </p:spPr>
        <p:txBody>
          <a:bodyPr wrap="square" lIns="0" tIns="0" rIns="0" bIns="0" rtlCol="0" anchor="ctr"/>
          <a:lstStyle/>
          <a:p>
            <a:pPr marL="0" indent="0">
              <a:buNone/>
            </a:pPr>
            <a:r>
              <a:rPr lang="en-US" sz="1300" b="1" dirty="0">
                <a:solidFill>
                  <a:srgbClr val="1C1C1C"/>
                </a:solidFill>
                <a:latin typeface="Arial" panose="020B0604020202020204" pitchFamily="34" charset="0"/>
                <a:ea typeface="Calibri" pitchFamily="34" charset="-122"/>
                <a:cs typeface="Arial" panose="020B0604020202020204" pitchFamily="34" charset="0"/>
              </a:rPr>
              <a:t>Member with Posting Rights</a:t>
            </a:r>
            <a:endParaRPr lang="en-US" sz="1300" dirty="0">
              <a:latin typeface="Arial" panose="020B0604020202020204" pitchFamily="34" charset="0"/>
              <a:cs typeface="Arial" panose="020B0604020202020204" pitchFamily="34" charset="0"/>
            </a:endParaRPr>
          </a:p>
        </p:txBody>
      </p:sp>
      <p:sp>
        <p:nvSpPr>
          <p:cNvPr id="13" name="Text 11"/>
          <p:cNvSpPr txBox="1"/>
          <p:nvPr/>
        </p:nvSpPr>
        <p:spPr>
          <a:xfrm>
            <a:off x="1143000" y="4764024"/>
            <a:ext cx="9966960" cy="365760"/>
          </a:xfrm>
          <a:prstGeom prst="rect">
            <a:avLst/>
          </a:prstGeom>
          <a:noFill/>
          <a:ln/>
        </p:spPr>
        <p:txBody>
          <a:bodyPr wrap="square" lIns="0" tIns="0" rIns="0" bIns="0" rtlCol="0" anchor="ctr"/>
          <a:lstStyle/>
          <a:p>
            <a:pPr marL="0" indent="0">
              <a:buNone/>
            </a:pPr>
            <a:r>
              <a:rPr lang="en-US" sz="1150" dirty="0">
                <a:solidFill>
                  <a:srgbClr val="5B6B6D"/>
                </a:solidFill>
                <a:latin typeface="Arial" panose="020B0604020202020204" pitchFamily="34" charset="0"/>
                <a:ea typeface="Calibri" pitchFamily="34" charset="-122"/>
                <a:cs typeface="Arial" panose="020B0604020202020204" pitchFamily="34" charset="0"/>
              </a:rPr>
              <a:t>A regular member an admin has individually approved to post in an otherwise admin-only group — useful for co-organizers without opening posting to everyone.</a:t>
            </a:r>
            <a:endParaRPr lang="en-US" sz="1150" dirty="0">
              <a:latin typeface="Arial" panose="020B0604020202020204" pitchFamily="34" charset="0"/>
              <a:cs typeface="Arial" panose="020B0604020202020204" pitchFamily="34" charset="0"/>
            </a:endParaRPr>
          </a:p>
        </p:txBody>
      </p:sp>
      <p:sp>
        <p:nvSpPr>
          <p:cNvPr id="14" name="Text 12"/>
          <p:cNvSpPr txBox="1"/>
          <p:nvPr/>
        </p:nvSpPr>
        <p:spPr>
          <a:xfrm>
            <a:off x="640080" y="5349240"/>
            <a:ext cx="365760" cy="777240"/>
          </a:xfrm>
          <a:prstGeom prst="rect">
            <a:avLst/>
          </a:prstGeom>
          <a:noFill/>
          <a:ln/>
        </p:spPr>
        <p:txBody>
          <a:bodyPr wrap="square" lIns="0" tIns="0" rIns="0" bIns="0" rtlCol="0" anchor="ctr"/>
          <a:lstStyle/>
          <a:p>
            <a:pPr marL="0" indent="0">
              <a:buNone/>
            </a:pPr>
            <a:r>
              <a:rPr lang="en-US" sz="2000" b="1" dirty="0">
                <a:solidFill>
                  <a:srgbClr val="028090"/>
                </a:solidFill>
                <a:latin typeface="Arial" panose="020B0604020202020204" pitchFamily="34" charset="0"/>
                <a:ea typeface="Cambria" pitchFamily="34" charset="-122"/>
                <a:cs typeface="Arial" panose="020B0604020202020204" pitchFamily="34" charset="0"/>
              </a:rPr>
              <a:t>4</a:t>
            </a:r>
            <a:endParaRPr lang="en-US" sz="2000" dirty="0">
              <a:latin typeface="Arial" panose="020B0604020202020204" pitchFamily="34" charset="0"/>
              <a:cs typeface="Arial" panose="020B0604020202020204" pitchFamily="34" charset="0"/>
            </a:endParaRPr>
          </a:p>
        </p:txBody>
      </p:sp>
      <p:sp>
        <p:nvSpPr>
          <p:cNvPr id="15" name="Text 13"/>
          <p:cNvSpPr txBox="1"/>
          <p:nvPr/>
        </p:nvSpPr>
        <p:spPr>
          <a:xfrm>
            <a:off x="1143000" y="5349240"/>
            <a:ext cx="9966960" cy="320040"/>
          </a:xfrm>
          <a:prstGeom prst="rect">
            <a:avLst/>
          </a:prstGeom>
          <a:noFill/>
          <a:ln/>
        </p:spPr>
        <p:txBody>
          <a:bodyPr wrap="square" lIns="0" tIns="0" rIns="0" bIns="0" rtlCol="0" anchor="ctr"/>
          <a:lstStyle/>
          <a:p>
            <a:pPr marL="0" indent="0">
              <a:buNone/>
            </a:pPr>
            <a:r>
              <a:rPr lang="en-US" sz="1300" b="1" dirty="0">
                <a:solidFill>
                  <a:srgbClr val="1C1C1C"/>
                </a:solidFill>
                <a:latin typeface="Arial" panose="020B0604020202020204" pitchFamily="34" charset="0"/>
                <a:ea typeface="Calibri" pitchFamily="34" charset="-122"/>
                <a:cs typeface="Arial" panose="020B0604020202020204" pitchFamily="34" charset="0"/>
              </a:rPr>
              <a:t>Group Member</a:t>
            </a:r>
            <a:endParaRPr lang="en-US" sz="1300" dirty="0">
              <a:latin typeface="Arial" panose="020B0604020202020204" pitchFamily="34" charset="0"/>
              <a:cs typeface="Arial" panose="020B0604020202020204" pitchFamily="34" charset="0"/>
            </a:endParaRPr>
          </a:p>
        </p:txBody>
      </p:sp>
      <p:sp>
        <p:nvSpPr>
          <p:cNvPr id="16" name="Text 14"/>
          <p:cNvSpPr txBox="1"/>
          <p:nvPr/>
        </p:nvSpPr>
        <p:spPr>
          <a:xfrm>
            <a:off x="1143000" y="5678424"/>
            <a:ext cx="9966960" cy="365760"/>
          </a:xfrm>
          <a:prstGeom prst="rect">
            <a:avLst/>
          </a:prstGeom>
          <a:noFill/>
          <a:ln/>
        </p:spPr>
        <p:txBody>
          <a:bodyPr wrap="square" lIns="0" tIns="0" rIns="0" bIns="0" rtlCol="0" anchor="ctr"/>
          <a:lstStyle/>
          <a:p>
            <a:pPr marL="0" indent="0">
              <a:buNone/>
            </a:pPr>
            <a:r>
              <a:rPr lang="en-US" sz="1150" dirty="0">
                <a:solidFill>
                  <a:srgbClr val="5B6B6D"/>
                </a:solidFill>
                <a:latin typeface="Arial" panose="020B0604020202020204" pitchFamily="34" charset="0"/>
                <a:ea typeface="Calibri" pitchFamily="34" charset="-122"/>
                <a:cs typeface="Arial" panose="020B0604020202020204" pitchFamily="34" charset="0"/>
              </a:rPr>
              <a:t>The default role after joining any group: view posts, react, comment, and chat, without posting rights unless granted.</a:t>
            </a:r>
            <a:endParaRPr lang="en-US" sz="1150" dirty="0">
              <a:latin typeface="Arial" panose="020B0604020202020204" pitchFamily="34" charset="0"/>
              <a:cs typeface="Arial" panose="020B0604020202020204" pitchFamily="34" charset="0"/>
            </a:endParaRPr>
          </a:p>
        </p:txBody>
      </p:sp>
      <p:sp>
        <p:nvSpPr>
          <p:cNvPr id="17" name="Text 15"/>
          <p:cNvSpPr txBox="1"/>
          <p:nvPr/>
        </p:nvSpPr>
        <p:spPr>
          <a:xfrm>
            <a:off x="457200" y="6537960"/>
            <a:ext cx="2743200" cy="274320"/>
          </a:xfrm>
          <a:prstGeom prst="rect">
            <a:avLst/>
          </a:prstGeom>
          <a:noFill/>
          <a:ln/>
        </p:spPr>
        <p:txBody>
          <a:bodyPr wrap="square" lIns="0" tIns="0" rIns="0" bIns="0" rtlCol="0" anchor="ctr"/>
          <a:lstStyle/>
          <a:p>
            <a:pPr marL="0" indent="0">
              <a:buNone/>
            </a:pPr>
            <a:r>
              <a:rPr lang="en-US" sz="1000" dirty="0">
                <a:solidFill>
                  <a:srgbClr val="5B6B6D"/>
                </a:solidFill>
                <a:latin typeface="Arial" panose="020B0604020202020204" pitchFamily="34" charset="0"/>
                <a:ea typeface="Calibri" pitchFamily="34" charset="-122"/>
                <a:cs typeface="Arial" panose="020B0604020202020204" pitchFamily="34" charset="0"/>
              </a:rPr>
              <a:t>CampusLink</a:t>
            </a:r>
            <a:endParaRPr lang="en-US" sz="1000" dirty="0">
              <a:latin typeface="Arial" panose="020B0604020202020204" pitchFamily="34" charset="0"/>
              <a:cs typeface="Arial" panose="020B0604020202020204" pitchFamily="34" charset="0"/>
            </a:endParaRPr>
          </a:p>
        </p:txBody>
      </p:sp>
      <p:sp>
        <p:nvSpPr>
          <p:cNvPr id="18" name="Text 16"/>
          <p:cNvSpPr txBox="1"/>
          <p:nvPr/>
        </p:nvSpPr>
        <p:spPr>
          <a:xfrm>
            <a:off x="11521440" y="6537960"/>
            <a:ext cx="457200" cy="274320"/>
          </a:xfrm>
          <a:prstGeom prst="rect">
            <a:avLst/>
          </a:prstGeom>
          <a:noFill/>
          <a:ln/>
        </p:spPr>
        <p:txBody>
          <a:bodyPr wrap="square" lIns="0" tIns="0" rIns="0" bIns="0" rtlCol="0" anchor="ctr"/>
          <a:lstStyle/>
          <a:p>
            <a:pPr marL="0" indent="0" algn="r">
              <a:buNone/>
            </a:pPr>
            <a:r>
              <a:rPr lang="en-US" sz="1000" dirty="0">
                <a:solidFill>
                  <a:srgbClr val="5B6B6D"/>
                </a:solidFill>
                <a:latin typeface="Arial" panose="020B0604020202020204" pitchFamily="34" charset="0"/>
                <a:ea typeface="Calibri" pitchFamily="34" charset="-122"/>
                <a:cs typeface="Arial" panose="020B0604020202020204" pitchFamily="34" charset="0"/>
              </a:rPr>
              <a:t>7</a:t>
            </a:r>
            <a:endParaRPr lang="en-US" sz="1000" dirty="0">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marL="0" indent="0">
              <a:buNone/>
            </a:pPr>
            <a:r>
              <a:rPr lang="en-US" sz="3000" b="1" dirty="0">
                <a:solidFill>
                  <a:srgbClr val="1C1C1C"/>
                </a:solidFill>
                <a:latin typeface="Arial" panose="020B0604020202020204" pitchFamily="34" charset="0"/>
                <a:ea typeface="Cambria" pitchFamily="34" charset="-122"/>
                <a:cs typeface="Arial" panose="020B0604020202020204" pitchFamily="34" charset="0"/>
              </a:rPr>
              <a:t>One Web App, everything</a:t>
            </a:r>
            <a:endParaRPr lang="en-US" sz="3000" dirty="0">
              <a:latin typeface="Arial" panose="020B0604020202020204" pitchFamily="34" charset="0"/>
              <a:cs typeface="Arial" panose="020B0604020202020204" pitchFamily="34" charset="0"/>
            </a:endParaRPr>
          </a:p>
        </p:txBody>
      </p:sp>
      <p:sp>
        <p:nvSpPr>
          <p:cNvPr id="3" name="Text 1"/>
          <p:cNvSpPr txBox="1"/>
          <p:nvPr/>
        </p:nvSpPr>
        <p:spPr>
          <a:xfrm>
            <a:off x="640080" y="1033272"/>
            <a:ext cx="10881360" cy="457200"/>
          </a:xfrm>
          <a:prstGeom prst="rect">
            <a:avLst/>
          </a:prstGeom>
          <a:noFill/>
          <a:ln/>
        </p:spPr>
        <p:txBody>
          <a:bodyPr wrap="square" lIns="0" tIns="0" rIns="0" bIns="0" rtlCol="0" anchor="ctr"/>
          <a:lstStyle/>
          <a:p>
            <a:pPr marL="0" indent="0">
              <a:buNone/>
            </a:pPr>
            <a:r>
              <a:rPr lang="en-US" sz="1350" dirty="0">
                <a:solidFill>
                  <a:srgbClr val="5B6B6D"/>
                </a:solidFill>
                <a:latin typeface="Arial" panose="020B0604020202020204" pitchFamily="34" charset="0"/>
                <a:ea typeface="Calibri" pitchFamily="34" charset="-122"/>
                <a:cs typeface="Arial" panose="020B0604020202020204" pitchFamily="34" charset="0"/>
              </a:rPr>
              <a:t>From day one of semester to graduation, a student never needs to leave</a:t>
            </a:r>
            <a:endParaRPr lang="en-US" sz="1350" dirty="0">
              <a:latin typeface="Arial" panose="020B0604020202020204" pitchFamily="34" charset="0"/>
              <a:cs typeface="Arial" panose="020B0604020202020204" pitchFamily="34" charset="0"/>
            </a:endParaRPr>
          </a:p>
        </p:txBody>
      </p:sp>
      <p:sp>
        <p:nvSpPr>
          <p:cNvPr id="4" name="Text 2"/>
          <p:cNvSpPr txBox="1"/>
          <p:nvPr/>
        </p:nvSpPr>
        <p:spPr>
          <a:xfrm>
            <a:off x="640080" y="1645920"/>
            <a:ext cx="2194560" cy="685800"/>
          </a:xfrm>
          <a:prstGeom prst="rect">
            <a:avLst/>
          </a:prstGeom>
          <a:noFill/>
          <a:ln/>
        </p:spPr>
        <p:txBody>
          <a:bodyPr wrap="square" lIns="0" tIns="0" rIns="0" bIns="0" rtlCol="0" anchor="t"/>
          <a:lstStyle/>
          <a:p>
            <a:pPr marL="0" indent="0">
              <a:buNone/>
            </a:pPr>
            <a:r>
              <a:rPr lang="en-US" sz="1400" b="1" dirty="0">
                <a:solidFill>
                  <a:srgbClr val="028090"/>
                </a:solidFill>
                <a:latin typeface="Arial" panose="020B0604020202020204" pitchFamily="34" charset="0"/>
                <a:ea typeface="Calibri" pitchFamily="34" charset="-122"/>
                <a:cs typeface="Arial" panose="020B0604020202020204" pitchFamily="34" charset="0"/>
              </a:rPr>
              <a:t>Chat</a:t>
            </a:r>
            <a:endParaRPr lang="en-US" sz="1400" dirty="0">
              <a:latin typeface="Arial" panose="020B0604020202020204" pitchFamily="34" charset="0"/>
              <a:cs typeface="Arial" panose="020B0604020202020204" pitchFamily="34" charset="0"/>
            </a:endParaRPr>
          </a:p>
        </p:txBody>
      </p:sp>
      <p:sp>
        <p:nvSpPr>
          <p:cNvPr id="5" name="Text 3"/>
          <p:cNvSpPr txBox="1"/>
          <p:nvPr/>
        </p:nvSpPr>
        <p:spPr>
          <a:xfrm>
            <a:off x="2971800" y="1645920"/>
            <a:ext cx="8549640" cy="685800"/>
          </a:xfrm>
          <a:prstGeom prst="rect">
            <a:avLst/>
          </a:prstGeom>
          <a:noFill/>
          <a:ln/>
        </p:spPr>
        <p:txBody>
          <a:bodyPr wrap="square" lIns="0" tIns="0" rIns="0" bIns="0" rtlCol="0" anchor="t"/>
          <a:lstStyle/>
          <a:p>
            <a:pPr marL="0" indent="0">
              <a:buNone/>
            </a:pPr>
            <a:r>
              <a:rPr lang="en-US" sz="1200" dirty="0">
                <a:solidFill>
                  <a:srgbClr val="1C1C1C"/>
                </a:solidFill>
                <a:latin typeface="Arial" panose="020B0604020202020204" pitchFamily="34" charset="0"/>
                <a:ea typeface="Calibri" pitchFamily="34" charset="-122"/>
                <a:cs typeface="Arial" panose="020B0604020202020204" pitchFamily="34" charset="0"/>
              </a:rPr>
              <a:t>Class and group conversations organized by course and faculty, replacing scattered WhatsApp groups with something searchable and permanent.</a:t>
            </a:r>
            <a:endParaRPr lang="en-US" sz="1200" dirty="0">
              <a:latin typeface="Arial" panose="020B0604020202020204" pitchFamily="34" charset="0"/>
              <a:cs typeface="Arial" panose="020B0604020202020204" pitchFamily="34" charset="0"/>
            </a:endParaRPr>
          </a:p>
        </p:txBody>
      </p:sp>
      <p:sp>
        <p:nvSpPr>
          <p:cNvPr id="6" name="Text 4"/>
          <p:cNvSpPr txBox="1"/>
          <p:nvPr/>
        </p:nvSpPr>
        <p:spPr>
          <a:xfrm>
            <a:off x="640080" y="2441448"/>
            <a:ext cx="2194560" cy="685800"/>
          </a:xfrm>
          <a:prstGeom prst="rect">
            <a:avLst/>
          </a:prstGeom>
          <a:noFill/>
          <a:ln/>
        </p:spPr>
        <p:txBody>
          <a:bodyPr wrap="square" lIns="0" tIns="0" rIns="0" bIns="0" rtlCol="0" anchor="t"/>
          <a:lstStyle/>
          <a:p>
            <a:pPr marL="0" indent="0">
              <a:buNone/>
            </a:pPr>
            <a:r>
              <a:rPr lang="en-US" sz="1400" b="1" dirty="0">
                <a:solidFill>
                  <a:srgbClr val="028090"/>
                </a:solidFill>
                <a:latin typeface="Arial" panose="020B0604020202020204" pitchFamily="34" charset="0"/>
                <a:ea typeface="Calibri" pitchFamily="34" charset="-122"/>
                <a:cs typeface="Arial" panose="020B0604020202020204" pitchFamily="34" charset="0"/>
              </a:rPr>
              <a:t>Documents</a:t>
            </a:r>
            <a:endParaRPr lang="en-US" sz="1400" dirty="0">
              <a:latin typeface="Arial" panose="020B0604020202020204" pitchFamily="34" charset="0"/>
              <a:cs typeface="Arial" panose="020B0604020202020204" pitchFamily="34" charset="0"/>
            </a:endParaRPr>
          </a:p>
        </p:txBody>
      </p:sp>
      <p:sp>
        <p:nvSpPr>
          <p:cNvPr id="7" name="Text 5"/>
          <p:cNvSpPr txBox="1"/>
          <p:nvPr/>
        </p:nvSpPr>
        <p:spPr>
          <a:xfrm>
            <a:off x="2971800" y="2441448"/>
            <a:ext cx="8549640" cy="685800"/>
          </a:xfrm>
          <a:prstGeom prst="rect">
            <a:avLst/>
          </a:prstGeom>
          <a:noFill/>
          <a:ln/>
        </p:spPr>
        <p:txBody>
          <a:bodyPr wrap="square" lIns="0" tIns="0" rIns="0" bIns="0" rtlCol="0" anchor="t"/>
          <a:lstStyle/>
          <a:p>
            <a:pPr marL="0" indent="0">
              <a:buNone/>
            </a:pPr>
            <a:r>
              <a:rPr lang="en-US" sz="1200" dirty="0">
                <a:solidFill>
                  <a:srgbClr val="1C1C1C"/>
                </a:solidFill>
                <a:latin typeface="Arial" panose="020B0604020202020204" pitchFamily="34" charset="0"/>
                <a:ea typeface="Calibri" pitchFamily="34" charset="-122"/>
                <a:cs typeface="Arial" panose="020B0604020202020204" pitchFamily="34" charset="0"/>
              </a:rPr>
              <a:t>A shared library for notes, past papers, and course material, contributed and searched by students at your own university.</a:t>
            </a:r>
            <a:endParaRPr lang="en-US" sz="1200" dirty="0">
              <a:latin typeface="Arial" panose="020B0604020202020204" pitchFamily="34" charset="0"/>
              <a:cs typeface="Arial" panose="020B0604020202020204" pitchFamily="34" charset="0"/>
            </a:endParaRPr>
          </a:p>
        </p:txBody>
      </p:sp>
      <p:sp>
        <p:nvSpPr>
          <p:cNvPr id="8" name="Text 6"/>
          <p:cNvSpPr txBox="1"/>
          <p:nvPr/>
        </p:nvSpPr>
        <p:spPr>
          <a:xfrm>
            <a:off x="640080" y="3236976"/>
            <a:ext cx="2194560" cy="685800"/>
          </a:xfrm>
          <a:prstGeom prst="rect">
            <a:avLst/>
          </a:prstGeom>
          <a:noFill/>
          <a:ln/>
        </p:spPr>
        <p:txBody>
          <a:bodyPr wrap="square" lIns="0" tIns="0" rIns="0" bIns="0" rtlCol="0" anchor="t"/>
          <a:lstStyle/>
          <a:p>
            <a:pPr marL="0" indent="0">
              <a:buNone/>
            </a:pPr>
            <a:r>
              <a:rPr lang="en-US" sz="1400" b="1" dirty="0">
                <a:solidFill>
                  <a:srgbClr val="028090"/>
                </a:solidFill>
                <a:latin typeface="Arial" panose="020B0604020202020204" pitchFamily="34" charset="0"/>
                <a:ea typeface="Calibri" pitchFamily="34" charset="-122"/>
                <a:cs typeface="Arial" panose="020B0604020202020204" pitchFamily="34" charset="0"/>
              </a:rPr>
              <a:t>Groups</a:t>
            </a:r>
            <a:endParaRPr lang="en-US" sz="1400" dirty="0">
              <a:latin typeface="Arial" panose="020B0604020202020204" pitchFamily="34" charset="0"/>
              <a:cs typeface="Arial" panose="020B0604020202020204" pitchFamily="34" charset="0"/>
            </a:endParaRPr>
          </a:p>
        </p:txBody>
      </p:sp>
      <p:sp>
        <p:nvSpPr>
          <p:cNvPr id="9" name="Text 7"/>
          <p:cNvSpPr txBox="1"/>
          <p:nvPr/>
        </p:nvSpPr>
        <p:spPr>
          <a:xfrm>
            <a:off x="2971800" y="3236976"/>
            <a:ext cx="8549640" cy="685800"/>
          </a:xfrm>
          <a:prstGeom prst="rect">
            <a:avLst/>
          </a:prstGeom>
          <a:noFill/>
          <a:ln/>
        </p:spPr>
        <p:txBody>
          <a:bodyPr wrap="square" lIns="0" tIns="0" rIns="0" bIns="0" rtlCol="0" anchor="t"/>
          <a:lstStyle/>
          <a:p>
            <a:pPr marL="0" indent="0">
              <a:buNone/>
            </a:pPr>
            <a:r>
              <a:rPr lang="en-US" sz="1200" dirty="0">
                <a:solidFill>
                  <a:srgbClr val="1C1C1C"/>
                </a:solidFill>
                <a:latin typeface="Arial" panose="020B0604020202020204" pitchFamily="34" charset="0"/>
                <a:ea typeface="Calibri" pitchFamily="34" charset="-122"/>
                <a:cs typeface="Arial" panose="020B0604020202020204" pitchFamily="34" charset="0"/>
              </a:rPr>
              <a:t>Faculty, course, and club communities that stay intact even as membership and admins change semester to semester.</a:t>
            </a:r>
            <a:endParaRPr lang="en-US" sz="1200" dirty="0">
              <a:latin typeface="Arial" panose="020B0604020202020204" pitchFamily="34" charset="0"/>
              <a:cs typeface="Arial" panose="020B0604020202020204" pitchFamily="34" charset="0"/>
            </a:endParaRPr>
          </a:p>
        </p:txBody>
      </p:sp>
      <p:sp>
        <p:nvSpPr>
          <p:cNvPr id="10" name="Text 8"/>
          <p:cNvSpPr txBox="1"/>
          <p:nvPr/>
        </p:nvSpPr>
        <p:spPr>
          <a:xfrm>
            <a:off x="640080" y="4032504"/>
            <a:ext cx="2194560" cy="685800"/>
          </a:xfrm>
          <a:prstGeom prst="rect">
            <a:avLst/>
          </a:prstGeom>
          <a:noFill/>
          <a:ln/>
        </p:spPr>
        <p:txBody>
          <a:bodyPr wrap="square" lIns="0" tIns="0" rIns="0" bIns="0" rtlCol="0" anchor="t"/>
          <a:lstStyle/>
          <a:p>
            <a:pPr marL="0" indent="0">
              <a:buNone/>
            </a:pPr>
            <a:r>
              <a:rPr lang="en-US" sz="1400" b="1" dirty="0">
                <a:solidFill>
                  <a:srgbClr val="028090"/>
                </a:solidFill>
                <a:latin typeface="Arial" panose="020B0604020202020204" pitchFamily="34" charset="0"/>
                <a:ea typeface="Calibri" pitchFamily="34" charset="-122"/>
                <a:cs typeface="Arial" panose="020B0604020202020204" pitchFamily="34" charset="0"/>
              </a:rPr>
              <a:t>Marketplace</a:t>
            </a:r>
            <a:endParaRPr lang="en-US" sz="1400" dirty="0">
              <a:latin typeface="Arial" panose="020B0604020202020204" pitchFamily="34" charset="0"/>
              <a:cs typeface="Arial" panose="020B0604020202020204" pitchFamily="34" charset="0"/>
            </a:endParaRPr>
          </a:p>
        </p:txBody>
      </p:sp>
      <p:sp>
        <p:nvSpPr>
          <p:cNvPr id="11" name="Text 9"/>
          <p:cNvSpPr txBox="1"/>
          <p:nvPr/>
        </p:nvSpPr>
        <p:spPr>
          <a:xfrm>
            <a:off x="2971800" y="4032504"/>
            <a:ext cx="8549640" cy="685800"/>
          </a:xfrm>
          <a:prstGeom prst="rect">
            <a:avLst/>
          </a:prstGeom>
          <a:noFill/>
          <a:ln/>
        </p:spPr>
        <p:txBody>
          <a:bodyPr wrap="square" lIns="0" tIns="0" rIns="0" bIns="0" rtlCol="0" anchor="t"/>
          <a:lstStyle/>
          <a:p>
            <a:pPr marL="0" indent="0">
              <a:buNone/>
            </a:pPr>
            <a:r>
              <a:rPr lang="en-US" sz="1200" dirty="0">
                <a:solidFill>
                  <a:srgbClr val="1C1C1C"/>
                </a:solidFill>
                <a:latin typeface="Arial" panose="020B0604020202020204" pitchFamily="34" charset="0"/>
                <a:ea typeface="Calibri" pitchFamily="34" charset="-122"/>
                <a:cs typeface="Arial" panose="020B0604020202020204" pitchFamily="34" charset="0"/>
              </a:rPr>
              <a:t>A place to buy and sell textbooks and other student essentials, priced in Tanzanian shillings, with both sides verified students.</a:t>
            </a:r>
            <a:endParaRPr lang="en-US" sz="1200" dirty="0">
              <a:latin typeface="Arial" panose="020B0604020202020204" pitchFamily="34" charset="0"/>
              <a:cs typeface="Arial" panose="020B0604020202020204" pitchFamily="34" charset="0"/>
            </a:endParaRPr>
          </a:p>
        </p:txBody>
      </p:sp>
      <p:sp>
        <p:nvSpPr>
          <p:cNvPr id="12" name="Text 10"/>
          <p:cNvSpPr txBox="1"/>
          <p:nvPr/>
        </p:nvSpPr>
        <p:spPr>
          <a:xfrm>
            <a:off x="640080" y="4828032"/>
            <a:ext cx="2194560" cy="685800"/>
          </a:xfrm>
          <a:prstGeom prst="rect">
            <a:avLst/>
          </a:prstGeom>
          <a:noFill/>
          <a:ln/>
        </p:spPr>
        <p:txBody>
          <a:bodyPr wrap="square" lIns="0" tIns="0" rIns="0" bIns="0" rtlCol="0" anchor="t"/>
          <a:lstStyle/>
          <a:p>
            <a:pPr marL="0" indent="0">
              <a:buNone/>
            </a:pPr>
            <a:r>
              <a:rPr lang="en-US" sz="1400" b="1" dirty="0">
                <a:solidFill>
                  <a:srgbClr val="028090"/>
                </a:solidFill>
                <a:latin typeface="Arial" panose="020B0604020202020204" pitchFamily="34" charset="0"/>
                <a:ea typeface="Calibri" pitchFamily="34" charset="-122"/>
                <a:cs typeface="Arial" panose="020B0604020202020204" pitchFamily="34" charset="0"/>
              </a:rPr>
              <a:t>Skills directory</a:t>
            </a:r>
            <a:endParaRPr lang="en-US" sz="1400" dirty="0">
              <a:latin typeface="Arial" panose="020B0604020202020204" pitchFamily="34" charset="0"/>
              <a:cs typeface="Arial" panose="020B0604020202020204" pitchFamily="34" charset="0"/>
            </a:endParaRPr>
          </a:p>
        </p:txBody>
      </p:sp>
      <p:sp>
        <p:nvSpPr>
          <p:cNvPr id="13" name="Text 11"/>
          <p:cNvSpPr txBox="1"/>
          <p:nvPr/>
        </p:nvSpPr>
        <p:spPr>
          <a:xfrm>
            <a:off x="2971800" y="4828032"/>
            <a:ext cx="8549640" cy="685800"/>
          </a:xfrm>
          <a:prstGeom prst="rect">
            <a:avLst/>
          </a:prstGeom>
          <a:noFill/>
          <a:ln/>
        </p:spPr>
        <p:txBody>
          <a:bodyPr wrap="square" lIns="0" tIns="0" rIns="0" bIns="0" rtlCol="0" anchor="t"/>
          <a:lstStyle/>
          <a:p>
            <a:pPr marL="0" indent="0">
              <a:buNone/>
            </a:pPr>
            <a:r>
              <a:rPr lang="en-US" sz="1200" dirty="0">
                <a:solidFill>
                  <a:srgbClr val="1C1C1C"/>
                </a:solidFill>
                <a:latin typeface="Arial" panose="020B0604020202020204" pitchFamily="34" charset="0"/>
                <a:ea typeface="Calibri" pitchFamily="34" charset="-122"/>
                <a:cs typeface="Arial" panose="020B0604020202020204" pitchFamily="34" charset="0"/>
              </a:rPr>
              <a:t>A searchable list of classmates by skill — coding, design, writing, presenting — for finding the right person for a group project.</a:t>
            </a:r>
            <a:endParaRPr lang="en-US" sz="1200" dirty="0">
              <a:latin typeface="Arial" panose="020B0604020202020204" pitchFamily="34" charset="0"/>
              <a:cs typeface="Arial" panose="020B0604020202020204" pitchFamily="34" charset="0"/>
            </a:endParaRPr>
          </a:p>
        </p:txBody>
      </p:sp>
      <p:sp>
        <p:nvSpPr>
          <p:cNvPr id="14" name="Text 12"/>
          <p:cNvSpPr txBox="1"/>
          <p:nvPr/>
        </p:nvSpPr>
        <p:spPr>
          <a:xfrm>
            <a:off x="640080" y="5623560"/>
            <a:ext cx="2194560" cy="685800"/>
          </a:xfrm>
          <a:prstGeom prst="rect">
            <a:avLst/>
          </a:prstGeom>
          <a:noFill/>
          <a:ln/>
        </p:spPr>
        <p:txBody>
          <a:bodyPr wrap="square" lIns="0" tIns="0" rIns="0" bIns="0" rtlCol="0" anchor="t"/>
          <a:lstStyle/>
          <a:p>
            <a:pPr marL="0" indent="0">
              <a:buNone/>
            </a:pPr>
            <a:r>
              <a:rPr lang="en-US" sz="1400" b="1" dirty="0">
                <a:solidFill>
                  <a:srgbClr val="028090"/>
                </a:solidFill>
                <a:latin typeface="Arial" panose="020B0604020202020204" pitchFamily="34" charset="0"/>
                <a:ea typeface="Calibri" pitchFamily="34" charset="-122"/>
                <a:cs typeface="Arial" panose="020B0604020202020204" pitchFamily="34" charset="0"/>
              </a:rPr>
              <a:t>Courses</a:t>
            </a:r>
            <a:endParaRPr lang="en-US" sz="1400" dirty="0">
              <a:latin typeface="Arial" panose="020B0604020202020204" pitchFamily="34" charset="0"/>
              <a:cs typeface="Arial" panose="020B0604020202020204" pitchFamily="34" charset="0"/>
            </a:endParaRPr>
          </a:p>
        </p:txBody>
      </p:sp>
      <p:sp>
        <p:nvSpPr>
          <p:cNvPr id="15" name="Text 13"/>
          <p:cNvSpPr txBox="1"/>
          <p:nvPr/>
        </p:nvSpPr>
        <p:spPr>
          <a:xfrm>
            <a:off x="2971800" y="5623560"/>
            <a:ext cx="8549640" cy="685800"/>
          </a:xfrm>
          <a:prstGeom prst="rect">
            <a:avLst/>
          </a:prstGeom>
          <a:noFill/>
          <a:ln/>
        </p:spPr>
        <p:txBody>
          <a:bodyPr wrap="square" lIns="0" tIns="0" rIns="0" bIns="0" rtlCol="0" anchor="t"/>
          <a:lstStyle/>
          <a:p>
            <a:pPr marL="0" indent="0">
              <a:buNone/>
            </a:pPr>
            <a:r>
              <a:rPr lang="en-US" sz="1200" dirty="0">
                <a:solidFill>
                  <a:srgbClr val="1C1C1C"/>
                </a:solidFill>
                <a:latin typeface="Arial" panose="020B0604020202020204" pitchFamily="34" charset="0"/>
                <a:ea typeface="Calibri" pitchFamily="34" charset="-122"/>
                <a:cs typeface="Arial" panose="020B0604020202020204" pitchFamily="34" charset="0"/>
              </a:rPr>
              <a:t>Every tool on the platform is tied back to your faculty and course, so content stays relevant instead of generic.</a:t>
            </a:r>
            <a:endParaRPr lang="en-US" sz="1200" dirty="0">
              <a:latin typeface="Arial" panose="020B0604020202020204" pitchFamily="34" charset="0"/>
              <a:cs typeface="Arial" panose="020B0604020202020204" pitchFamily="34" charset="0"/>
            </a:endParaRPr>
          </a:p>
        </p:txBody>
      </p:sp>
      <p:sp>
        <p:nvSpPr>
          <p:cNvPr id="16" name="Text 14"/>
          <p:cNvSpPr txBox="1"/>
          <p:nvPr/>
        </p:nvSpPr>
        <p:spPr>
          <a:xfrm>
            <a:off x="457200" y="6537960"/>
            <a:ext cx="2743200" cy="274320"/>
          </a:xfrm>
          <a:prstGeom prst="rect">
            <a:avLst/>
          </a:prstGeom>
          <a:noFill/>
          <a:ln/>
        </p:spPr>
        <p:txBody>
          <a:bodyPr wrap="square" lIns="0" tIns="0" rIns="0" bIns="0" rtlCol="0" anchor="ctr"/>
          <a:lstStyle/>
          <a:p>
            <a:pPr marL="0" indent="0">
              <a:buNone/>
            </a:pPr>
            <a:r>
              <a:rPr lang="en-US" sz="1000" dirty="0">
                <a:solidFill>
                  <a:srgbClr val="5B6B6D"/>
                </a:solidFill>
                <a:latin typeface="Calibri" pitchFamily="34" charset="0"/>
                <a:ea typeface="Calibri" pitchFamily="34" charset="-122"/>
                <a:cs typeface="Calibri" pitchFamily="34" charset="-120"/>
              </a:rPr>
              <a:t>CampusLink</a:t>
            </a:r>
            <a:endParaRPr lang="en-US" sz="1000" dirty="0"/>
          </a:p>
        </p:txBody>
      </p:sp>
      <p:sp>
        <p:nvSpPr>
          <p:cNvPr id="17" name="Text 15"/>
          <p:cNvSpPr txBox="1"/>
          <p:nvPr/>
        </p:nvSpPr>
        <p:spPr>
          <a:xfrm>
            <a:off x="11521440" y="6537960"/>
            <a:ext cx="457200" cy="274320"/>
          </a:xfrm>
          <a:prstGeom prst="rect">
            <a:avLst/>
          </a:prstGeom>
          <a:noFill/>
          <a:ln/>
        </p:spPr>
        <p:txBody>
          <a:bodyPr wrap="square" lIns="0" tIns="0" rIns="0" bIns="0" rtlCol="0" anchor="ctr"/>
          <a:lstStyle/>
          <a:p>
            <a:pPr marL="0" indent="0" algn="r">
              <a:buNone/>
            </a:pPr>
            <a:r>
              <a:rPr lang="en-US" sz="1000" dirty="0">
                <a:solidFill>
                  <a:srgbClr val="5B6B6D"/>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marL="0" indent="0">
              <a:buNone/>
            </a:pPr>
            <a:r>
              <a:rPr lang="en-US" sz="3000" b="1" dirty="0">
                <a:solidFill>
                  <a:srgbClr val="1C1C1C"/>
                </a:solidFill>
                <a:latin typeface="Arial" panose="020B0604020202020204" pitchFamily="34" charset="0"/>
                <a:ea typeface="Cambria" pitchFamily="34" charset="-122"/>
                <a:cs typeface="Arial" panose="020B0604020202020204" pitchFamily="34" charset="0"/>
              </a:rPr>
              <a:t>Also Inside the Platform</a:t>
            </a:r>
            <a:endParaRPr lang="en-US" sz="3000" dirty="0">
              <a:latin typeface="Arial" panose="020B0604020202020204" pitchFamily="34" charset="0"/>
              <a:cs typeface="Arial" panose="020B0604020202020204" pitchFamily="34" charset="0"/>
            </a:endParaRPr>
          </a:p>
        </p:txBody>
      </p:sp>
      <p:sp>
        <p:nvSpPr>
          <p:cNvPr id="3" name="Text 1"/>
          <p:cNvSpPr txBox="1"/>
          <p:nvPr/>
        </p:nvSpPr>
        <p:spPr>
          <a:xfrm>
            <a:off x="640080" y="1033272"/>
            <a:ext cx="10881360" cy="457200"/>
          </a:xfrm>
          <a:prstGeom prst="rect">
            <a:avLst/>
          </a:prstGeom>
          <a:noFill/>
          <a:ln/>
        </p:spPr>
        <p:txBody>
          <a:bodyPr wrap="square" lIns="0" tIns="0" rIns="0" bIns="0" rtlCol="0" anchor="ctr"/>
          <a:lstStyle/>
          <a:p>
            <a:pPr marL="0" indent="0">
              <a:buNone/>
            </a:pPr>
            <a:r>
              <a:rPr lang="en-US" sz="1350" dirty="0">
                <a:solidFill>
                  <a:srgbClr val="5B6B6D"/>
                </a:solidFill>
                <a:latin typeface="Arial" panose="020B0604020202020204" pitchFamily="34" charset="0"/>
                <a:ea typeface="Calibri" pitchFamily="34" charset="-122"/>
                <a:cs typeface="Arial" panose="020B0604020202020204" pitchFamily="34" charset="0"/>
              </a:rPr>
              <a:t>A few more tools that round out day-to-day use, beyond the core five</a:t>
            </a:r>
            <a:endParaRPr lang="en-US" sz="1350" dirty="0">
              <a:latin typeface="Arial" panose="020B0604020202020204" pitchFamily="34" charset="0"/>
              <a:cs typeface="Arial" panose="020B0604020202020204" pitchFamily="34" charset="0"/>
            </a:endParaRPr>
          </a:p>
        </p:txBody>
      </p:sp>
      <p:sp>
        <p:nvSpPr>
          <p:cNvPr id="4" name="Text 2"/>
          <p:cNvSpPr txBox="1"/>
          <p:nvPr/>
        </p:nvSpPr>
        <p:spPr>
          <a:xfrm>
            <a:off x="640080" y="1645920"/>
            <a:ext cx="2194560" cy="685800"/>
          </a:xfrm>
          <a:prstGeom prst="rect">
            <a:avLst/>
          </a:prstGeom>
          <a:noFill/>
          <a:ln/>
        </p:spPr>
        <p:txBody>
          <a:bodyPr wrap="square" lIns="0" tIns="0" rIns="0" bIns="0" rtlCol="0" anchor="t"/>
          <a:lstStyle/>
          <a:p>
            <a:pPr marL="0" indent="0">
              <a:buNone/>
            </a:pPr>
            <a:r>
              <a:rPr lang="en-US" sz="1400" b="1" dirty="0">
                <a:solidFill>
                  <a:srgbClr val="028090"/>
                </a:solidFill>
                <a:latin typeface="Arial" panose="020B0604020202020204" pitchFamily="34" charset="0"/>
                <a:ea typeface="Calibri" pitchFamily="34" charset="-122"/>
                <a:cs typeface="Arial" panose="020B0604020202020204" pitchFamily="34" charset="0"/>
              </a:rPr>
              <a:t>Social Feed</a:t>
            </a:r>
            <a:endParaRPr lang="en-US" sz="1400" dirty="0">
              <a:latin typeface="Arial" panose="020B0604020202020204" pitchFamily="34" charset="0"/>
              <a:cs typeface="Arial" panose="020B0604020202020204" pitchFamily="34" charset="0"/>
            </a:endParaRPr>
          </a:p>
        </p:txBody>
      </p:sp>
      <p:sp>
        <p:nvSpPr>
          <p:cNvPr id="5" name="Text 3"/>
          <p:cNvSpPr txBox="1"/>
          <p:nvPr/>
        </p:nvSpPr>
        <p:spPr>
          <a:xfrm>
            <a:off x="2971800" y="1645920"/>
            <a:ext cx="8549640" cy="685800"/>
          </a:xfrm>
          <a:prstGeom prst="rect">
            <a:avLst/>
          </a:prstGeom>
          <a:noFill/>
          <a:ln/>
        </p:spPr>
        <p:txBody>
          <a:bodyPr wrap="square" lIns="0" tIns="0" rIns="0" bIns="0" rtlCol="0" anchor="t"/>
          <a:lstStyle/>
          <a:p>
            <a:pPr marL="0" indent="0">
              <a:buNone/>
            </a:pPr>
            <a:r>
              <a:rPr lang="en-US" sz="1200" dirty="0">
                <a:solidFill>
                  <a:srgbClr val="1C1C1C"/>
                </a:solidFill>
                <a:latin typeface="Arial" panose="020B0604020202020204" pitchFamily="34" charset="0"/>
                <a:ea typeface="Calibri" pitchFamily="34" charset="-122"/>
                <a:cs typeface="Arial" panose="020B0604020202020204" pitchFamily="34" charset="0"/>
              </a:rPr>
              <a:t>A LinkedIn-style feed for text and photo updates, with likes and comments, so campus life is not confined to group chats and documents.</a:t>
            </a:r>
            <a:endParaRPr lang="en-US" sz="1200" dirty="0">
              <a:latin typeface="Arial" panose="020B0604020202020204" pitchFamily="34" charset="0"/>
              <a:cs typeface="Arial" panose="020B0604020202020204" pitchFamily="34" charset="0"/>
            </a:endParaRPr>
          </a:p>
        </p:txBody>
      </p:sp>
      <p:sp>
        <p:nvSpPr>
          <p:cNvPr id="6" name="Text 4"/>
          <p:cNvSpPr txBox="1"/>
          <p:nvPr/>
        </p:nvSpPr>
        <p:spPr>
          <a:xfrm>
            <a:off x="640080" y="2441448"/>
            <a:ext cx="2194560" cy="685800"/>
          </a:xfrm>
          <a:prstGeom prst="rect">
            <a:avLst/>
          </a:prstGeom>
          <a:noFill/>
          <a:ln/>
        </p:spPr>
        <p:txBody>
          <a:bodyPr wrap="square" lIns="0" tIns="0" rIns="0" bIns="0" rtlCol="0" anchor="t"/>
          <a:lstStyle/>
          <a:p>
            <a:pPr marL="0" indent="0">
              <a:buNone/>
            </a:pPr>
            <a:r>
              <a:rPr lang="en-US" sz="1400" b="1" dirty="0">
                <a:solidFill>
                  <a:srgbClr val="028090"/>
                </a:solidFill>
                <a:latin typeface="Arial" panose="020B0604020202020204" pitchFamily="34" charset="0"/>
                <a:ea typeface="Calibri" pitchFamily="34" charset="-122"/>
                <a:cs typeface="Arial" panose="020B0604020202020204" pitchFamily="34" charset="0"/>
              </a:rPr>
              <a:t>Student Profiles</a:t>
            </a:r>
            <a:endParaRPr lang="en-US" sz="1400" dirty="0">
              <a:latin typeface="Arial" panose="020B0604020202020204" pitchFamily="34" charset="0"/>
              <a:cs typeface="Arial" panose="020B0604020202020204" pitchFamily="34" charset="0"/>
            </a:endParaRPr>
          </a:p>
        </p:txBody>
      </p:sp>
      <p:sp>
        <p:nvSpPr>
          <p:cNvPr id="7" name="Text 5"/>
          <p:cNvSpPr txBox="1"/>
          <p:nvPr/>
        </p:nvSpPr>
        <p:spPr>
          <a:xfrm>
            <a:off x="2971800" y="2441448"/>
            <a:ext cx="8549640" cy="685800"/>
          </a:xfrm>
          <a:prstGeom prst="rect">
            <a:avLst/>
          </a:prstGeom>
          <a:noFill/>
          <a:ln/>
        </p:spPr>
        <p:txBody>
          <a:bodyPr wrap="square" lIns="0" tIns="0" rIns="0" bIns="0" rtlCol="0" anchor="t"/>
          <a:lstStyle/>
          <a:p>
            <a:pPr marL="0" indent="0">
              <a:buNone/>
            </a:pPr>
            <a:r>
              <a:rPr lang="en-US" sz="1200" dirty="0">
                <a:solidFill>
                  <a:srgbClr val="1C1C1C"/>
                </a:solidFill>
                <a:latin typeface="Arial" panose="020B0604020202020204" pitchFamily="34" charset="0"/>
                <a:ea typeface="Calibri" pitchFamily="34" charset="-122"/>
                <a:cs typeface="Arial" panose="020B0604020202020204" pitchFamily="34" charset="0"/>
              </a:rPr>
              <a:t>Every account has a public profile with course, year, bio, modules, and interests, so classmates know who they are working with.</a:t>
            </a:r>
            <a:endParaRPr lang="en-US" sz="1200" dirty="0">
              <a:latin typeface="Arial" panose="020B0604020202020204" pitchFamily="34" charset="0"/>
              <a:cs typeface="Arial" panose="020B0604020202020204" pitchFamily="34" charset="0"/>
            </a:endParaRPr>
          </a:p>
        </p:txBody>
      </p:sp>
      <p:sp>
        <p:nvSpPr>
          <p:cNvPr id="8" name="Text 6"/>
          <p:cNvSpPr txBox="1"/>
          <p:nvPr/>
        </p:nvSpPr>
        <p:spPr>
          <a:xfrm>
            <a:off x="640080" y="3236976"/>
            <a:ext cx="2194560" cy="685800"/>
          </a:xfrm>
          <a:prstGeom prst="rect">
            <a:avLst/>
          </a:prstGeom>
          <a:noFill/>
          <a:ln/>
        </p:spPr>
        <p:txBody>
          <a:bodyPr wrap="square" lIns="0" tIns="0" rIns="0" bIns="0" rtlCol="0" anchor="t"/>
          <a:lstStyle/>
          <a:p>
            <a:pPr marL="0" indent="0">
              <a:buNone/>
            </a:pPr>
            <a:r>
              <a:rPr lang="en-US" sz="1400" b="1" dirty="0">
                <a:solidFill>
                  <a:srgbClr val="028090"/>
                </a:solidFill>
                <a:latin typeface="Arial" panose="020B0604020202020204" pitchFamily="34" charset="0"/>
                <a:ea typeface="Calibri" pitchFamily="34" charset="-122"/>
                <a:cs typeface="Arial" panose="020B0604020202020204" pitchFamily="34" charset="0"/>
              </a:rPr>
              <a:t>Group Chat</a:t>
            </a:r>
            <a:endParaRPr lang="en-US" sz="1400" dirty="0">
              <a:latin typeface="Arial" panose="020B0604020202020204" pitchFamily="34" charset="0"/>
              <a:cs typeface="Arial" panose="020B0604020202020204" pitchFamily="34" charset="0"/>
            </a:endParaRPr>
          </a:p>
        </p:txBody>
      </p:sp>
      <p:sp>
        <p:nvSpPr>
          <p:cNvPr id="9" name="Text 7"/>
          <p:cNvSpPr txBox="1"/>
          <p:nvPr/>
        </p:nvSpPr>
        <p:spPr>
          <a:xfrm>
            <a:off x="2971800" y="3236976"/>
            <a:ext cx="8549640" cy="685800"/>
          </a:xfrm>
          <a:prstGeom prst="rect">
            <a:avLst/>
          </a:prstGeom>
          <a:noFill/>
          <a:ln/>
        </p:spPr>
        <p:txBody>
          <a:bodyPr wrap="square" lIns="0" tIns="0" rIns="0" bIns="0" rtlCol="0" anchor="t"/>
          <a:lstStyle/>
          <a:p>
            <a:pPr marL="0" indent="0">
              <a:buNone/>
            </a:pPr>
            <a:r>
              <a:rPr lang="en-US" sz="1200" dirty="0">
                <a:solidFill>
                  <a:srgbClr val="1C1C1C"/>
                </a:solidFill>
                <a:latin typeface="Arial" panose="020B0604020202020204" pitchFamily="34" charset="0"/>
                <a:ea typeface="Calibri" pitchFamily="34" charset="-122"/>
                <a:cs typeface="Arial" panose="020B0604020202020204" pitchFamily="34" charset="0"/>
              </a:rPr>
              <a:t>Each group gets its own live chat room, separate from its announcement feed, for informal back-and-forth.</a:t>
            </a:r>
            <a:endParaRPr lang="en-US" sz="1200" dirty="0">
              <a:latin typeface="Arial" panose="020B0604020202020204" pitchFamily="34" charset="0"/>
              <a:cs typeface="Arial" panose="020B0604020202020204" pitchFamily="34" charset="0"/>
            </a:endParaRPr>
          </a:p>
        </p:txBody>
      </p:sp>
      <p:sp>
        <p:nvSpPr>
          <p:cNvPr id="10" name="Text 8"/>
          <p:cNvSpPr txBox="1"/>
          <p:nvPr/>
        </p:nvSpPr>
        <p:spPr>
          <a:xfrm>
            <a:off x="640080" y="4032504"/>
            <a:ext cx="2194560" cy="685800"/>
          </a:xfrm>
          <a:prstGeom prst="rect">
            <a:avLst/>
          </a:prstGeom>
          <a:noFill/>
          <a:ln/>
        </p:spPr>
        <p:txBody>
          <a:bodyPr wrap="square" lIns="0" tIns="0" rIns="0" bIns="0" rtlCol="0" anchor="t"/>
          <a:lstStyle/>
          <a:p>
            <a:pPr marL="0" indent="0">
              <a:buNone/>
            </a:pPr>
            <a:r>
              <a:rPr lang="en-US" sz="1400" b="1" dirty="0">
                <a:solidFill>
                  <a:srgbClr val="028090"/>
                </a:solidFill>
                <a:latin typeface="Arial" panose="020B0604020202020204" pitchFamily="34" charset="0"/>
                <a:ea typeface="Calibri" pitchFamily="34" charset="-122"/>
                <a:cs typeface="Arial" panose="020B0604020202020204" pitchFamily="34" charset="0"/>
              </a:rPr>
              <a:t>Post Reactions</a:t>
            </a:r>
            <a:endParaRPr lang="en-US" sz="1400" dirty="0">
              <a:latin typeface="Arial" panose="020B0604020202020204" pitchFamily="34" charset="0"/>
              <a:cs typeface="Arial" panose="020B0604020202020204" pitchFamily="34" charset="0"/>
            </a:endParaRPr>
          </a:p>
        </p:txBody>
      </p:sp>
      <p:sp>
        <p:nvSpPr>
          <p:cNvPr id="11" name="Text 9"/>
          <p:cNvSpPr txBox="1"/>
          <p:nvPr/>
        </p:nvSpPr>
        <p:spPr>
          <a:xfrm>
            <a:off x="2971800" y="4032504"/>
            <a:ext cx="8549640" cy="685800"/>
          </a:xfrm>
          <a:prstGeom prst="rect">
            <a:avLst/>
          </a:prstGeom>
          <a:noFill/>
          <a:ln/>
        </p:spPr>
        <p:txBody>
          <a:bodyPr wrap="square" lIns="0" tIns="0" rIns="0" bIns="0" rtlCol="0" anchor="t"/>
          <a:lstStyle/>
          <a:p>
            <a:pPr marL="0" indent="0">
              <a:buNone/>
            </a:pPr>
            <a:r>
              <a:rPr lang="en-US" sz="1200" dirty="0">
                <a:solidFill>
                  <a:srgbClr val="1C1C1C"/>
                </a:solidFill>
                <a:latin typeface="Arial" panose="020B0604020202020204" pitchFamily="34" charset="0"/>
                <a:ea typeface="Calibri" pitchFamily="34" charset="-122"/>
                <a:cs typeface="Arial" panose="020B0604020202020204" pitchFamily="34" charset="0"/>
              </a:rPr>
              <a:t>Quick emoji reactions on feed and group posts, for a lightweight response without writing a full comment.</a:t>
            </a:r>
            <a:endParaRPr lang="en-US" sz="1200" dirty="0">
              <a:latin typeface="Arial" panose="020B0604020202020204" pitchFamily="34" charset="0"/>
              <a:cs typeface="Arial" panose="020B0604020202020204" pitchFamily="34" charset="0"/>
            </a:endParaRPr>
          </a:p>
        </p:txBody>
      </p:sp>
      <p:sp>
        <p:nvSpPr>
          <p:cNvPr id="12" name="Text 10"/>
          <p:cNvSpPr txBox="1"/>
          <p:nvPr/>
        </p:nvSpPr>
        <p:spPr>
          <a:xfrm>
            <a:off x="640080" y="4828032"/>
            <a:ext cx="2194560" cy="685800"/>
          </a:xfrm>
          <a:prstGeom prst="rect">
            <a:avLst/>
          </a:prstGeom>
          <a:noFill/>
          <a:ln/>
        </p:spPr>
        <p:txBody>
          <a:bodyPr wrap="square" lIns="0" tIns="0" rIns="0" bIns="0" rtlCol="0" anchor="t"/>
          <a:lstStyle/>
          <a:p>
            <a:pPr marL="0" indent="0">
              <a:buNone/>
            </a:pPr>
            <a:r>
              <a:rPr lang="en-US" sz="1400" b="1" dirty="0">
                <a:solidFill>
                  <a:srgbClr val="028090"/>
                </a:solidFill>
                <a:latin typeface="Arial" panose="020B0604020202020204" pitchFamily="34" charset="0"/>
                <a:ea typeface="Calibri" pitchFamily="34" charset="-122"/>
                <a:cs typeface="Arial" panose="020B0604020202020204" pitchFamily="34" charset="0"/>
              </a:rPr>
              <a:t>Search &amp; Discovery</a:t>
            </a:r>
            <a:endParaRPr lang="en-US" sz="1400" dirty="0">
              <a:latin typeface="Arial" panose="020B0604020202020204" pitchFamily="34" charset="0"/>
              <a:cs typeface="Arial" panose="020B0604020202020204" pitchFamily="34" charset="0"/>
            </a:endParaRPr>
          </a:p>
        </p:txBody>
      </p:sp>
      <p:sp>
        <p:nvSpPr>
          <p:cNvPr id="13" name="Text 11"/>
          <p:cNvSpPr txBox="1"/>
          <p:nvPr/>
        </p:nvSpPr>
        <p:spPr>
          <a:xfrm>
            <a:off x="2971800" y="4828032"/>
            <a:ext cx="8549640" cy="685800"/>
          </a:xfrm>
          <a:prstGeom prst="rect">
            <a:avLst/>
          </a:prstGeom>
          <a:noFill/>
          <a:ln/>
        </p:spPr>
        <p:txBody>
          <a:bodyPr wrap="square" lIns="0" tIns="0" rIns="0" bIns="0" rtlCol="0" anchor="t"/>
          <a:lstStyle/>
          <a:p>
            <a:pPr marL="0" indent="0">
              <a:buNone/>
            </a:pPr>
            <a:r>
              <a:rPr lang="en-US" sz="1200" dirty="0">
                <a:solidFill>
                  <a:srgbClr val="1C1C1C"/>
                </a:solidFill>
                <a:latin typeface="Arial" panose="020B0604020202020204" pitchFamily="34" charset="0"/>
                <a:ea typeface="Calibri" pitchFamily="34" charset="-122"/>
                <a:cs typeface="Arial" panose="020B0604020202020204" pitchFamily="34" charset="0"/>
              </a:rPr>
              <a:t>Find classmates by name, course, or university, and discover groups relevant to your own studies.</a:t>
            </a:r>
            <a:endParaRPr lang="en-US" sz="1200" dirty="0">
              <a:latin typeface="Arial" panose="020B0604020202020204" pitchFamily="34" charset="0"/>
              <a:cs typeface="Arial" panose="020B0604020202020204" pitchFamily="34" charset="0"/>
            </a:endParaRPr>
          </a:p>
        </p:txBody>
      </p:sp>
      <p:sp>
        <p:nvSpPr>
          <p:cNvPr id="14" name="Text 12"/>
          <p:cNvSpPr txBox="1"/>
          <p:nvPr/>
        </p:nvSpPr>
        <p:spPr>
          <a:xfrm>
            <a:off x="640080" y="5623560"/>
            <a:ext cx="2194560" cy="685800"/>
          </a:xfrm>
          <a:prstGeom prst="rect">
            <a:avLst/>
          </a:prstGeom>
          <a:noFill/>
          <a:ln/>
        </p:spPr>
        <p:txBody>
          <a:bodyPr wrap="square" lIns="0" tIns="0" rIns="0" bIns="0" rtlCol="0" anchor="t"/>
          <a:lstStyle/>
          <a:p>
            <a:pPr marL="0" indent="0">
              <a:buNone/>
            </a:pPr>
            <a:r>
              <a:rPr lang="en-US" sz="1400" b="1" dirty="0">
                <a:solidFill>
                  <a:srgbClr val="028090"/>
                </a:solidFill>
                <a:latin typeface="Arial" panose="020B0604020202020204" pitchFamily="34" charset="0"/>
                <a:ea typeface="Calibri" pitchFamily="34" charset="-122"/>
                <a:cs typeface="Arial" panose="020B0604020202020204" pitchFamily="34" charset="0"/>
              </a:rPr>
              <a:t>Posting Permissions</a:t>
            </a:r>
            <a:endParaRPr lang="en-US" sz="1400" dirty="0">
              <a:latin typeface="Arial" panose="020B0604020202020204" pitchFamily="34" charset="0"/>
              <a:cs typeface="Arial" panose="020B0604020202020204" pitchFamily="34" charset="0"/>
            </a:endParaRPr>
          </a:p>
        </p:txBody>
      </p:sp>
      <p:sp>
        <p:nvSpPr>
          <p:cNvPr id="15" name="Text 13"/>
          <p:cNvSpPr txBox="1"/>
          <p:nvPr/>
        </p:nvSpPr>
        <p:spPr>
          <a:xfrm>
            <a:off x="2971800" y="5623560"/>
            <a:ext cx="8549640" cy="685800"/>
          </a:xfrm>
          <a:prstGeom prst="rect">
            <a:avLst/>
          </a:prstGeom>
          <a:noFill/>
          <a:ln/>
        </p:spPr>
        <p:txBody>
          <a:bodyPr wrap="square" lIns="0" tIns="0" rIns="0" bIns="0" rtlCol="0" anchor="t"/>
          <a:lstStyle/>
          <a:p>
            <a:pPr marL="0" indent="0">
              <a:buNone/>
            </a:pPr>
            <a:r>
              <a:rPr lang="en-US" sz="1200" dirty="0">
                <a:solidFill>
                  <a:srgbClr val="1C1C1C"/>
                </a:solidFill>
                <a:latin typeface="Arial" panose="020B0604020202020204" pitchFamily="34" charset="0"/>
                <a:ea typeface="Calibri" pitchFamily="34" charset="-122"/>
                <a:cs typeface="Arial" panose="020B0604020202020204" pitchFamily="34" charset="0"/>
              </a:rPr>
              <a:t>Admins choose open or admin-only posting per group, and can grant individual members the right to post.</a:t>
            </a:r>
            <a:endParaRPr lang="en-US" sz="1200" dirty="0">
              <a:latin typeface="Arial" panose="020B0604020202020204" pitchFamily="34" charset="0"/>
              <a:cs typeface="Arial" panose="020B0604020202020204" pitchFamily="34" charset="0"/>
            </a:endParaRPr>
          </a:p>
        </p:txBody>
      </p:sp>
      <p:sp>
        <p:nvSpPr>
          <p:cNvPr id="16" name="Text 14"/>
          <p:cNvSpPr txBox="1"/>
          <p:nvPr/>
        </p:nvSpPr>
        <p:spPr>
          <a:xfrm>
            <a:off x="457200" y="6537960"/>
            <a:ext cx="2743200" cy="274320"/>
          </a:xfrm>
          <a:prstGeom prst="rect">
            <a:avLst/>
          </a:prstGeom>
          <a:noFill/>
          <a:ln/>
        </p:spPr>
        <p:txBody>
          <a:bodyPr wrap="square" lIns="0" tIns="0" rIns="0" bIns="0" rtlCol="0" anchor="ctr"/>
          <a:lstStyle/>
          <a:p>
            <a:pPr marL="0" indent="0">
              <a:buNone/>
            </a:pPr>
            <a:r>
              <a:rPr lang="en-US" sz="1000" dirty="0">
                <a:solidFill>
                  <a:srgbClr val="5B6B6D"/>
                </a:solidFill>
                <a:latin typeface="Calibri" pitchFamily="34" charset="0"/>
                <a:ea typeface="Calibri" pitchFamily="34" charset="-122"/>
                <a:cs typeface="Calibri" pitchFamily="34" charset="-120"/>
              </a:rPr>
              <a:t>CampusLink</a:t>
            </a:r>
            <a:endParaRPr lang="en-US" sz="1000" dirty="0"/>
          </a:p>
        </p:txBody>
      </p:sp>
      <p:sp>
        <p:nvSpPr>
          <p:cNvPr id="17" name="Text 15"/>
          <p:cNvSpPr txBox="1"/>
          <p:nvPr/>
        </p:nvSpPr>
        <p:spPr>
          <a:xfrm>
            <a:off x="11521440" y="6537960"/>
            <a:ext cx="457200" cy="274320"/>
          </a:xfrm>
          <a:prstGeom prst="rect">
            <a:avLst/>
          </a:prstGeom>
          <a:noFill/>
          <a:ln/>
        </p:spPr>
        <p:txBody>
          <a:bodyPr wrap="square" lIns="0" tIns="0" rIns="0" bIns="0" rtlCol="0" anchor="ctr"/>
          <a:lstStyle/>
          <a:p>
            <a:pPr marL="0" indent="0" algn="r">
              <a:buNone/>
            </a:pPr>
            <a:r>
              <a:rPr lang="en-US" sz="1000" dirty="0">
                <a:solidFill>
                  <a:srgbClr val="5B6B6D"/>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marL="0" indent="0">
              <a:buNone/>
            </a:pPr>
            <a:r>
              <a:rPr lang="en-US" sz="3000" b="1" dirty="0">
                <a:solidFill>
                  <a:srgbClr val="1C1C1C"/>
                </a:solidFill>
                <a:latin typeface="Arial" panose="020B0604020202020204" pitchFamily="34" charset="0"/>
                <a:ea typeface="Cambria" pitchFamily="34" charset="-122"/>
                <a:cs typeface="Arial" panose="020B0604020202020204" pitchFamily="34" charset="0"/>
              </a:rPr>
              <a:t>What makes it different</a:t>
            </a:r>
            <a:endParaRPr lang="en-US" sz="3000" dirty="0">
              <a:latin typeface="Arial" panose="020B0604020202020204" pitchFamily="34" charset="0"/>
              <a:cs typeface="Arial" panose="020B0604020202020204" pitchFamily="34" charset="0"/>
            </a:endParaRPr>
          </a:p>
        </p:txBody>
      </p:sp>
      <p:sp>
        <p:nvSpPr>
          <p:cNvPr id="4" name="Text 2"/>
          <p:cNvSpPr txBox="1"/>
          <p:nvPr/>
        </p:nvSpPr>
        <p:spPr>
          <a:xfrm>
            <a:off x="640080" y="1280117"/>
            <a:ext cx="4709160" cy="365760"/>
          </a:xfrm>
          <a:prstGeom prst="rect">
            <a:avLst/>
          </a:prstGeom>
          <a:noFill/>
          <a:ln/>
        </p:spPr>
        <p:txBody>
          <a:bodyPr wrap="square" lIns="0" tIns="0" rIns="0" bIns="0" rtlCol="0" anchor="ctr"/>
          <a:lstStyle/>
          <a:p>
            <a:pPr marL="0" indent="0">
              <a:buNone/>
            </a:pPr>
            <a:r>
              <a:rPr lang="en-US" sz="1550" b="1" dirty="0">
                <a:solidFill>
                  <a:srgbClr val="028090"/>
                </a:solidFill>
                <a:latin typeface="Arial" panose="020B0604020202020204" pitchFamily="34" charset="0"/>
                <a:ea typeface="Calibri" pitchFamily="34" charset="-122"/>
                <a:cs typeface="Arial" panose="020B0604020202020204" pitchFamily="34" charset="0"/>
              </a:rPr>
              <a:t>Verification first</a:t>
            </a:r>
            <a:endParaRPr lang="en-US" sz="1550" dirty="0">
              <a:latin typeface="Arial" panose="020B0604020202020204" pitchFamily="34" charset="0"/>
              <a:cs typeface="Arial" panose="020B0604020202020204" pitchFamily="34" charset="0"/>
            </a:endParaRPr>
          </a:p>
        </p:txBody>
      </p:sp>
      <p:sp>
        <p:nvSpPr>
          <p:cNvPr id="5" name="Text 3"/>
          <p:cNvSpPr txBox="1"/>
          <p:nvPr/>
        </p:nvSpPr>
        <p:spPr>
          <a:xfrm>
            <a:off x="640080" y="1862335"/>
            <a:ext cx="4709160" cy="777240"/>
          </a:xfrm>
          <a:prstGeom prst="rect">
            <a:avLst/>
          </a:prstGeom>
          <a:noFill/>
          <a:ln/>
        </p:spPr>
        <p:txBody>
          <a:bodyPr wrap="square" lIns="0" tIns="0" rIns="0" bIns="0" rtlCol="0" anchor="ctr"/>
          <a:lstStyle/>
          <a:p>
            <a:pPr marL="0" indent="0">
              <a:buNone/>
            </a:pPr>
            <a:r>
              <a:rPr lang="en-US" sz="1400" dirty="0">
                <a:solidFill>
                  <a:srgbClr val="1C1C1C"/>
                </a:solidFill>
                <a:latin typeface="Arial" panose="020B0604020202020204" pitchFamily="34" charset="0"/>
                <a:ea typeface="Calibri" pitchFamily="34" charset="-122"/>
                <a:cs typeface="Arial" panose="020B0604020202020204" pitchFamily="34" charset="0"/>
              </a:rPr>
              <a:t>You can't sign up with a Gmail account. Identity is tied to a university email or student ID, and that trust layer is the foundation everything else is built on — it's the reason a marketplace listing or a group chat can actually be trusted.</a:t>
            </a:r>
            <a:endParaRPr lang="en-US" sz="1400" dirty="0">
              <a:latin typeface="Arial" panose="020B0604020202020204" pitchFamily="34" charset="0"/>
              <a:cs typeface="Arial" panose="020B0604020202020204" pitchFamily="34" charset="0"/>
            </a:endParaRPr>
          </a:p>
        </p:txBody>
      </p:sp>
      <p:sp>
        <p:nvSpPr>
          <p:cNvPr id="7" name="Text 5"/>
          <p:cNvSpPr txBox="1"/>
          <p:nvPr/>
        </p:nvSpPr>
        <p:spPr>
          <a:xfrm>
            <a:off x="640080" y="4629905"/>
            <a:ext cx="4709160" cy="365760"/>
          </a:xfrm>
          <a:prstGeom prst="rect">
            <a:avLst/>
          </a:prstGeom>
          <a:noFill/>
          <a:ln/>
        </p:spPr>
        <p:txBody>
          <a:bodyPr wrap="square" lIns="0" tIns="0" rIns="0" bIns="0" rtlCol="0" anchor="ctr"/>
          <a:lstStyle/>
          <a:p>
            <a:pPr marL="0" indent="0">
              <a:buNone/>
            </a:pPr>
            <a:r>
              <a:rPr lang="en-US" sz="1550" b="1" dirty="0">
                <a:solidFill>
                  <a:srgbClr val="028090"/>
                </a:solidFill>
                <a:latin typeface="Arial" panose="020B0604020202020204" pitchFamily="34" charset="0"/>
                <a:ea typeface="Calibri" pitchFamily="34" charset="-122"/>
                <a:cs typeface="Arial" panose="020B0604020202020204" pitchFamily="34" charset="0"/>
              </a:rPr>
              <a:t>Built for Students</a:t>
            </a:r>
            <a:endParaRPr lang="en-US" sz="1550" dirty="0">
              <a:latin typeface="Arial" panose="020B0604020202020204" pitchFamily="34" charset="0"/>
              <a:cs typeface="Arial" panose="020B0604020202020204" pitchFamily="34" charset="0"/>
            </a:endParaRPr>
          </a:p>
        </p:txBody>
      </p:sp>
      <p:sp>
        <p:nvSpPr>
          <p:cNvPr id="8" name="Text 6"/>
          <p:cNvSpPr txBox="1"/>
          <p:nvPr/>
        </p:nvSpPr>
        <p:spPr>
          <a:xfrm>
            <a:off x="640080" y="5176367"/>
            <a:ext cx="4709160" cy="476868"/>
          </a:xfrm>
          <a:prstGeom prst="rect">
            <a:avLst/>
          </a:prstGeom>
          <a:noFill/>
          <a:ln/>
        </p:spPr>
        <p:txBody>
          <a:bodyPr wrap="square" lIns="0" tIns="0" rIns="0" bIns="0" rtlCol="0" anchor="ctr"/>
          <a:lstStyle/>
          <a:p>
            <a:pPr marL="0" indent="0">
              <a:buNone/>
            </a:pPr>
            <a:r>
              <a:rPr lang="en-US" sz="1400" dirty="0" err="1">
                <a:solidFill>
                  <a:schemeClr val="bg1"/>
                </a:solidFill>
                <a:latin typeface="Arial" panose="020B0604020202020204" pitchFamily="34" charset="0"/>
                <a:cs typeface="Arial" panose="020B0604020202020204" pitchFamily="34" charset="0"/>
              </a:rPr>
              <a:t>Campuslink</a:t>
            </a:r>
            <a:r>
              <a:rPr lang="en-US" sz="1400" dirty="0">
                <a:solidFill>
                  <a:schemeClr val="bg1"/>
                </a:solidFill>
                <a:latin typeface="Arial" panose="020B0604020202020204" pitchFamily="34" charset="0"/>
                <a:cs typeface="Arial" panose="020B0604020202020204" pitchFamily="34" charset="0"/>
              </a:rPr>
              <a:t> is built for students and dedicated for students alone to come together in one platform and share what they have </a:t>
            </a:r>
          </a:p>
        </p:txBody>
      </p:sp>
      <p:sp>
        <p:nvSpPr>
          <p:cNvPr id="10" name="Text 8"/>
          <p:cNvSpPr txBox="1"/>
          <p:nvPr/>
        </p:nvSpPr>
        <p:spPr>
          <a:xfrm>
            <a:off x="640080" y="2914543"/>
            <a:ext cx="4709160" cy="365760"/>
          </a:xfrm>
          <a:prstGeom prst="rect">
            <a:avLst/>
          </a:prstGeom>
          <a:noFill/>
          <a:ln/>
        </p:spPr>
        <p:txBody>
          <a:bodyPr wrap="square" lIns="0" tIns="0" rIns="0" bIns="0" rtlCol="0" anchor="ctr"/>
          <a:lstStyle/>
          <a:p>
            <a:pPr marL="0" indent="0">
              <a:buNone/>
            </a:pPr>
            <a:r>
              <a:rPr lang="en-US" sz="1550" b="1" dirty="0">
                <a:solidFill>
                  <a:srgbClr val="028090"/>
                </a:solidFill>
                <a:latin typeface="Arial" panose="020B0604020202020204" pitchFamily="34" charset="0"/>
                <a:ea typeface="Calibri" pitchFamily="34" charset="-122"/>
                <a:cs typeface="Arial" panose="020B0604020202020204" pitchFamily="34" charset="0"/>
              </a:rPr>
              <a:t>Free forever</a:t>
            </a:r>
            <a:endParaRPr lang="en-US" sz="1550" dirty="0">
              <a:latin typeface="Arial" panose="020B0604020202020204" pitchFamily="34" charset="0"/>
              <a:cs typeface="Arial" panose="020B0604020202020204" pitchFamily="34" charset="0"/>
            </a:endParaRPr>
          </a:p>
        </p:txBody>
      </p:sp>
      <p:sp>
        <p:nvSpPr>
          <p:cNvPr id="11" name="Text 9"/>
          <p:cNvSpPr txBox="1"/>
          <p:nvPr/>
        </p:nvSpPr>
        <p:spPr>
          <a:xfrm>
            <a:off x="640080" y="3535687"/>
            <a:ext cx="4709160" cy="728501"/>
          </a:xfrm>
          <a:prstGeom prst="rect">
            <a:avLst/>
          </a:prstGeom>
          <a:noFill/>
          <a:ln/>
        </p:spPr>
        <p:txBody>
          <a:bodyPr wrap="square" lIns="0" tIns="0" rIns="0" bIns="0" rtlCol="0" anchor="ctr"/>
          <a:lstStyle/>
          <a:p>
            <a:pPr marL="0" indent="0">
              <a:buNone/>
            </a:pPr>
            <a:r>
              <a:rPr lang="en-US" sz="1400" dirty="0">
                <a:solidFill>
                  <a:srgbClr val="1C1C1C"/>
                </a:solidFill>
                <a:latin typeface="Arial" panose="020B0604020202020204" pitchFamily="34" charset="0"/>
                <a:ea typeface="Calibri" pitchFamily="34" charset="-122"/>
                <a:cs typeface="Arial" panose="020B0604020202020204" pitchFamily="34" charset="0"/>
              </a:rPr>
              <a:t>Not a freemium trap with a paywall waiting behind the free tier. No ads, no selling of student data, no hidden costs. It's built for students, not for investors chasing a monetization plan.</a:t>
            </a:r>
            <a:endParaRPr lang="en-US" sz="1400" dirty="0">
              <a:latin typeface="Arial" panose="020B0604020202020204" pitchFamily="34" charset="0"/>
              <a:cs typeface="Arial" panose="020B0604020202020204" pitchFamily="34" charset="0"/>
            </a:endParaRPr>
          </a:p>
        </p:txBody>
      </p:sp>
      <p:sp>
        <p:nvSpPr>
          <p:cNvPr id="13" name="Text 11"/>
          <p:cNvSpPr txBox="1"/>
          <p:nvPr/>
        </p:nvSpPr>
        <p:spPr>
          <a:xfrm>
            <a:off x="6210157" y="1273808"/>
            <a:ext cx="4709160" cy="365760"/>
          </a:xfrm>
          <a:prstGeom prst="rect">
            <a:avLst/>
          </a:prstGeom>
          <a:noFill/>
          <a:ln/>
        </p:spPr>
        <p:txBody>
          <a:bodyPr wrap="square" lIns="0" tIns="0" rIns="0" bIns="0" rtlCol="0" anchor="ctr"/>
          <a:lstStyle/>
          <a:p>
            <a:pPr marL="0" indent="0">
              <a:buNone/>
            </a:pPr>
            <a:r>
              <a:rPr lang="en-US" sz="1550" b="1" dirty="0">
                <a:solidFill>
                  <a:srgbClr val="028090"/>
                </a:solidFill>
                <a:latin typeface="Arial" panose="020B0604020202020204" pitchFamily="34" charset="0"/>
                <a:ea typeface="Calibri" pitchFamily="34" charset="-122"/>
                <a:cs typeface="Arial" panose="020B0604020202020204" pitchFamily="34" charset="0"/>
              </a:rPr>
              <a:t>One app, everything</a:t>
            </a:r>
            <a:endParaRPr lang="en-US" sz="1550" dirty="0">
              <a:latin typeface="Arial" panose="020B0604020202020204" pitchFamily="34" charset="0"/>
              <a:cs typeface="Arial" panose="020B0604020202020204" pitchFamily="34" charset="0"/>
            </a:endParaRPr>
          </a:p>
        </p:txBody>
      </p:sp>
      <p:sp>
        <p:nvSpPr>
          <p:cNvPr id="14" name="Text 12"/>
          <p:cNvSpPr txBox="1"/>
          <p:nvPr/>
        </p:nvSpPr>
        <p:spPr>
          <a:xfrm>
            <a:off x="6210157" y="1844046"/>
            <a:ext cx="4709160" cy="640081"/>
          </a:xfrm>
          <a:prstGeom prst="rect">
            <a:avLst/>
          </a:prstGeom>
          <a:noFill/>
          <a:ln/>
        </p:spPr>
        <p:txBody>
          <a:bodyPr wrap="square" lIns="0" tIns="0" rIns="0" bIns="0" rtlCol="0" anchor="ctr"/>
          <a:lstStyle/>
          <a:p>
            <a:pPr marL="0" indent="0">
              <a:buNone/>
            </a:pPr>
            <a:r>
              <a:rPr lang="en-US" sz="1400" dirty="0">
                <a:solidFill>
                  <a:srgbClr val="1C1C1C"/>
                </a:solidFill>
                <a:latin typeface="Arial" panose="020B0604020202020204" pitchFamily="34" charset="0"/>
                <a:ea typeface="Calibri" pitchFamily="34" charset="-122"/>
                <a:cs typeface="Arial" panose="020B0604020202020204" pitchFamily="34" charset="0"/>
              </a:rPr>
              <a:t>Chat, documents, groups, marketplace, skills, and courses in a single account, so a student never has to juggle five different apps just to get through a semester.</a:t>
            </a:r>
            <a:endParaRPr lang="en-US" sz="1400" dirty="0">
              <a:latin typeface="Arial" panose="020B0604020202020204" pitchFamily="34" charset="0"/>
              <a:cs typeface="Arial" panose="020B0604020202020204" pitchFamily="34" charset="0"/>
            </a:endParaRPr>
          </a:p>
        </p:txBody>
      </p:sp>
      <p:sp>
        <p:nvSpPr>
          <p:cNvPr id="15" name="Text 13"/>
          <p:cNvSpPr txBox="1"/>
          <p:nvPr/>
        </p:nvSpPr>
        <p:spPr>
          <a:xfrm>
            <a:off x="457200" y="6537960"/>
            <a:ext cx="2743200" cy="274320"/>
          </a:xfrm>
          <a:prstGeom prst="rect">
            <a:avLst/>
          </a:prstGeom>
          <a:noFill/>
          <a:ln/>
        </p:spPr>
        <p:txBody>
          <a:bodyPr wrap="square" lIns="0" tIns="0" rIns="0" bIns="0" rtlCol="0" anchor="ctr"/>
          <a:lstStyle/>
          <a:p>
            <a:pPr marL="0" indent="0">
              <a:buNone/>
            </a:pPr>
            <a:r>
              <a:rPr lang="en-US" sz="1000" dirty="0">
                <a:solidFill>
                  <a:srgbClr val="5B6B6D"/>
                </a:solidFill>
                <a:latin typeface="Calibri" pitchFamily="34" charset="0"/>
                <a:ea typeface="Calibri" pitchFamily="34" charset="-122"/>
                <a:cs typeface="Calibri" pitchFamily="34" charset="-120"/>
              </a:rPr>
              <a:t>CampusLink</a:t>
            </a:r>
            <a:endParaRPr lang="en-US" sz="1000" dirty="0"/>
          </a:p>
        </p:txBody>
      </p:sp>
      <p:sp>
        <p:nvSpPr>
          <p:cNvPr id="16" name="Text 14"/>
          <p:cNvSpPr txBox="1"/>
          <p:nvPr/>
        </p:nvSpPr>
        <p:spPr>
          <a:xfrm>
            <a:off x="11521440" y="6537960"/>
            <a:ext cx="457200" cy="274320"/>
          </a:xfrm>
          <a:prstGeom prst="rect">
            <a:avLst/>
          </a:prstGeom>
          <a:noFill/>
          <a:ln/>
        </p:spPr>
        <p:txBody>
          <a:bodyPr wrap="square" lIns="0" tIns="0" rIns="0" bIns="0" rtlCol="0" anchor="ctr"/>
          <a:lstStyle/>
          <a:p>
            <a:pPr marL="0" indent="0" algn="r">
              <a:buNone/>
            </a:pPr>
            <a:r>
              <a:rPr lang="en-US" sz="1000" dirty="0">
                <a:solidFill>
                  <a:srgbClr val="5B6B6D"/>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marL="0" indent="0">
              <a:buNone/>
            </a:pPr>
            <a:r>
              <a:rPr lang="en-US" sz="3000" b="1" dirty="0">
                <a:solidFill>
                  <a:srgbClr val="1C1C1C"/>
                </a:solidFill>
                <a:latin typeface="Arial" panose="020B0604020202020204" pitchFamily="34" charset="0"/>
                <a:ea typeface="Cambria" pitchFamily="34" charset="-122"/>
                <a:cs typeface="Arial" panose="020B0604020202020204" pitchFamily="34" charset="0"/>
              </a:rPr>
              <a:t>The Digital Campus ID</a:t>
            </a:r>
            <a:endParaRPr lang="en-US" sz="3000" dirty="0">
              <a:latin typeface="Arial" panose="020B0604020202020204" pitchFamily="34" charset="0"/>
              <a:cs typeface="Arial" panose="020B0604020202020204" pitchFamily="34" charset="0"/>
            </a:endParaRPr>
          </a:p>
        </p:txBody>
      </p:sp>
      <p:sp>
        <p:nvSpPr>
          <p:cNvPr id="3" name="Text 1"/>
          <p:cNvSpPr txBox="1"/>
          <p:nvPr/>
        </p:nvSpPr>
        <p:spPr>
          <a:xfrm>
            <a:off x="640080" y="1033272"/>
            <a:ext cx="10881360" cy="457200"/>
          </a:xfrm>
          <a:prstGeom prst="rect">
            <a:avLst/>
          </a:prstGeom>
          <a:noFill/>
          <a:ln/>
        </p:spPr>
        <p:txBody>
          <a:bodyPr wrap="square" lIns="0" tIns="0" rIns="0" bIns="0" rtlCol="0" anchor="ctr"/>
          <a:lstStyle/>
          <a:p>
            <a:pPr marL="0" indent="0">
              <a:buNone/>
            </a:pPr>
            <a:r>
              <a:rPr lang="en-US" sz="1350" dirty="0">
                <a:solidFill>
                  <a:srgbClr val="5B6B6D"/>
                </a:solidFill>
                <a:latin typeface="Arial" panose="020B0604020202020204" pitchFamily="34" charset="0"/>
                <a:ea typeface="Calibri" pitchFamily="34" charset="-122"/>
                <a:cs typeface="Arial" panose="020B0604020202020204" pitchFamily="34" charset="0"/>
              </a:rPr>
              <a:t>One identity that follows a student through their entire university life</a:t>
            </a:r>
            <a:endParaRPr lang="en-US" sz="1350" dirty="0">
              <a:latin typeface="Arial" panose="020B0604020202020204" pitchFamily="34" charset="0"/>
              <a:cs typeface="Arial" panose="020B0604020202020204" pitchFamily="34" charset="0"/>
            </a:endParaRPr>
          </a:p>
        </p:txBody>
      </p:sp>
      <p:sp>
        <p:nvSpPr>
          <p:cNvPr id="4" name="Text 2"/>
          <p:cNvSpPr txBox="1"/>
          <p:nvPr/>
        </p:nvSpPr>
        <p:spPr>
          <a:xfrm>
            <a:off x="640080" y="1600200"/>
            <a:ext cx="10881360" cy="822960"/>
          </a:xfrm>
          <a:prstGeom prst="rect">
            <a:avLst/>
          </a:prstGeom>
          <a:noFill/>
          <a:ln/>
        </p:spPr>
        <p:txBody>
          <a:bodyPr wrap="square" lIns="0" tIns="0" rIns="0" bIns="0" rtlCol="0" anchor="ctr"/>
          <a:lstStyle/>
          <a:p>
            <a:pPr marL="0" indent="0">
              <a:buNone/>
            </a:pPr>
            <a:r>
              <a:rPr lang="en-US" sz="1350" dirty="0">
                <a:solidFill>
                  <a:srgbClr val="1C1C1C"/>
                </a:solidFill>
                <a:latin typeface="Arial" panose="020B0604020202020204" pitchFamily="34" charset="0"/>
                <a:ea typeface="Calibri" pitchFamily="34" charset="-122"/>
                <a:cs typeface="Arial" panose="020B0604020202020204" pitchFamily="34" charset="0"/>
              </a:rPr>
              <a:t>Every verified account is anchored to a Digital Campus ID — the same idea as the physical student card, but as the connective layer for everything a student does on the platform. It's the piece that ties a student's identity, faculty, and course to every action they take.</a:t>
            </a:r>
            <a:endParaRPr lang="en-US" sz="1350" dirty="0">
              <a:latin typeface="Arial" panose="020B0604020202020204" pitchFamily="34" charset="0"/>
              <a:cs typeface="Arial" panose="020B0604020202020204" pitchFamily="34" charset="0"/>
            </a:endParaRPr>
          </a:p>
        </p:txBody>
      </p:sp>
      <p:sp>
        <p:nvSpPr>
          <p:cNvPr id="5" name="Text 3"/>
          <p:cNvSpPr txBox="1"/>
          <p:nvPr/>
        </p:nvSpPr>
        <p:spPr>
          <a:xfrm>
            <a:off x="640080" y="2606040"/>
            <a:ext cx="365760" cy="777240"/>
          </a:xfrm>
          <a:prstGeom prst="rect">
            <a:avLst/>
          </a:prstGeom>
          <a:noFill/>
          <a:ln/>
        </p:spPr>
        <p:txBody>
          <a:bodyPr wrap="square" lIns="0" tIns="0" rIns="0" bIns="0" rtlCol="0" anchor="ctr"/>
          <a:lstStyle/>
          <a:p>
            <a:pPr marL="0" indent="0">
              <a:buNone/>
            </a:pPr>
            <a:r>
              <a:rPr lang="en-US" sz="2000" b="1" dirty="0">
                <a:solidFill>
                  <a:srgbClr val="028090"/>
                </a:solidFill>
                <a:latin typeface="Arial" panose="020B0604020202020204" pitchFamily="34" charset="0"/>
                <a:ea typeface="Cambria" pitchFamily="34" charset="-122"/>
                <a:cs typeface="Arial" panose="020B0604020202020204" pitchFamily="34" charset="0"/>
              </a:rPr>
              <a:t>1</a:t>
            </a:r>
            <a:endParaRPr lang="en-US" sz="2000" dirty="0">
              <a:latin typeface="Arial" panose="020B0604020202020204" pitchFamily="34" charset="0"/>
              <a:cs typeface="Arial" panose="020B0604020202020204" pitchFamily="34" charset="0"/>
            </a:endParaRPr>
          </a:p>
        </p:txBody>
      </p:sp>
      <p:sp>
        <p:nvSpPr>
          <p:cNvPr id="6" name="Text 4"/>
          <p:cNvSpPr txBox="1"/>
          <p:nvPr/>
        </p:nvSpPr>
        <p:spPr>
          <a:xfrm>
            <a:off x="1143000" y="2606040"/>
            <a:ext cx="9966960" cy="320040"/>
          </a:xfrm>
          <a:prstGeom prst="rect">
            <a:avLst/>
          </a:prstGeom>
          <a:noFill/>
          <a:ln/>
        </p:spPr>
        <p:txBody>
          <a:bodyPr wrap="square" lIns="0" tIns="0" rIns="0" bIns="0" rtlCol="0" anchor="ctr"/>
          <a:lstStyle/>
          <a:p>
            <a:pPr marL="0" indent="0">
              <a:buNone/>
            </a:pPr>
            <a:r>
              <a:rPr lang="en-US" sz="1300" b="1" dirty="0">
                <a:solidFill>
                  <a:srgbClr val="1C1C1C"/>
                </a:solidFill>
                <a:latin typeface="Arial" panose="020B0604020202020204" pitchFamily="34" charset="0"/>
                <a:ea typeface="Calibri" pitchFamily="34" charset="-122"/>
                <a:cs typeface="Arial" panose="020B0604020202020204" pitchFamily="34" charset="0"/>
              </a:rPr>
              <a:t>Connects you to your faculty and classmates</a:t>
            </a:r>
            <a:endParaRPr lang="en-US" sz="1300" dirty="0">
              <a:latin typeface="Arial" panose="020B0604020202020204" pitchFamily="34" charset="0"/>
              <a:cs typeface="Arial" panose="020B0604020202020204" pitchFamily="34" charset="0"/>
            </a:endParaRPr>
          </a:p>
        </p:txBody>
      </p:sp>
      <p:sp>
        <p:nvSpPr>
          <p:cNvPr id="7" name="Text 5"/>
          <p:cNvSpPr txBox="1"/>
          <p:nvPr/>
        </p:nvSpPr>
        <p:spPr>
          <a:xfrm>
            <a:off x="1143000" y="2935224"/>
            <a:ext cx="9966960" cy="365760"/>
          </a:xfrm>
          <a:prstGeom prst="rect">
            <a:avLst/>
          </a:prstGeom>
          <a:noFill/>
          <a:ln/>
        </p:spPr>
        <p:txBody>
          <a:bodyPr wrap="square" lIns="0" tIns="0" rIns="0" bIns="0" rtlCol="0" anchor="ctr"/>
          <a:lstStyle/>
          <a:p>
            <a:pPr marL="0" indent="0">
              <a:buNone/>
            </a:pPr>
            <a:r>
              <a:rPr lang="en-US" sz="1150" dirty="0">
                <a:solidFill>
                  <a:srgbClr val="5B6B6D"/>
                </a:solidFill>
                <a:latin typeface="Arial" panose="020B0604020202020204" pitchFamily="34" charset="0"/>
                <a:ea typeface="Calibri" pitchFamily="34" charset="-122"/>
                <a:cs typeface="Arial" panose="020B0604020202020204" pitchFamily="34" charset="0"/>
              </a:rPr>
              <a:t>Your ID places you in the right course groups and class discussions automatically, without manual sign-up.</a:t>
            </a:r>
            <a:endParaRPr lang="en-US" sz="1150" dirty="0">
              <a:latin typeface="Arial" panose="020B0604020202020204" pitchFamily="34" charset="0"/>
              <a:cs typeface="Arial" panose="020B0604020202020204" pitchFamily="34" charset="0"/>
            </a:endParaRPr>
          </a:p>
        </p:txBody>
      </p:sp>
      <p:sp>
        <p:nvSpPr>
          <p:cNvPr id="8" name="Text 6"/>
          <p:cNvSpPr txBox="1"/>
          <p:nvPr/>
        </p:nvSpPr>
        <p:spPr>
          <a:xfrm>
            <a:off x="640080" y="3520440"/>
            <a:ext cx="365760" cy="777240"/>
          </a:xfrm>
          <a:prstGeom prst="rect">
            <a:avLst/>
          </a:prstGeom>
          <a:noFill/>
          <a:ln/>
        </p:spPr>
        <p:txBody>
          <a:bodyPr wrap="square" lIns="0" tIns="0" rIns="0" bIns="0" rtlCol="0" anchor="ctr"/>
          <a:lstStyle/>
          <a:p>
            <a:pPr marL="0" indent="0">
              <a:buNone/>
            </a:pPr>
            <a:r>
              <a:rPr lang="en-US" sz="2000" b="1" dirty="0">
                <a:solidFill>
                  <a:srgbClr val="028090"/>
                </a:solidFill>
                <a:latin typeface="Arial" panose="020B0604020202020204" pitchFamily="34" charset="0"/>
                <a:ea typeface="Cambria" pitchFamily="34" charset="-122"/>
                <a:cs typeface="Arial" panose="020B0604020202020204" pitchFamily="34" charset="0"/>
              </a:rPr>
              <a:t>2</a:t>
            </a:r>
            <a:endParaRPr lang="en-US" sz="2000" dirty="0">
              <a:latin typeface="Arial" panose="020B0604020202020204" pitchFamily="34" charset="0"/>
              <a:cs typeface="Arial" panose="020B0604020202020204" pitchFamily="34" charset="0"/>
            </a:endParaRPr>
          </a:p>
        </p:txBody>
      </p:sp>
      <p:sp>
        <p:nvSpPr>
          <p:cNvPr id="9" name="Text 7"/>
          <p:cNvSpPr txBox="1"/>
          <p:nvPr/>
        </p:nvSpPr>
        <p:spPr>
          <a:xfrm>
            <a:off x="1143000" y="3520440"/>
            <a:ext cx="9966960" cy="320040"/>
          </a:xfrm>
          <a:prstGeom prst="rect">
            <a:avLst/>
          </a:prstGeom>
          <a:noFill/>
          <a:ln/>
        </p:spPr>
        <p:txBody>
          <a:bodyPr wrap="square" lIns="0" tIns="0" rIns="0" bIns="0" rtlCol="0" anchor="ctr"/>
          <a:lstStyle/>
          <a:p>
            <a:pPr marL="0" indent="0">
              <a:buNone/>
            </a:pPr>
            <a:r>
              <a:rPr lang="en-US" sz="1300" b="1" dirty="0">
                <a:solidFill>
                  <a:srgbClr val="1C1C1C"/>
                </a:solidFill>
                <a:latin typeface="Arial" panose="020B0604020202020204" pitchFamily="34" charset="0"/>
                <a:ea typeface="Calibri" pitchFamily="34" charset="-122"/>
                <a:cs typeface="Arial" panose="020B0604020202020204" pitchFamily="34" charset="0"/>
              </a:rPr>
              <a:t>Unlocks documents, groups, and courses for your school</a:t>
            </a:r>
            <a:endParaRPr lang="en-US" sz="1300" dirty="0">
              <a:latin typeface="Arial" panose="020B0604020202020204" pitchFamily="34" charset="0"/>
              <a:cs typeface="Arial" panose="020B0604020202020204" pitchFamily="34" charset="0"/>
            </a:endParaRPr>
          </a:p>
        </p:txBody>
      </p:sp>
      <p:sp>
        <p:nvSpPr>
          <p:cNvPr id="10" name="Text 8"/>
          <p:cNvSpPr txBox="1"/>
          <p:nvPr/>
        </p:nvSpPr>
        <p:spPr>
          <a:xfrm>
            <a:off x="1143000" y="3849624"/>
            <a:ext cx="9966960" cy="365760"/>
          </a:xfrm>
          <a:prstGeom prst="rect">
            <a:avLst/>
          </a:prstGeom>
          <a:noFill/>
          <a:ln/>
        </p:spPr>
        <p:txBody>
          <a:bodyPr wrap="square" lIns="0" tIns="0" rIns="0" bIns="0" rtlCol="0" anchor="ctr"/>
          <a:lstStyle/>
          <a:p>
            <a:pPr marL="0" indent="0">
              <a:buNone/>
            </a:pPr>
            <a:r>
              <a:rPr lang="en-US" sz="1150" dirty="0">
                <a:solidFill>
                  <a:srgbClr val="5B6B6D"/>
                </a:solidFill>
                <a:latin typeface="Arial" panose="020B0604020202020204" pitchFamily="34" charset="0"/>
                <a:ea typeface="Calibri" pitchFamily="34" charset="-122"/>
                <a:cs typeface="Arial" panose="020B0604020202020204" pitchFamily="34" charset="0"/>
              </a:rPr>
              <a:t>Content is scoped to your own institution by default, so what you see is relevant to you, not the whole platform.</a:t>
            </a:r>
            <a:endParaRPr lang="en-US" sz="1150" dirty="0">
              <a:latin typeface="Arial" panose="020B0604020202020204" pitchFamily="34" charset="0"/>
              <a:cs typeface="Arial" panose="020B0604020202020204" pitchFamily="34" charset="0"/>
            </a:endParaRPr>
          </a:p>
        </p:txBody>
      </p:sp>
      <p:sp>
        <p:nvSpPr>
          <p:cNvPr id="11" name="Text 9"/>
          <p:cNvSpPr txBox="1"/>
          <p:nvPr/>
        </p:nvSpPr>
        <p:spPr>
          <a:xfrm>
            <a:off x="640080" y="4434840"/>
            <a:ext cx="365760" cy="777240"/>
          </a:xfrm>
          <a:prstGeom prst="rect">
            <a:avLst/>
          </a:prstGeom>
          <a:noFill/>
          <a:ln/>
        </p:spPr>
        <p:txBody>
          <a:bodyPr wrap="square" lIns="0" tIns="0" rIns="0" bIns="0" rtlCol="0" anchor="ctr"/>
          <a:lstStyle/>
          <a:p>
            <a:pPr marL="0" indent="0">
              <a:buNone/>
            </a:pPr>
            <a:r>
              <a:rPr lang="en-US" sz="2000" b="1" dirty="0">
                <a:solidFill>
                  <a:srgbClr val="028090"/>
                </a:solidFill>
                <a:latin typeface="Arial" panose="020B0604020202020204" pitchFamily="34" charset="0"/>
                <a:ea typeface="Cambria" pitchFamily="34" charset="-122"/>
                <a:cs typeface="Arial" panose="020B0604020202020204" pitchFamily="34" charset="0"/>
              </a:rPr>
              <a:t>3</a:t>
            </a:r>
            <a:endParaRPr lang="en-US" sz="2000" dirty="0">
              <a:latin typeface="Arial" panose="020B0604020202020204" pitchFamily="34" charset="0"/>
              <a:cs typeface="Arial" panose="020B0604020202020204" pitchFamily="34" charset="0"/>
            </a:endParaRPr>
          </a:p>
        </p:txBody>
      </p:sp>
      <p:sp>
        <p:nvSpPr>
          <p:cNvPr id="12" name="Text 10"/>
          <p:cNvSpPr txBox="1"/>
          <p:nvPr/>
        </p:nvSpPr>
        <p:spPr>
          <a:xfrm>
            <a:off x="1143000" y="4434840"/>
            <a:ext cx="9966960" cy="320040"/>
          </a:xfrm>
          <a:prstGeom prst="rect">
            <a:avLst/>
          </a:prstGeom>
          <a:noFill/>
          <a:ln/>
        </p:spPr>
        <p:txBody>
          <a:bodyPr wrap="square" lIns="0" tIns="0" rIns="0" bIns="0" rtlCol="0" anchor="ctr"/>
          <a:lstStyle/>
          <a:p>
            <a:pPr marL="0" indent="0">
              <a:buNone/>
            </a:pPr>
            <a:r>
              <a:rPr lang="en-US" sz="1300" b="1" dirty="0">
                <a:solidFill>
                  <a:srgbClr val="1C1C1C"/>
                </a:solidFill>
                <a:latin typeface="Arial" panose="020B0604020202020204" pitchFamily="34" charset="0"/>
                <a:ea typeface="Calibri" pitchFamily="34" charset="-122"/>
                <a:cs typeface="Arial" panose="020B0604020202020204" pitchFamily="34" charset="0"/>
              </a:rPr>
              <a:t>Verifies every marketplace transaction</a:t>
            </a:r>
            <a:endParaRPr lang="en-US" sz="1300" dirty="0">
              <a:latin typeface="Arial" panose="020B0604020202020204" pitchFamily="34" charset="0"/>
              <a:cs typeface="Arial" panose="020B0604020202020204" pitchFamily="34" charset="0"/>
            </a:endParaRPr>
          </a:p>
        </p:txBody>
      </p:sp>
      <p:sp>
        <p:nvSpPr>
          <p:cNvPr id="13" name="Text 11"/>
          <p:cNvSpPr txBox="1"/>
          <p:nvPr/>
        </p:nvSpPr>
        <p:spPr>
          <a:xfrm>
            <a:off x="1143000" y="4764024"/>
            <a:ext cx="9966960" cy="365760"/>
          </a:xfrm>
          <a:prstGeom prst="rect">
            <a:avLst/>
          </a:prstGeom>
          <a:noFill/>
          <a:ln/>
        </p:spPr>
        <p:txBody>
          <a:bodyPr wrap="square" lIns="0" tIns="0" rIns="0" bIns="0" rtlCol="0" anchor="ctr"/>
          <a:lstStyle/>
          <a:p>
            <a:pPr marL="0" indent="0">
              <a:buNone/>
            </a:pPr>
            <a:r>
              <a:rPr lang="en-US" sz="1150" dirty="0">
                <a:solidFill>
                  <a:srgbClr val="5B6B6D"/>
                </a:solidFill>
                <a:latin typeface="Arial" panose="020B0604020202020204" pitchFamily="34" charset="0"/>
                <a:ea typeface="Calibri" pitchFamily="34" charset="-122"/>
                <a:cs typeface="Arial" panose="020B0604020202020204" pitchFamily="34" charset="0"/>
              </a:rPr>
              <a:t>Both sides of a textbook sale are confirmed students, which is the trust WhatsApp and Facebook groups can't offer.</a:t>
            </a:r>
            <a:endParaRPr lang="en-US" sz="1150" dirty="0">
              <a:latin typeface="Arial" panose="020B0604020202020204" pitchFamily="34" charset="0"/>
              <a:cs typeface="Arial" panose="020B0604020202020204" pitchFamily="34" charset="0"/>
            </a:endParaRPr>
          </a:p>
        </p:txBody>
      </p:sp>
      <p:sp>
        <p:nvSpPr>
          <p:cNvPr id="14" name="Text 12"/>
          <p:cNvSpPr txBox="1"/>
          <p:nvPr/>
        </p:nvSpPr>
        <p:spPr>
          <a:xfrm>
            <a:off x="640080" y="5349240"/>
            <a:ext cx="365760" cy="777240"/>
          </a:xfrm>
          <a:prstGeom prst="rect">
            <a:avLst/>
          </a:prstGeom>
          <a:noFill/>
          <a:ln/>
        </p:spPr>
        <p:txBody>
          <a:bodyPr wrap="square" lIns="0" tIns="0" rIns="0" bIns="0" rtlCol="0" anchor="ctr"/>
          <a:lstStyle/>
          <a:p>
            <a:pPr marL="0" indent="0">
              <a:buNone/>
            </a:pPr>
            <a:r>
              <a:rPr lang="en-US" sz="2000" b="1" dirty="0">
                <a:solidFill>
                  <a:srgbClr val="028090"/>
                </a:solidFill>
                <a:latin typeface="Arial" panose="020B0604020202020204" pitchFamily="34" charset="0"/>
                <a:ea typeface="Cambria" pitchFamily="34" charset="-122"/>
                <a:cs typeface="Arial" panose="020B0604020202020204" pitchFamily="34" charset="0"/>
              </a:rPr>
              <a:t>4</a:t>
            </a:r>
            <a:endParaRPr lang="en-US" sz="2000" dirty="0">
              <a:latin typeface="Arial" panose="020B0604020202020204" pitchFamily="34" charset="0"/>
              <a:cs typeface="Arial" panose="020B0604020202020204" pitchFamily="34" charset="0"/>
            </a:endParaRPr>
          </a:p>
        </p:txBody>
      </p:sp>
      <p:sp>
        <p:nvSpPr>
          <p:cNvPr id="15" name="Text 13"/>
          <p:cNvSpPr txBox="1"/>
          <p:nvPr/>
        </p:nvSpPr>
        <p:spPr>
          <a:xfrm>
            <a:off x="1143000" y="5349240"/>
            <a:ext cx="9966960" cy="320040"/>
          </a:xfrm>
          <a:prstGeom prst="rect">
            <a:avLst/>
          </a:prstGeom>
          <a:noFill/>
          <a:ln/>
        </p:spPr>
        <p:txBody>
          <a:bodyPr wrap="square" lIns="0" tIns="0" rIns="0" bIns="0" rtlCol="0" anchor="ctr"/>
          <a:lstStyle/>
          <a:p>
            <a:pPr marL="0" indent="0">
              <a:buNone/>
            </a:pPr>
            <a:r>
              <a:rPr lang="en-US" sz="1300" b="1" dirty="0">
                <a:solidFill>
                  <a:srgbClr val="1C1C1C"/>
                </a:solidFill>
                <a:latin typeface="Arial" panose="020B0604020202020204" pitchFamily="34" charset="0"/>
                <a:ea typeface="Calibri" pitchFamily="34" charset="-122"/>
                <a:cs typeface="Arial" panose="020B0604020202020204" pitchFamily="34" charset="0"/>
              </a:rPr>
              <a:t>Stays with you from orientation to graduation</a:t>
            </a:r>
            <a:endParaRPr lang="en-US" sz="1300" dirty="0">
              <a:latin typeface="Arial" panose="020B0604020202020204" pitchFamily="34" charset="0"/>
              <a:cs typeface="Arial" panose="020B0604020202020204" pitchFamily="34" charset="0"/>
            </a:endParaRPr>
          </a:p>
        </p:txBody>
      </p:sp>
      <p:sp>
        <p:nvSpPr>
          <p:cNvPr id="16" name="Text 14"/>
          <p:cNvSpPr txBox="1"/>
          <p:nvPr/>
        </p:nvSpPr>
        <p:spPr>
          <a:xfrm>
            <a:off x="1143000" y="5678424"/>
            <a:ext cx="9966960" cy="365760"/>
          </a:xfrm>
          <a:prstGeom prst="rect">
            <a:avLst/>
          </a:prstGeom>
          <a:noFill/>
          <a:ln/>
        </p:spPr>
        <p:txBody>
          <a:bodyPr wrap="square" lIns="0" tIns="0" rIns="0" bIns="0" rtlCol="0" anchor="ctr"/>
          <a:lstStyle/>
          <a:p>
            <a:pPr marL="0" indent="0">
              <a:buNone/>
            </a:pPr>
            <a:r>
              <a:rPr lang="en-US" sz="1150" dirty="0">
                <a:solidFill>
                  <a:srgbClr val="5B6B6D"/>
                </a:solidFill>
                <a:latin typeface="Arial" panose="020B0604020202020204" pitchFamily="34" charset="0"/>
                <a:ea typeface="Calibri" pitchFamily="34" charset="-122"/>
                <a:cs typeface="Arial" panose="020B0604020202020204" pitchFamily="34" charset="0"/>
              </a:rPr>
              <a:t>One identity for four years (or more) of university life, instead of rebuilding your network in a new app each semester.</a:t>
            </a:r>
            <a:endParaRPr lang="en-US" sz="1150" dirty="0">
              <a:latin typeface="Arial" panose="020B0604020202020204" pitchFamily="34" charset="0"/>
              <a:cs typeface="Arial" panose="020B0604020202020204" pitchFamily="34" charset="0"/>
            </a:endParaRPr>
          </a:p>
        </p:txBody>
      </p:sp>
      <p:sp>
        <p:nvSpPr>
          <p:cNvPr id="17" name="Text 15"/>
          <p:cNvSpPr txBox="1"/>
          <p:nvPr/>
        </p:nvSpPr>
        <p:spPr>
          <a:xfrm>
            <a:off x="457200" y="6537960"/>
            <a:ext cx="2743200" cy="274320"/>
          </a:xfrm>
          <a:prstGeom prst="rect">
            <a:avLst/>
          </a:prstGeom>
          <a:noFill/>
          <a:ln/>
        </p:spPr>
        <p:txBody>
          <a:bodyPr wrap="square" lIns="0" tIns="0" rIns="0" bIns="0" rtlCol="0" anchor="ctr"/>
          <a:lstStyle/>
          <a:p>
            <a:pPr marL="0" indent="0">
              <a:buNone/>
            </a:pPr>
            <a:r>
              <a:rPr lang="en-US" sz="1000" dirty="0">
                <a:solidFill>
                  <a:srgbClr val="5B6B6D"/>
                </a:solidFill>
                <a:latin typeface="Arial" panose="020B0604020202020204" pitchFamily="34" charset="0"/>
                <a:ea typeface="Calibri" pitchFamily="34" charset="-122"/>
                <a:cs typeface="Arial" panose="020B0604020202020204" pitchFamily="34" charset="0"/>
              </a:rPr>
              <a:t>CampusLink</a:t>
            </a:r>
            <a:endParaRPr lang="en-US" sz="1000" dirty="0">
              <a:latin typeface="Arial" panose="020B0604020202020204" pitchFamily="34" charset="0"/>
              <a:cs typeface="Arial" panose="020B0604020202020204" pitchFamily="34" charset="0"/>
            </a:endParaRPr>
          </a:p>
        </p:txBody>
      </p:sp>
      <p:sp>
        <p:nvSpPr>
          <p:cNvPr id="18" name="Text 16"/>
          <p:cNvSpPr txBox="1"/>
          <p:nvPr/>
        </p:nvSpPr>
        <p:spPr>
          <a:xfrm>
            <a:off x="11521440" y="6537960"/>
            <a:ext cx="457200" cy="274320"/>
          </a:xfrm>
          <a:prstGeom prst="rect">
            <a:avLst/>
          </a:prstGeom>
          <a:noFill/>
          <a:ln/>
        </p:spPr>
        <p:txBody>
          <a:bodyPr wrap="square" lIns="0" tIns="0" rIns="0" bIns="0" rtlCol="0" anchor="ctr"/>
          <a:lstStyle/>
          <a:p>
            <a:pPr marL="0" indent="0" algn="r">
              <a:buNone/>
            </a:pPr>
            <a:r>
              <a:rPr lang="en-US" sz="1000" dirty="0">
                <a:solidFill>
                  <a:srgbClr val="5B6B6D"/>
                </a:solidFill>
                <a:latin typeface="Arial" panose="020B0604020202020204" pitchFamily="34" charset="0"/>
                <a:ea typeface="Calibri" pitchFamily="34" charset="-122"/>
                <a:cs typeface="Arial" panose="020B0604020202020204" pitchFamily="34" charset="0"/>
              </a:rPr>
              <a:t>9</a:t>
            </a:r>
            <a:endParaRPr lang="en-US" sz="1000" dirty="0">
              <a:latin typeface="Arial" panose="020B060402020202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marL="0" indent="0">
              <a:buNone/>
            </a:pPr>
            <a:r>
              <a:rPr lang="en-US" sz="3000" b="1" dirty="0">
                <a:solidFill>
                  <a:srgbClr val="1C1C1C"/>
                </a:solidFill>
                <a:latin typeface="Arial" panose="020B0604020202020204" pitchFamily="34" charset="0"/>
                <a:ea typeface="Cambria" pitchFamily="34" charset="-122"/>
                <a:cs typeface="Arial" panose="020B0604020202020204" pitchFamily="34" charset="0"/>
              </a:rPr>
              <a:t>The bigger vision</a:t>
            </a:r>
            <a:endParaRPr lang="en-US" sz="3000" dirty="0">
              <a:latin typeface="Arial" panose="020B0604020202020204" pitchFamily="34" charset="0"/>
              <a:cs typeface="Arial" panose="020B0604020202020204" pitchFamily="34" charset="0"/>
            </a:endParaRPr>
          </a:p>
        </p:txBody>
      </p:sp>
      <p:sp>
        <p:nvSpPr>
          <p:cNvPr id="3" name="Text 1"/>
          <p:cNvSpPr txBox="1"/>
          <p:nvPr/>
        </p:nvSpPr>
        <p:spPr>
          <a:xfrm>
            <a:off x="640080" y="1033272"/>
            <a:ext cx="10881360" cy="457200"/>
          </a:xfrm>
          <a:prstGeom prst="rect">
            <a:avLst/>
          </a:prstGeom>
          <a:noFill/>
          <a:ln/>
        </p:spPr>
        <p:txBody>
          <a:bodyPr wrap="square" lIns="0" tIns="0" rIns="0" bIns="0" rtlCol="0" anchor="ctr"/>
          <a:lstStyle/>
          <a:p>
            <a:pPr marL="0" indent="0">
              <a:buNone/>
            </a:pPr>
            <a:r>
              <a:rPr lang="en-US" sz="1350" dirty="0">
                <a:solidFill>
                  <a:srgbClr val="5B6B6D"/>
                </a:solidFill>
                <a:latin typeface="Arial" panose="020B0604020202020204" pitchFamily="34" charset="0"/>
                <a:ea typeface="Calibri" pitchFamily="34" charset="-122"/>
                <a:cs typeface="Arial" panose="020B0604020202020204" pitchFamily="34" charset="0"/>
              </a:rPr>
              <a:t>Building the digital campus infrastructure Tanzanian universities don't have</a:t>
            </a:r>
            <a:endParaRPr lang="en-US" sz="1350" dirty="0">
              <a:latin typeface="Arial" panose="020B0604020202020204" pitchFamily="34" charset="0"/>
              <a:cs typeface="Arial" panose="020B0604020202020204" pitchFamily="34" charset="0"/>
            </a:endParaRPr>
          </a:p>
        </p:txBody>
      </p:sp>
      <p:sp>
        <p:nvSpPr>
          <p:cNvPr id="4" name="Text 2"/>
          <p:cNvSpPr txBox="1"/>
          <p:nvPr/>
        </p:nvSpPr>
        <p:spPr>
          <a:xfrm>
            <a:off x="640080" y="1600200"/>
            <a:ext cx="10881360" cy="777240"/>
          </a:xfrm>
          <a:prstGeom prst="rect">
            <a:avLst/>
          </a:prstGeom>
          <a:noFill/>
          <a:ln/>
        </p:spPr>
        <p:txBody>
          <a:bodyPr wrap="square" lIns="0" tIns="0" rIns="0" bIns="0" rtlCol="0" anchor="ctr"/>
          <a:lstStyle/>
          <a:p>
            <a:pPr marL="0" indent="0">
              <a:buNone/>
            </a:pPr>
            <a:r>
              <a:rPr lang="en-US" sz="1350" dirty="0">
                <a:solidFill>
                  <a:srgbClr val="1C1C1C"/>
                </a:solidFill>
                <a:latin typeface="Arial" panose="020B0604020202020204" pitchFamily="34" charset="0"/>
                <a:ea typeface="Calibri" pitchFamily="34" charset="-122"/>
                <a:cs typeface="Arial" panose="020B0604020202020204" pitchFamily="34" charset="0"/>
              </a:rPr>
              <a:t>CampusLink isn't just another app for students — it's meant to become the infrastructure a university's digital campus life runs on, the way a physical campus runs on its library, its ID office, and its notice boards. The rollout is deliberately staged:</a:t>
            </a:r>
            <a:endParaRPr lang="en-US" sz="1350" dirty="0">
              <a:latin typeface="Arial" panose="020B0604020202020204" pitchFamily="34" charset="0"/>
              <a:cs typeface="Arial" panose="020B0604020202020204" pitchFamily="34" charset="0"/>
            </a:endParaRPr>
          </a:p>
        </p:txBody>
      </p:sp>
      <p:sp>
        <p:nvSpPr>
          <p:cNvPr id="5" name="Text 3"/>
          <p:cNvSpPr txBox="1"/>
          <p:nvPr/>
        </p:nvSpPr>
        <p:spPr>
          <a:xfrm>
            <a:off x="640080" y="2606040"/>
            <a:ext cx="3108960" cy="822960"/>
          </a:xfrm>
          <a:prstGeom prst="rect">
            <a:avLst/>
          </a:prstGeom>
          <a:noFill/>
          <a:ln/>
        </p:spPr>
        <p:txBody>
          <a:bodyPr wrap="square" lIns="0" tIns="0" rIns="0" bIns="0" rtlCol="0" anchor="t"/>
          <a:lstStyle/>
          <a:p>
            <a:pPr marL="0" indent="0">
              <a:buNone/>
            </a:pPr>
            <a:r>
              <a:rPr lang="en-US" sz="1350" b="1" dirty="0">
                <a:solidFill>
                  <a:srgbClr val="028090"/>
                </a:solidFill>
                <a:latin typeface="Arial" panose="020B0604020202020204" pitchFamily="34" charset="0"/>
                <a:ea typeface="Calibri" pitchFamily="34" charset="-122"/>
                <a:cs typeface="Arial" panose="020B0604020202020204" pitchFamily="34" charset="0"/>
              </a:rPr>
              <a:t>1. Tanzania first</a:t>
            </a:r>
            <a:endParaRPr lang="en-US" sz="1350" dirty="0">
              <a:latin typeface="Arial" panose="020B0604020202020204" pitchFamily="34" charset="0"/>
              <a:cs typeface="Arial" panose="020B0604020202020204" pitchFamily="34" charset="0"/>
            </a:endParaRPr>
          </a:p>
        </p:txBody>
      </p:sp>
      <p:sp>
        <p:nvSpPr>
          <p:cNvPr id="6" name="Text 4"/>
          <p:cNvSpPr txBox="1"/>
          <p:nvPr/>
        </p:nvSpPr>
        <p:spPr>
          <a:xfrm>
            <a:off x="3886200" y="2606040"/>
            <a:ext cx="7635240" cy="822960"/>
          </a:xfrm>
          <a:prstGeom prst="rect">
            <a:avLst/>
          </a:prstGeom>
          <a:noFill/>
          <a:ln/>
        </p:spPr>
        <p:txBody>
          <a:bodyPr wrap="square" lIns="0" tIns="0" rIns="0" bIns="0" rtlCol="0" anchor="t"/>
          <a:lstStyle/>
          <a:p>
            <a:pPr marL="0" indent="0">
              <a:buNone/>
            </a:pPr>
            <a:r>
              <a:rPr lang="en-US" sz="1250" dirty="0">
                <a:solidFill>
                  <a:srgbClr val="1C1C1C"/>
                </a:solidFill>
                <a:latin typeface="Arial" panose="020B0604020202020204" pitchFamily="34" charset="0"/>
                <a:ea typeface="Calibri" pitchFamily="34" charset="-122"/>
                <a:cs typeface="Arial" panose="020B0604020202020204" pitchFamily="34" charset="0"/>
              </a:rPr>
              <a:t>Grow verified adoption at UDOM, UDSM, Mzumbe, IFM, MUHAS, DIT, and the 40+ other institutions already loaded into the system, building the trusted core before expanding outward.</a:t>
            </a:r>
            <a:endParaRPr lang="en-US" sz="1250" dirty="0">
              <a:latin typeface="Arial" panose="020B0604020202020204" pitchFamily="34" charset="0"/>
              <a:cs typeface="Arial" panose="020B0604020202020204" pitchFamily="34" charset="0"/>
            </a:endParaRPr>
          </a:p>
        </p:txBody>
      </p:sp>
      <p:sp>
        <p:nvSpPr>
          <p:cNvPr id="7" name="Text 5"/>
          <p:cNvSpPr txBox="1"/>
          <p:nvPr/>
        </p:nvSpPr>
        <p:spPr>
          <a:xfrm>
            <a:off x="640080" y="3520440"/>
            <a:ext cx="3108960" cy="822960"/>
          </a:xfrm>
          <a:prstGeom prst="rect">
            <a:avLst/>
          </a:prstGeom>
          <a:noFill/>
          <a:ln/>
        </p:spPr>
        <p:txBody>
          <a:bodyPr wrap="square" lIns="0" tIns="0" rIns="0" bIns="0" rtlCol="0" anchor="t"/>
          <a:lstStyle/>
          <a:p>
            <a:pPr marL="0" indent="0">
              <a:buNone/>
            </a:pPr>
            <a:r>
              <a:rPr lang="en-US" sz="1350" b="1" dirty="0">
                <a:solidFill>
                  <a:srgbClr val="028090"/>
                </a:solidFill>
                <a:latin typeface="Arial" panose="020B0604020202020204" pitchFamily="34" charset="0"/>
                <a:ea typeface="Calibri" pitchFamily="34" charset="-122"/>
                <a:cs typeface="Arial" panose="020B0604020202020204" pitchFamily="34" charset="0"/>
              </a:rPr>
              <a:t>2. Deepen the core tools</a:t>
            </a:r>
            <a:endParaRPr lang="en-US" sz="1350" dirty="0">
              <a:latin typeface="Arial" panose="020B0604020202020204" pitchFamily="34" charset="0"/>
              <a:cs typeface="Arial" panose="020B0604020202020204" pitchFamily="34" charset="0"/>
            </a:endParaRPr>
          </a:p>
        </p:txBody>
      </p:sp>
      <p:sp>
        <p:nvSpPr>
          <p:cNvPr id="8" name="Text 6"/>
          <p:cNvSpPr txBox="1"/>
          <p:nvPr/>
        </p:nvSpPr>
        <p:spPr>
          <a:xfrm>
            <a:off x="3886200" y="3520440"/>
            <a:ext cx="7635240" cy="822960"/>
          </a:xfrm>
          <a:prstGeom prst="rect">
            <a:avLst/>
          </a:prstGeom>
          <a:noFill/>
          <a:ln/>
        </p:spPr>
        <p:txBody>
          <a:bodyPr wrap="square" lIns="0" tIns="0" rIns="0" bIns="0" rtlCol="0" anchor="t"/>
          <a:lstStyle/>
          <a:p>
            <a:pPr marL="0" indent="0">
              <a:buNone/>
            </a:pPr>
            <a:r>
              <a:rPr lang="en-US" sz="1250" dirty="0">
                <a:solidFill>
                  <a:srgbClr val="1C1C1C"/>
                </a:solidFill>
                <a:latin typeface="Arial" panose="020B0604020202020204" pitchFamily="34" charset="0"/>
                <a:ea typeface="Calibri" pitchFamily="34" charset="-122"/>
                <a:cs typeface="Arial" panose="020B0604020202020204" pitchFamily="34" charset="0"/>
              </a:rPr>
              <a:t>Strengthen chat, documents, marketplace, and the skills directory based on how students actually use them semester to semester.</a:t>
            </a:r>
            <a:endParaRPr lang="en-US" sz="1250" dirty="0">
              <a:latin typeface="Arial" panose="020B0604020202020204" pitchFamily="34" charset="0"/>
              <a:cs typeface="Arial" panose="020B0604020202020204" pitchFamily="34" charset="0"/>
            </a:endParaRPr>
          </a:p>
        </p:txBody>
      </p:sp>
      <p:sp>
        <p:nvSpPr>
          <p:cNvPr id="9" name="Text 7"/>
          <p:cNvSpPr txBox="1"/>
          <p:nvPr/>
        </p:nvSpPr>
        <p:spPr>
          <a:xfrm>
            <a:off x="640080" y="4434840"/>
            <a:ext cx="3108960" cy="822960"/>
          </a:xfrm>
          <a:prstGeom prst="rect">
            <a:avLst/>
          </a:prstGeom>
          <a:noFill/>
          <a:ln/>
        </p:spPr>
        <p:txBody>
          <a:bodyPr wrap="square" lIns="0" tIns="0" rIns="0" bIns="0" rtlCol="0" anchor="t"/>
          <a:lstStyle/>
          <a:p>
            <a:pPr marL="0" indent="0">
              <a:buNone/>
            </a:pPr>
            <a:r>
              <a:rPr lang="en-US" sz="1350" b="1" dirty="0">
                <a:solidFill>
                  <a:srgbClr val="028090"/>
                </a:solidFill>
                <a:latin typeface="Arial" panose="020B0604020202020204" pitchFamily="34" charset="0"/>
                <a:ea typeface="Calibri" pitchFamily="34" charset="-122"/>
                <a:cs typeface="Arial" panose="020B0604020202020204" pitchFamily="34" charset="0"/>
              </a:rPr>
              <a:t>3. Then East Africa</a:t>
            </a:r>
            <a:endParaRPr lang="en-US" sz="1350" dirty="0">
              <a:latin typeface="Arial" panose="020B0604020202020204" pitchFamily="34" charset="0"/>
              <a:cs typeface="Arial" panose="020B0604020202020204" pitchFamily="34" charset="0"/>
            </a:endParaRPr>
          </a:p>
        </p:txBody>
      </p:sp>
      <p:sp>
        <p:nvSpPr>
          <p:cNvPr id="10" name="Text 8"/>
          <p:cNvSpPr txBox="1"/>
          <p:nvPr/>
        </p:nvSpPr>
        <p:spPr>
          <a:xfrm>
            <a:off x="3886200" y="4434840"/>
            <a:ext cx="7635240" cy="822960"/>
          </a:xfrm>
          <a:prstGeom prst="rect">
            <a:avLst/>
          </a:prstGeom>
          <a:noFill/>
          <a:ln/>
        </p:spPr>
        <p:txBody>
          <a:bodyPr wrap="square" lIns="0" tIns="0" rIns="0" bIns="0" rtlCol="0" anchor="t"/>
          <a:lstStyle/>
          <a:p>
            <a:pPr marL="0" indent="0">
              <a:buNone/>
            </a:pPr>
            <a:r>
              <a:rPr lang="en-US" sz="1250" dirty="0">
                <a:solidFill>
                  <a:srgbClr val="1C1C1C"/>
                </a:solidFill>
                <a:latin typeface="Arial" panose="020B0604020202020204" pitchFamily="34" charset="0"/>
                <a:ea typeface="Calibri" pitchFamily="34" charset="-122"/>
                <a:cs typeface="Arial" panose="020B0604020202020204" pitchFamily="34" charset="0"/>
              </a:rPr>
              <a:t>Kenya, Uganda, and Rwanda face the same underlying problem — no trusted, organized digital home for students — and the same model extends to those markets.</a:t>
            </a:r>
            <a:endParaRPr lang="en-US" sz="1250" dirty="0">
              <a:latin typeface="Arial" panose="020B0604020202020204" pitchFamily="34" charset="0"/>
              <a:cs typeface="Arial" panose="020B0604020202020204" pitchFamily="34" charset="0"/>
            </a:endParaRPr>
          </a:p>
        </p:txBody>
      </p:sp>
      <p:sp>
        <p:nvSpPr>
          <p:cNvPr id="11" name="Text 9"/>
          <p:cNvSpPr txBox="1"/>
          <p:nvPr/>
        </p:nvSpPr>
        <p:spPr>
          <a:xfrm>
            <a:off x="457200" y="6537960"/>
            <a:ext cx="2743200" cy="274320"/>
          </a:xfrm>
          <a:prstGeom prst="rect">
            <a:avLst/>
          </a:prstGeom>
          <a:noFill/>
          <a:ln/>
        </p:spPr>
        <p:txBody>
          <a:bodyPr wrap="square" lIns="0" tIns="0" rIns="0" bIns="0" rtlCol="0" anchor="ctr"/>
          <a:lstStyle/>
          <a:p>
            <a:pPr marL="0" indent="0">
              <a:buNone/>
            </a:pPr>
            <a:r>
              <a:rPr lang="en-US" sz="1000" dirty="0">
                <a:solidFill>
                  <a:srgbClr val="5B6B6D"/>
                </a:solidFill>
                <a:latin typeface="Calibri" pitchFamily="34" charset="0"/>
                <a:ea typeface="Calibri" pitchFamily="34" charset="-122"/>
                <a:cs typeface="Calibri" pitchFamily="34" charset="-120"/>
              </a:rPr>
              <a:t>CampusLink</a:t>
            </a:r>
            <a:endParaRPr lang="en-US" sz="1000" dirty="0"/>
          </a:p>
        </p:txBody>
      </p:sp>
      <p:sp>
        <p:nvSpPr>
          <p:cNvPr id="12" name="Text 10"/>
          <p:cNvSpPr txBox="1"/>
          <p:nvPr/>
        </p:nvSpPr>
        <p:spPr>
          <a:xfrm>
            <a:off x="11521440" y="6537960"/>
            <a:ext cx="457200" cy="274320"/>
          </a:xfrm>
          <a:prstGeom prst="rect">
            <a:avLst/>
          </a:prstGeom>
          <a:noFill/>
          <a:ln/>
        </p:spPr>
        <p:txBody>
          <a:bodyPr wrap="square" lIns="0" tIns="0" rIns="0" bIns="0" rtlCol="0" anchor="ctr"/>
          <a:lstStyle/>
          <a:p>
            <a:pPr marL="0" indent="0" algn="r">
              <a:buNone/>
            </a:pPr>
            <a:r>
              <a:rPr lang="en-US" sz="1000" dirty="0">
                <a:solidFill>
                  <a:srgbClr val="5B6B6D"/>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marL="0" indent="0">
              <a:buNone/>
            </a:pPr>
            <a:r>
              <a:rPr lang="en-US" sz="3000" b="1" dirty="0">
                <a:solidFill>
                  <a:srgbClr val="1C1C1C"/>
                </a:solidFill>
                <a:latin typeface="Arial" panose="020B0604020202020204" pitchFamily="34" charset="0"/>
                <a:ea typeface="Cambria" pitchFamily="34" charset="-122"/>
                <a:cs typeface="Arial" panose="020B0604020202020204" pitchFamily="34" charset="0"/>
              </a:rPr>
              <a:t>Our System’s Development Cycle</a:t>
            </a:r>
            <a:endParaRPr lang="en-US" sz="3000" dirty="0">
              <a:latin typeface="Arial" panose="020B0604020202020204" pitchFamily="34" charset="0"/>
              <a:cs typeface="Arial" panose="020B0604020202020204" pitchFamily="34" charset="0"/>
            </a:endParaRPr>
          </a:p>
        </p:txBody>
      </p:sp>
      <p:sp>
        <p:nvSpPr>
          <p:cNvPr id="3" name="Text 1"/>
          <p:cNvSpPr txBox="1"/>
          <p:nvPr/>
        </p:nvSpPr>
        <p:spPr>
          <a:xfrm>
            <a:off x="640080" y="1033272"/>
            <a:ext cx="10881360" cy="457200"/>
          </a:xfrm>
          <a:prstGeom prst="rect">
            <a:avLst/>
          </a:prstGeom>
          <a:noFill/>
          <a:ln/>
        </p:spPr>
        <p:txBody>
          <a:bodyPr wrap="square" lIns="0" tIns="0" rIns="0" bIns="0" rtlCol="0" anchor="ctr"/>
          <a:lstStyle/>
          <a:p>
            <a:pPr marL="0" indent="0">
              <a:buNone/>
            </a:pPr>
            <a:r>
              <a:rPr lang="en-US" sz="1350" dirty="0">
                <a:solidFill>
                  <a:srgbClr val="5B6B6D"/>
                </a:solidFill>
                <a:latin typeface="Arial" panose="020B0604020202020204" pitchFamily="34" charset="0"/>
                <a:ea typeface="Calibri" pitchFamily="34" charset="-122"/>
                <a:cs typeface="Arial" panose="020B0604020202020204" pitchFamily="34" charset="0"/>
              </a:rPr>
              <a:t>A staged approach for building CampusLink through incremental model approach, from requirements through to deployment and iteration</a:t>
            </a:r>
            <a:endParaRPr lang="en-US" sz="1350" dirty="0">
              <a:latin typeface="Arial" panose="020B0604020202020204" pitchFamily="34" charset="0"/>
              <a:cs typeface="Arial" panose="020B0604020202020204" pitchFamily="34" charset="0"/>
            </a:endParaRPr>
          </a:p>
        </p:txBody>
      </p:sp>
      <p:sp>
        <p:nvSpPr>
          <p:cNvPr id="4" name="Text 2"/>
          <p:cNvSpPr txBox="1"/>
          <p:nvPr/>
        </p:nvSpPr>
        <p:spPr>
          <a:xfrm>
            <a:off x="640080" y="1645920"/>
            <a:ext cx="2194560" cy="685800"/>
          </a:xfrm>
          <a:prstGeom prst="rect">
            <a:avLst/>
          </a:prstGeom>
          <a:noFill/>
          <a:ln/>
        </p:spPr>
        <p:txBody>
          <a:bodyPr wrap="square" lIns="0" tIns="0" rIns="0" bIns="0" rtlCol="0" anchor="t"/>
          <a:lstStyle/>
          <a:p>
            <a:pPr marL="0" indent="0">
              <a:buNone/>
            </a:pPr>
            <a:r>
              <a:rPr lang="en-US" sz="1400" b="1" dirty="0">
                <a:solidFill>
                  <a:srgbClr val="028090"/>
                </a:solidFill>
                <a:latin typeface="Arial" panose="020B0604020202020204" pitchFamily="34" charset="0"/>
                <a:ea typeface="Calibri" pitchFamily="34" charset="-122"/>
                <a:cs typeface="Arial" panose="020B0604020202020204" pitchFamily="34" charset="0"/>
              </a:rPr>
              <a:t>Requirements &amp; Planning</a:t>
            </a:r>
            <a:endParaRPr lang="en-US" sz="1400" dirty="0">
              <a:latin typeface="Arial" panose="020B0604020202020204" pitchFamily="34" charset="0"/>
              <a:cs typeface="Arial" panose="020B0604020202020204" pitchFamily="34" charset="0"/>
            </a:endParaRPr>
          </a:p>
        </p:txBody>
      </p:sp>
      <p:sp>
        <p:nvSpPr>
          <p:cNvPr id="5" name="Text 3"/>
          <p:cNvSpPr txBox="1"/>
          <p:nvPr/>
        </p:nvSpPr>
        <p:spPr>
          <a:xfrm>
            <a:off x="2971800" y="1645920"/>
            <a:ext cx="8549640" cy="685800"/>
          </a:xfrm>
          <a:prstGeom prst="rect">
            <a:avLst/>
          </a:prstGeom>
          <a:noFill/>
          <a:ln/>
        </p:spPr>
        <p:txBody>
          <a:bodyPr wrap="square" lIns="0" tIns="0" rIns="0" bIns="0" rtlCol="0" anchor="t"/>
          <a:lstStyle/>
          <a:p>
            <a:pPr marL="0" indent="0">
              <a:buNone/>
            </a:pPr>
            <a:r>
              <a:rPr lang="en-US" sz="1200" dirty="0">
                <a:solidFill>
                  <a:srgbClr val="1C1C1C"/>
                </a:solidFill>
                <a:latin typeface="Arial" panose="020B0604020202020204" pitchFamily="34" charset="0"/>
                <a:ea typeface="Calibri" pitchFamily="34" charset="-122"/>
                <a:cs typeface="Arial" panose="020B0604020202020204" pitchFamily="34" charset="0"/>
              </a:rPr>
              <a:t>Gather what students and admins actually need; define scope, user roles, and success criteria for the semester.</a:t>
            </a:r>
            <a:endParaRPr lang="en-US" sz="1200" dirty="0">
              <a:latin typeface="Arial" panose="020B0604020202020204" pitchFamily="34" charset="0"/>
              <a:cs typeface="Arial" panose="020B0604020202020204" pitchFamily="34" charset="0"/>
            </a:endParaRPr>
          </a:p>
        </p:txBody>
      </p:sp>
      <p:sp>
        <p:nvSpPr>
          <p:cNvPr id="6" name="Text 4"/>
          <p:cNvSpPr txBox="1"/>
          <p:nvPr/>
        </p:nvSpPr>
        <p:spPr>
          <a:xfrm>
            <a:off x="640080" y="2441448"/>
            <a:ext cx="2194560" cy="685800"/>
          </a:xfrm>
          <a:prstGeom prst="rect">
            <a:avLst/>
          </a:prstGeom>
          <a:noFill/>
          <a:ln/>
        </p:spPr>
        <p:txBody>
          <a:bodyPr wrap="square" lIns="0" tIns="0" rIns="0" bIns="0" rtlCol="0" anchor="t"/>
          <a:lstStyle/>
          <a:p>
            <a:pPr marL="0" indent="0">
              <a:buNone/>
            </a:pPr>
            <a:r>
              <a:rPr lang="en-US" sz="1400" b="1" dirty="0">
                <a:solidFill>
                  <a:srgbClr val="028090"/>
                </a:solidFill>
                <a:latin typeface="Arial" panose="020B0604020202020204" pitchFamily="34" charset="0"/>
                <a:ea typeface="Calibri" pitchFamily="34" charset="-122"/>
                <a:cs typeface="Arial" panose="020B0604020202020204" pitchFamily="34" charset="0"/>
              </a:rPr>
              <a:t>System Design</a:t>
            </a:r>
            <a:endParaRPr lang="en-US" sz="1400" dirty="0">
              <a:latin typeface="Arial" panose="020B0604020202020204" pitchFamily="34" charset="0"/>
              <a:cs typeface="Arial" panose="020B0604020202020204" pitchFamily="34" charset="0"/>
            </a:endParaRPr>
          </a:p>
        </p:txBody>
      </p:sp>
      <p:sp>
        <p:nvSpPr>
          <p:cNvPr id="7" name="Text 5"/>
          <p:cNvSpPr txBox="1"/>
          <p:nvPr/>
        </p:nvSpPr>
        <p:spPr>
          <a:xfrm>
            <a:off x="2971800" y="2441448"/>
            <a:ext cx="8549640" cy="685800"/>
          </a:xfrm>
          <a:prstGeom prst="rect">
            <a:avLst/>
          </a:prstGeom>
          <a:noFill/>
          <a:ln/>
        </p:spPr>
        <p:txBody>
          <a:bodyPr wrap="square" lIns="0" tIns="0" rIns="0" bIns="0" rtlCol="0" anchor="t"/>
          <a:lstStyle/>
          <a:p>
            <a:pPr marL="0" indent="0">
              <a:buNone/>
            </a:pPr>
            <a:r>
              <a:rPr lang="en-US" sz="1200" dirty="0">
                <a:solidFill>
                  <a:srgbClr val="1C1C1C"/>
                </a:solidFill>
                <a:latin typeface="Arial" panose="020B0604020202020204" pitchFamily="34" charset="0"/>
                <a:ea typeface="Calibri" pitchFamily="34" charset="-122"/>
                <a:cs typeface="Arial" panose="020B0604020202020204" pitchFamily="34" charset="0"/>
              </a:rPr>
              <a:t>Structure the database, user roles, and page flow before writing code, so features fit together instead of colliding.</a:t>
            </a:r>
            <a:endParaRPr lang="en-US" sz="1200" dirty="0">
              <a:latin typeface="Arial" panose="020B0604020202020204" pitchFamily="34" charset="0"/>
              <a:cs typeface="Arial" panose="020B0604020202020204" pitchFamily="34" charset="0"/>
            </a:endParaRPr>
          </a:p>
        </p:txBody>
      </p:sp>
      <p:sp>
        <p:nvSpPr>
          <p:cNvPr id="8" name="Text 6"/>
          <p:cNvSpPr txBox="1"/>
          <p:nvPr/>
        </p:nvSpPr>
        <p:spPr>
          <a:xfrm>
            <a:off x="640080" y="3236976"/>
            <a:ext cx="2194560" cy="685800"/>
          </a:xfrm>
          <a:prstGeom prst="rect">
            <a:avLst/>
          </a:prstGeom>
          <a:noFill/>
          <a:ln/>
        </p:spPr>
        <p:txBody>
          <a:bodyPr wrap="square" lIns="0" tIns="0" rIns="0" bIns="0" rtlCol="0" anchor="t"/>
          <a:lstStyle/>
          <a:p>
            <a:pPr marL="0" indent="0">
              <a:buNone/>
            </a:pPr>
            <a:r>
              <a:rPr lang="en-US" sz="1400" b="1" dirty="0">
                <a:solidFill>
                  <a:srgbClr val="028090"/>
                </a:solidFill>
                <a:latin typeface="Arial" panose="020B0604020202020204" pitchFamily="34" charset="0"/>
                <a:ea typeface="Calibri" pitchFamily="34" charset="-122"/>
                <a:cs typeface="Arial" panose="020B0604020202020204" pitchFamily="34" charset="0"/>
              </a:rPr>
              <a:t>Implementation</a:t>
            </a:r>
            <a:endParaRPr lang="en-US" sz="1400" dirty="0">
              <a:latin typeface="Arial" panose="020B0604020202020204" pitchFamily="34" charset="0"/>
              <a:cs typeface="Arial" panose="020B0604020202020204" pitchFamily="34" charset="0"/>
            </a:endParaRPr>
          </a:p>
        </p:txBody>
      </p:sp>
      <p:sp>
        <p:nvSpPr>
          <p:cNvPr id="9" name="Text 7"/>
          <p:cNvSpPr txBox="1"/>
          <p:nvPr/>
        </p:nvSpPr>
        <p:spPr>
          <a:xfrm>
            <a:off x="2971800" y="3236976"/>
            <a:ext cx="8549640" cy="685800"/>
          </a:xfrm>
          <a:prstGeom prst="rect">
            <a:avLst/>
          </a:prstGeom>
          <a:noFill/>
          <a:ln/>
        </p:spPr>
        <p:txBody>
          <a:bodyPr wrap="square" lIns="0" tIns="0" rIns="0" bIns="0" rtlCol="0" anchor="t"/>
          <a:lstStyle/>
          <a:p>
            <a:pPr marL="0" indent="0">
              <a:buNone/>
            </a:pPr>
            <a:r>
              <a:rPr lang="en-US" sz="1200" dirty="0">
                <a:solidFill>
                  <a:srgbClr val="1C1C1C"/>
                </a:solidFill>
                <a:latin typeface="Arial" panose="020B0604020202020204" pitchFamily="34" charset="0"/>
                <a:ea typeface="Calibri" pitchFamily="34" charset="-122"/>
                <a:cs typeface="Arial" panose="020B0604020202020204" pitchFamily="34" charset="0"/>
              </a:rPr>
              <a:t>Build each feature in order: accounts, profiles, feed, groups, documents, and marketplace.</a:t>
            </a:r>
            <a:endParaRPr lang="en-US" sz="1200" dirty="0">
              <a:latin typeface="Arial" panose="020B0604020202020204" pitchFamily="34" charset="0"/>
              <a:cs typeface="Arial" panose="020B0604020202020204" pitchFamily="34" charset="0"/>
            </a:endParaRPr>
          </a:p>
        </p:txBody>
      </p:sp>
      <p:sp>
        <p:nvSpPr>
          <p:cNvPr id="10" name="Text 8"/>
          <p:cNvSpPr txBox="1"/>
          <p:nvPr/>
        </p:nvSpPr>
        <p:spPr>
          <a:xfrm>
            <a:off x="640080" y="4032504"/>
            <a:ext cx="2194560" cy="685800"/>
          </a:xfrm>
          <a:prstGeom prst="rect">
            <a:avLst/>
          </a:prstGeom>
          <a:noFill/>
          <a:ln/>
        </p:spPr>
        <p:txBody>
          <a:bodyPr wrap="square" lIns="0" tIns="0" rIns="0" bIns="0" rtlCol="0" anchor="t"/>
          <a:lstStyle/>
          <a:p>
            <a:pPr marL="0" indent="0">
              <a:buNone/>
            </a:pPr>
            <a:r>
              <a:rPr lang="en-US" sz="1400" b="1" dirty="0">
                <a:solidFill>
                  <a:srgbClr val="028090"/>
                </a:solidFill>
                <a:latin typeface="Arial" panose="020B0604020202020204" pitchFamily="34" charset="0"/>
                <a:ea typeface="Calibri" pitchFamily="34" charset="-122"/>
                <a:cs typeface="Arial" panose="020B0604020202020204" pitchFamily="34" charset="0"/>
              </a:rPr>
              <a:t>Testing</a:t>
            </a:r>
            <a:endParaRPr lang="en-US" sz="1400" dirty="0">
              <a:latin typeface="Arial" panose="020B0604020202020204" pitchFamily="34" charset="0"/>
              <a:cs typeface="Arial" panose="020B0604020202020204" pitchFamily="34" charset="0"/>
            </a:endParaRPr>
          </a:p>
        </p:txBody>
      </p:sp>
      <p:sp>
        <p:nvSpPr>
          <p:cNvPr id="11" name="Text 9"/>
          <p:cNvSpPr txBox="1"/>
          <p:nvPr/>
        </p:nvSpPr>
        <p:spPr>
          <a:xfrm>
            <a:off x="2971800" y="4032504"/>
            <a:ext cx="8549640" cy="685800"/>
          </a:xfrm>
          <a:prstGeom prst="rect">
            <a:avLst/>
          </a:prstGeom>
          <a:noFill/>
          <a:ln/>
        </p:spPr>
        <p:txBody>
          <a:bodyPr wrap="square" lIns="0" tIns="0" rIns="0" bIns="0" rtlCol="0" anchor="t"/>
          <a:lstStyle/>
          <a:p>
            <a:pPr marL="0" indent="0">
              <a:buNone/>
            </a:pPr>
            <a:r>
              <a:rPr lang="en-US" sz="1200" dirty="0">
                <a:solidFill>
                  <a:srgbClr val="1C1C1C"/>
                </a:solidFill>
                <a:latin typeface="Arial" panose="020B0604020202020204" pitchFamily="34" charset="0"/>
                <a:ea typeface="Calibri" pitchFamily="34" charset="-122"/>
                <a:cs typeface="Arial" panose="020B0604020202020204" pitchFamily="34" charset="0"/>
              </a:rPr>
              <a:t>Check each feature against real use cases before moving to the next, catching bugs early rather than at the end.</a:t>
            </a:r>
            <a:endParaRPr lang="en-US" sz="1200" dirty="0">
              <a:latin typeface="Arial" panose="020B0604020202020204" pitchFamily="34" charset="0"/>
              <a:cs typeface="Arial" panose="020B0604020202020204" pitchFamily="34" charset="0"/>
            </a:endParaRPr>
          </a:p>
        </p:txBody>
      </p:sp>
      <p:sp>
        <p:nvSpPr>
          <p:cNvPr id="12" name="Text 10"/>
          <p:cNvSpPr txBox="1"/>
          <p:nvPr/>
        </p:nvSpPr>
        <p:spPr>
          <a:xfrm>
            <a:off x="640080" y="4828032"/>
            <a:ext cx="2194560" cy="685800"/>
          </a:xfrm>
          <a:prstGeom prst="rect">
            <a:avLst/>
          </a:prstGeom>
          <a:noFill/>
          <a:ln/>
        </p:spPr>
        <p:txBody>
          <a:bodyPr wrap="square" lIns="0" tIns="0" rIns="0" bIns="0" rtlCol="0" anchor="t"/>
          <a:lstStyle/>
          <a:p>
            <a:pPr marL="0" indent="0">
              <a:buNone/>
            </a:pPr>
            <a:r>
              <a:rPr lang="en-US" sz="1400" b="1" dirty="0">
                <a:solidFill>
                  <a:srgbClr val="028090"/>
                </a:solidFill>
                <a:latin typeface="Arial" panose="020B0604020202020204" pitchFamily="34" charset="0"/>
                <a:ea typeface="Calibri" pitchFamily="34" charset="-122"/>
                <a:cs typeface="Arial" panose="020B0604020202020204" pitchFamily="34" charset="0"/>
              </a:rPr>
              <a:t>Deployment</a:t>
            </a:r>
            <a:endParaRPr lang="en-US" sz="1400" dirty="0">
              <a:latin typeface="Arial" panose="020B0604020202020204" pitchFamily="34" charset="0"/>
              <a:cs typeface="Arial" panose="020B0604020202020204" pitchFamily="34" charset="0"/>
            </a:endParaRPr>
          </a:p>
        </p:txBody>
      </p:sp>
      <p:sp>
        <p:nvSpPr>
          <p:cNvPr id="13" name="Text 11"/>
          <p:cNvSpPr txBox="1"/>
          <p:nvPr/>
        </p:nvSpPr>
        <p:spPr>
          <a:xfrm>
            <a:off x="2971800" y="4828032"/>
            <a:ext cx="8549640" cy="685800"/>
          </a:xfrm>
          <a:prstGeom prst="rect">
            <a:avLst/>
          </a:prstGeom>
          <a:noFill/>
          <a:ln/>
        </p:spPr>
        <p:txBody>
          <a:bodyPr wrap="square" lIns="0" tIns="0" rIns="0" bIns="0" rtlCol="0" anchor="t"/>
          <a:lstStyle/>
          <a:p>
            <a:pPr marL="0" indent="0">
              <a:buNone/>
            </a:pPr>
            <a:r>
              <a:rPr lang="en-US" sz="1200" dirty="0">
                <a:solidFill>
                  <a:srgbClr val="1C1C1C"/>
                </a:solidFill>
                <a:latin typeface="Arial" panose="020B0604020202020204" pitchFamily="34" charset="0"/>
                <a:ea typeface="Calibri" pitchFamily="34" charset="-122"/>
                <a:cs typeface="Arial" panose="020B0604020202020204" pitchFamily="34" charset="0"/>
              </a:rPr>
              <a:t>Release to a live server students can actually reach, on university-friendly hosting.</a:t>
            </a:r>
            <a:endParaRPr lang="en-US" sz="1200" dirty="0">
              <a:latin typeface="Arial" panose="020B0604020202020204" pitchFamily="34" charset="0"/>
              <a:cs typeface="Arial" panose="020B0604020202020204" pitchFamily="34" charset="0"/>
            </a:endParaRPr>
          </a:p>
        </p:txBody>
      </p:sp>
      <p:sp>
        <p:nvSpPr>
          <p:cNvPr id="14" name="Text 12"/>
          <p:cNvSpPr txBox="1"/>
          <p:nvPr/>
        </p:nvSpPr>
        <p:spPr>
          <a:xfrm>
            <a:off x="640080" y="5623560"/>
            <a:ext cx="2194560" cy="685800"/>
          </a:xfrm>
          <a:prstGeom prst="rect">
            <a:avLst/>
          </a:prstGeom>
          <a:noFill/>
          <a:ln/>
        </p:spPr>
        <p:txBody>
          <a:bodyPr wrap="square" lIns="0" tIns="0" rIns="0" bIns="0" rtlCol="0" anchor="t"/>
          <a:lstStyle/>
          <a:p>
            <a:pPr marL="0" indent="0">
              <a:buNone/>
            </a:pPr>
            <a:r>
              <a:rPr lang="en-US" sz="1400" b="1" dirty="0">
                <a:solidFill>
                  <a:srgbClr val="028090"/>
                </a:solidFill>
                <a:latin typeface="Arial" panose="020B0604020202020204" pitchFamily="34" charset="0"/>
                <a:ea typeface="Calibri" pitchFamily="34" charset="-122"/>
                <a:cs typeface="Arial" panose="020B0604020202020204" pitchFamily="34" charset="0"/>
              </a:rPr>
              <a:t>Maintenance &amp; Iteration</a:t>
            </a:r>
            <a:endParaRPr lang="en-US" sz="1400" dirty="0">
              <a:latin typeface="Arial" panose="020B0604020202020204" pitchFamily="34" charset="0"/>
              <a:cs typeface="Arial" panose="020B0604020202020204" pitchFamily="34" charset="0"/>
            </a:endParaRPr>
          </a:p>
        </p:txBody>
      </p:sp>
      <p:sp>
        <p:nvSpPr>
          <p:cNvPr id="15" name="Text 13"/>
          <p:cNvSpPr txBox="1"/>
          <p:nvPr/>
        </p:nvSpPr>
        <p:spPr>
          <a:xfrm>
            <a:off x="2971800" y="5623560"/>
            <a:ext cx="8549640" cy="685800"/>
          </a:xfrm>
          <a:prstGeom prst="rect">
            <a:avLst/>
          </a:prstGeom>
          <a:noFill/>
          <a:ln/>
        </p:spPr>
        <p:txBody>
          <a:bodyPr wrap="square" lIns="0" tIns="0" rIns="0" bIns="0" rtlCol="0" anchor="t"/>
          <a:lstStyle/>
          <a:p>
            <a:pPr marL="0" indent="0">
              <a:buNone/>
            </a:pPr>
            <a:r>
              <a:rPr lang="en-US" sz="1200" dirty="0">
                <a:solidFill>
                  <a:srgbClr val="1C1C1C"/>
                </a:solidFill>
                <a:latin typeface="Arial" panose="020B0604020202020204" pitchFamily="34" charset="0"/>
                <a:ea typeface="Calibri" pitchFamily="34" charset="-122"/>
                <a:cs typeface="Arial" panose="020B0604020202020204" pitchFamily="34" charset="0"/>
              </a:rPr>
              <a:t>Fix issues, gather feedback, and refine based on how students actually use the platform.</a:t>
            </a:r>
            <a:endParaRPr lang="en-US" sz="1200" dirty="0">
              <a:latin typeface="Arial" panose="020B0604020202020204" pitchFamily="34" charset="0"/>
              <a:cs typeface="Arial" panose="020B0604020202020204" pitchFamily="34" charset="0"/>
            </a:endParaRPr>
          </a:p>
        </p:txBody>
      </p:sp>
      <p:sp>
        <p:nvSpPr>
          <p:cNvPr id="16" name="Text 14"/>
          <p:cNvSpPr txBox="1"/>
          <p:nvPr/>
        </p:nvSpPr>
        <p:spPr>
          <a:xfrm>
            <a:off x="457200" y="6537960"/>
            <a:ext cx="2743200" cy="274320"/>
          </a:xfrm>
          <a:prstGeom prst="rect">
            <a:avLst/>
          </a:prstGeom>
          <a:noFill/>
          <a:ln/>
        </p:spPr>
        <p:txBody>
          <a:bodyPr wrap="square" lIns="0" tIns="0" rIns="0" bIns="0" rtlCol="0" anchor="ctr"/>
          <a:lstStyle/>
          <a:p>
            <a:pPr marL="0" indent="0">
              <a:buNone/>
            </a:pPr>
            <a:r>
              <a:rPr lang="en-US" sz="1000" dirty="0">
                <a:solidFill>
                  <a:srgbClr val="5B6B6D"/>
                </a:solidFill>
                <a:latin typeface="Calibri" pitchFamily="34" charset="0"/>
                <a:ea typeface="Calibri" pitchFamily="34" charset="-122"/>
                <a:cs typeface="Calibri" pitchFamily="34" charset="-120"/>
              </a:rPr>
              <a:t>CampusLink</a:t>
            </a:r>
            <a:endParaRPr lang="en-US" sz="1000" dirty="0"/>
          </a:p>
        </p:txBody>
      </p:sp>
      <p:sp>
        <p:nvSpPr>
          <p:cNvPr id="17" name="Text 15"/>
          <p:cNvSpPr txBox="1"/>
          <p:nvPr/>
        </p:nvSpPr>
        <p:spPr>
          <a:xfrm>
            <a:off x="11521440" y="6537960"/>
            <a:ext cx="457200" cy="274320"/>
          </a:xfrm>
          <a:prstGeom prst="rect">
            <a:avLst/>
          </a:prstGeom>
          <a:noFill/>
          <a:ln/>
        </p:spPr>
        <p:txBody>
          <a:bodyPr wrap="square" lIns="0" tIns="0" rIns="0" bIns="0" rtlCol="0" anchor="ctr"/>
          <a:lstStyle/>
          <a:p>
            <a:pPr marL="0" indent="0" algn="r">
              <a:buNone/>
            </a:pPr>
            <a:r>
              <a:rPr lang="en-US" sz="1000" dirty="0">
                <a:solidFill>
                  <a:srgbClr val="5B6B6D"/>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pattFill prst="dashHorz">
          <a:fgClr>
            <a:srgbClr val="0B2E33"/>
          </a:fgClr>
          <a:bgClr>
            <a:schemeClr val="bg1">
              <a:lumMod val="85000"/>
              <a:lumOff val="15000"/>
            </a:schemeClr>
          </a:bgClr>
        </a:pattFill>
        <a:effectLst/>
      </p:bgPr>
    </p:bg>
    <p:spTree>
      <p:nvGrpSpPr>
        <p:cNvPr id="1" name=""/>
        <p:cNvGrpSpPr/>
        <p:nvPr/>
      </p:nvGrpSpPr>
      <p:grpSpPr>
        <a:xfrm>
          <a:off x="0" y="0"/>
          <a:ext cx="0" cy="0"/>
          <a:chOff x="0" y="0"/>
          <a:chExt cx="0" cy="0"/>
        </a:xfrm>
      </p:grpSpPr>
      <p:sp>
        <p:nvSpPr>
          <p:cNvPr id="2" name="Text 0"/>
          <p:cNvSpPr txBox="1"/>
          <p:nvPr/>
        </p:nvSpPr>
        <p:spPr>
          <a:xfrm>
            <a:off x="822960" y="2286000"/>
            <a:ext cx="10058400" cy="1188720"/>
          </a:xfrm>
          <a:prstGeom prst="rect">
            <a:avLst/>
          </a:prstGeom>
          <a:noFill/>
          <a:ln/>
        </p:spPr>
        <p:txBody>
          <a:bodyPr wrap="square" lIns="0" tIns="0" rIns="0" bIns="0" rtlCol="0" anchor="ctr"/>
          <a:lstStyle/>
          <a:p>
            <a:pPr marL="0" indent="0">
              <a:buNone/>
            </a:pPr>
            <a:r>
              <a:rPr lang="en-US" sz="3200" b="1" dirty="0">
                <a:solidFill>
                  <a:srgbClr val="FFFFFF"/>
                </a:solidFill>
                <a:latin typeface="Arial" panose="020B0604020202020204" pitchFamily="34" charset="0"/>
                <a:ea typeface="Cambria" pitchFamily="34" charset="-122"/>
                <a:cs typeface="Arial" panose="020B0604020202020204" pitchFamily="34" charset="0"/>
              </a:rPr>
              <a:t>A trusted digital home for every student, on every campus.</a:t>
            </a:r>
            <a:endParaRPr lang="en-US" sz="3200" dirty="0">
              <a:latin typeface="Arial" panose="020B0604020202020204" pitchFamily="34" charset="0"/>
              <a:cs typeface="Arial" panose="020B0604020202020204" pitchFamily="34" charset="0"/>
            </a:endParaRPr>
          </a:p>
        </p:txBody>
      </p:sp>
      <p:sp>
        <p:nvSpPr>
          <p:cNvPr id="3" name="Text 1"/>
          <p:cNvSpPr txBox="1"/>
          <p:nvPr/>
        </p:nvSpPr>
        <p:spPr>
          <a:xfrm>
            <a:off x="822960" y="3429000"/>
            <a:ext cx="9601200" cy="457200"/>
          </a:xfrm>
          <a:prstGeom prst="rect">
            <a:avLst/>
          </a:prstGeom>
          <a:noFill/>
          <a:ln/>
        </p:spPr>
        <p:txBody>
          <a:bodyPr wrap="square" lIns="0" tIns="0" rIns="0" bIns="0" rtlCol="0" anchor="ctr"/>
          <a:lstStyle/>
          <a:p>
            <a:pPr marL="0" indent="0">
              <a:buNone/>
            </a:pPr>
            <a:r>
              <a:rPr lang="en-US" sz="1500" dirty="0">
                <a:solidFill>
                  <a:srgbClr val="6FD9CE"/>
                </a:solidFill>
                <a:latin typeface="Arial" panose="020B0604020202020204" pitchFamily="34" charset="0"/>
                <a:ea typeface="Calibri" pitchFamily="34" charset="-122"/>
                <a:cs typeface="Arial" panose="020B0604020202020204" pitchFamily="34" charset="0"/>
              </a:rPr>
              <a:t>Starting at UDOM and 40+ universities across Tanzania — free forever, verified always.</a:t>
            </a:r>
            <a:endParaRPr lang="en-US" sz="1500" dirty="0">
              <a:latin typeface="Arial" panose="020B0604020202020204" pitchFamily="34" charset="0"/>
              <a:cs typeface="Arial" panose="020B0604020202020204" pitchFamily="34" charset="0"/>
            </a:endParaRPr>
          </a:p>
        </p:txBody>
      </p:sp>
      <p:sp>
        <p:nvSpPr>
          <p:cNvPr id="4" name="Text 2"/>
          <p:cNvSpPr txBox="1"/>
          <p:nvPr/>
        </p:nvSpPr>
        <p:spPr>
          <a:xfrm>
            <a:off x="822960" y="5943600"/>
            <a:ext cx="7315200" cy="365760"/>
          </a:xfrm>
          <a:prstGeom prst="rect">
            <a:avLst/>
          </a:prstGeom>
          <a:noFill/>
          <a:ln/>
        </p:spPr>
        <p:txBody>
          <a:bodyPr wrap="square" lIns="0" tIns="0" rIns="0" bIns="0" rtlCol="0" anchor="ctr"/>
          <a:lstStyle/>
          <a:p>
            <a:pPr marL="0" indent="0">
              <a:buNone/>
            </a:pPr>
            <a:r>
              <a:rPr lang="en-US" sz="1300" dirty="0">
                <a:solidFill>
                  <a:srgbClr val="C9D9D8"/>
                </a:solidFill>
                <a:latin typeface="Arial" panose="020B0604020202020204" pitchFamily="34" charset="0"/>
                <a:ea typeface="Calibri" pitchFamily="34" charset="-122"/>
                <a:cs typeface="Arial" panose="020B0604020202020204" pitchFamily="34" charset="0"/>
              </a:rPr>
              <a:t>CampusLink — Thank you</a:t>
            </a:r>
            <a:endParaRPr lang="en-US" sz="1300" dirty="0">
              <a:latin typeface="Arial" panose="020B0604020202020204" pitchFamily="34" charset="0"/>
              <a:cs typeface="Arial" panose="020B0604020202020204" pitchFamily="34"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83</TotalTime>
  <Words>2008</Words>
  <Application>Microsoft Office PowerPoint</Application>
  <PresentationFormat>Widescreen</PresentationFormat>
  <Paragraphs>174</Paragraphs>
  <Slides>13</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Century Gothic</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Ibrahim Ally</cp:lastModifiedBy>
  <cp:revision>5</cp:revision>
  <dcterms:created xsi:type="dcterms:W3CDTF">2026-08-30T19:45:16Z</dcterms:created>
  <dcterms:modified xsi:type="dcterms:W3CDTF">2026-09-01T06:45:38Z</dcterms:modified>
</cp:coreProperties>
</file>