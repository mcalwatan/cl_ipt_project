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48" r:id="rId1"/>
  </p:sldMasterIdLst>
  <p:notesMasterIdLst>
    <p:notesMasterId r:id="rId40"/>
  </p:notesMasterIdLst>
  <p:sldIdLst>
    <p:sldId id="256" r:id="rId2"/>
    <p:sldId id="295" r:id="rId3"/>
    <p:sldId id="259" r:id="rId4"/>
    <p:sldId id="261" r:id="rId5"/>
    <p:sldId id="263" r:id="rId6"/>
    <p:sldId id="264" r:id="rId7"/>
    <p:sldId id="266" r:id="rId8"/>
    <p:sldId id="268" r:id="rId9"/>
    <p:sldId id="272" r:id="rId10"/>
    <p:sldId id="273" r:id="rId11"/>
    <p:sldId id="274" r:id="rId12"/>
    <p:sldId id="275" r:id="rId13"/>
    <p:sldId id="276" r:id="rId14"/>
    <p:sldId id="277" r:id="rId15"/>
    <p:sldId id="278" r:id="rId16"/>
    <p:sldId id="280" r:id="rId17"/>
    <p:sldId id="284" r:id="rId18"/>
    <p:sldId id="286" r:id="rId19"/>
    <p:sldId id="287" r:id="rId20"/>
    <p:sldId id="317" r:id="rId21"/>
    <p:sldId id="288" r:id="rId22"/>
    <p:sldId id="289" r:id="rId23"/>
    <p:sldId id="291" r:id="rId24"/>
    <p:sldId id="292" r:id="rId25"/>
    <p:sldId id="299" r:id="rId26"/>
    <p:sldId id="300" r:id="rId27"/>
    <p:sldId id="301" r:id="rId28"/>
    <p:sldId id="302" r:id="rId29"/>
    <p:sldId id="303" r:id="rId30"/>
    <p:sldId id="304" r:id="rId31"/>
    <p:sldId id="316" r:id="rId32"/>
    <p:sldId id="305" r:id="rId33"/>
    <p:sldId id="306" r:id="rId34"/>
    <p:sldId id="308" r:id="rId35"/>
    <p:sldId id="309" r:id="rId36"/>
    <p:sldId id="310" r:id="rId37"/>
    <p:sldId id="311" r:id="rId38"/>
    <p:sldId id="312"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5897EC-2861-44C9-9E00-32FBD9DD643A}" type="datetimeFigureOut">
              <a:rPr lang="en-US" smtClean="0"/>
              <a:t>11/6/2024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F662FB-5347-4248-9B62-9B13942C062C}" type="slidenum">
              <a:rPr lang="en-US" smtClean="0"/>
              <a:t>‹#›</a:t>
            </a:fld>
            <a:endParaRPr lang="en-US"/>
          </a:p>
        </p:txBody>
      </p:sp>
    </p:spTree>
    <p:extLst>
      <p:ext uri="{BB962C8B-B14F-4D97-AF65-F5344CB8AC3E}">
        <p14:creationId xmlns:p14="http://schemas.microsoft.com/office/powerpoint/2010/main" val="3725229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EBB6D080-24DC-4A1C-8B5B-4112181D68B7}" type="datetime1">
              <a:rPr lang="en-US" smtClean="0"/>
              <a:t>11/6/2024</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r>
              <a:rPr lang="en-US"/>
              <a:t>Mayengo, M. M</a:t>
            </a:r>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2B5E18CA-EFC1-4ED8-A974-4BD9A10BFFA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3F049244-4F87-4C85-A2E6-F11B9F79F465}" type="datetime1">
              <a:rPr lang="en-US" smtClean="0"/>
              <a:t>11/6/2024</a:t>
            </a:fld>
            <a:endParaRPr lang="en-US"/>
          </a:p>
        </p:txBody>
      </p:sp>
      <p:sp>
        <p:nvSpPr>
          <p:cNvPr id="9" name="Slide Number Placeholder 8"/>
          <p:cNvSpPr>
            <a:spLocks noGrp="1"/>
          </p:cNvSpPr>
          <p:nvPr>
            <p:ph type="sldNum" sz="quarter" idx="15"/>
          </p:nvPr>
        </p:nvSpPr>
        <p:spPr/>
        <p:txBody>
          <a:bodyPr rtlCol="0"/>
          <a:lstStyle/>
          <a:p>
            <a:fld id="{2B5E18CA-EFC1-4ED8-A974-4BD9A10BFFAB}" type="slidenum">
              <a:rPr lang="en-US" smtClean="0"/>
              <a:t>‹#›</a:t>
            </a:fld>
            <a:endParaRPr lang="en-US"/>
          </a:p>
        </p:txBody>
      </p:sp>
      <p:sp>
        <p:nvSpPr>
          <p:cNvPr id="10" name="Footer Placeholder 9"/>
          <p:cNvSpPr>
            <a:spLocks noGrp="1"/>
          </p:cNvSpPr>
          <p:nvPr>
            <p:ph type="ftr" sz="quarter" idx="16"/>
          </p:nvPr>
        </p:nvSpPr>
        <p:spPr/>
        <p:txBody>
          <a:bodyPr rtlCol="0"/>
          <a:lstStyle/>
          <a:p>
            <a:r>
              <a:rPr lang="en-US"/>
              <a:t>Mayengo, M. M</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6F5341A6-842F-42FE-BFD9-BA74D678BDAC}" type="datetime1">
              <a:rPr lang="en-US" smtClean="0"/>
              <a:t>11/6/2024</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r>
              <a:rPr lang="en-US"/>
              <a:t>Mayengo, M. M</a:t>
            </a:r>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2B5E18CA-EFC1-4ED8-A974-4BD9A10BFFA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02DF679E-1CF2-4D67-BCE8-034C1D84055C}" type="datetime1">
              <a:rPr lang="en-US" smtClean="0"/>
              <a:t>11/6/2024</a:t>
            </a:fld>
            <a:endParaRPr lang="en-US"/>
          </a:p>
        </p:txBody>
      </p:sp>
      <p:sp>
        <p:nvSpPr>
          <p:cNvPr id="6" name="Footer Placeholder 5"/>
          <p:cNvSpPr>
            <a:spLocks noGrp="1"/>
          </p:cNvSpPr>
          <p:nvPr>
            <p:ph type="ftr" sz="quarter" idx="11"/>
          </p:nvPr>
        </p:nvSpPr>
        <p:spPr/>
        <p:txBody>
          <a:bodyPr/>
          <a:lstStyle/>
          <a:p>
            <a:r>
              <a:rPr lang="en-US"/>
              <a:t>Mayengo, M. M</a:t>
            </a:r>
          </a:p>
        </p:txBody>
      </p:sp>
      <p:sp>
        <p:nvSpPr>
          <p:cNvPr id="7" name="Slide Number Placeholder 6"/>
          <p:cNvSpPr>
            <a:spLocks noGrp="1"/>
          </p:cNvSpPr>
          <p:nvPr>
            <p:ph type="sldNum" sz="quarter" idx="12"/>
          </p:nvPr>
        </p:nvSpPr>
        <p:spPr/>
        <p:txBody>
          <a:bodyPr/>
          <a:lstStyle/>
          <a:p>
            <a:fld id="{2B5E18CA-EFC1-4ED8-A974-4BD9A10BFFAB}"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E2DCDCFF-7344-4835-BD4B-932D08BBE486}" type="datetime1">
              <a:rPr lang="en-US" smtClean="0"/>
              <a:t>11/6/2024</a:t>
            </a:fld>
            <a:endParaRPr lang="en-US"/>
          </a:p>
        </p:txBody>
      </p:sp>
      <p:sp>
        <p:nvSpPr>
          <p:cNvPr id="8" name="Footer Placeholder 7"/>
          <p:cNvSpPr>
            <a:spLocks noGrp="1"/>
          </p:cNvSpPr>
          <p:nvPr>
            <p:ph type="ftr" sz="quarter" idx="11"/>
          </p:nvPr>
        </p:nvSpPr>
        <p:spPr/>
        <p:txBody>
          <a:bodyPr/>
          <a:lstStyle/>
          <a:p>
            <a:r>
              <a:rPr lang="en-US"/>
              <a:t>Mayengo, M. M</a:t>
            </a:r>
          </a:p>
        </p:txBody>
      </p:sp>
      <p:sp>
        <p:nvSpPr>
          <p:cNvPr id="9" name="Slide Number Placeholder 8"/>
          <p:cNvSpPr>
            <a:spLocks noGrp="1"/>
          </p:cNvSpPr>
          <p:nvPr>
            <p:ph type="sldNum" sz="quarter" idx="12"/>
          </p:nvPr>
        </p:nvSpPr>
        <p:spPr/>
        <p:txBody>
          <a:bodyPr/>
          <a:lstStyle/>
          <a:p>
            <a:fld id="{2B5E18CA-EFC1-4ED8-A974-4BD9A10BFFAB}"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EE6A464C-4852-4E3E-B23C-6C0B80D28829}" type="datetime1">
              <a:rPr lang="en-US" smtClean="0"/>
              <a:t>11/6/2024</a:t>
            </a:fld>
            <a:endParaRPr lang="en-US"/>
          </a:p>
        </p:txBody>
      </p:sp>
      <p:sp>
        <p:nvSpPr>
          <p:cNvPr id="7" name="Slide Number Placeholder 6"/>
          <p:cNvSpPr>
            <a:spLocks noGrp="1"/>
          </p:cNvSpPr>
          <p:nvPr>
            <p:ph type="sldNum" sz="quarter" idx="11"/>
          </p:nvPr>
        </p:nvSpPr>
        <p:spPr/>
        <p:txBody>
          <a:bodyPr rtlCol="0"/>
          <a:lstStyle/>
          <a:p>
            <a:fld id="{2B5E18CA-EFC1-4ED8-A974-4BD9A10BFFAB}" type="slidenum">
              <a:rPr lang="en-US" smtClean="0"/>
              <a:t>‹#›</a:t>
            </a:fld>
            <a:endParaRPr lang="en-US"/>
          </a:p>
        </p:txBody>
      </p:sp>
      <p:sp>
        <p:nvSpPr>
          <p:cNvPr id="8" name="Footer Placeholder 7"/>
          <p:cNvSpPr>
            <a:spLocks noGrp="1"/>
          </p:cNvSpPr>
          <p:nvPr>
            <p:ph type="ftr" sz="quarter" idx="12"/>
          </p:nvPr>
        </p:nvSpPr>
        <p:spPr/>
        <p:txBody>
          <a:bodyPr rtlCol="0"/>
          <a:lstStyle/>
          <a:p>
            <a:r>
              <a:rPr lang="en-US"/>
              <a:t>Mayengo, M. M</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87ACD4-7768-4B7D-8698-C9942B2C6C2B}" type="datetime1">
              <a:rPr lang="en-US" smtClean="0"/>
              <a:t>11/6/2024</a:t>
            </a:fld>
            <a:endParaRPr lang="en-US"/>
          </a:p>
        </p:txBody>
      </p:sp>
      <p:sp>
        <p:nvSpPr>
          <p:cNvPr id="3" name="Footer Placeholder 2"/>
          <p:cNvSpPr>
            <a:spLocks noGrp="1"/>
          </p:cNvSpPr>
          <p:nvPr>
            <p:ph type="ftr" sz="quarter" idx="11"/>
          </p:nvPr>
        </p:nvSpPr>
        <p:spPr/>
        <p:txBody>
          <a:bodyPr/>
          <a:lstStyle/>
          <a:p>
            <a:r>
              <a:rPr lang="en-US"/>
              <a:t>Mayengo, M. M</a:t>
            </a:r>
          </a:p>
        </p:txBody>
      </p:sp>
      <p:sp>
        <p:nvSpPr>
          <p:cNvPr id="4" name="Slide Number Placeholder 3"/>
          <p:cNvSpPr>
            <a:spLocks noGrp="1"/>
          </p:cNvSpPr>
          <p:nvPr>
            <p:ph type="sldNum" sz="quarter" idx="12"/>
          </p:nvPr>
        </p:nvSpPr>
        <p:spPr/>
        <p:txBody>
          <a:bodyPr/>
          <a:lstStyle/>
          <a:p>
            <a:fld id="{2B5E18CA-EFC1-4ED8-A974-4BD9A10BFFA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5930FF1B-C420-49AB-A7D5-59FFE069BE17}" type="datetime1">
              <a:rPr lang="en-US" smtClean="0"/>
              <a:t>11/6/2024</a:t>
            </a:fld>
            <a:endParaRPr lang="en-US"/>
          </a:p>
        </p:txBody>
      </p:sp>
      <p:sp>
        <p:nvSpPr>
          <p:cNvPr id="22" name="Slide Number Placeholder 21"/>
          <p:cNvSpPr>
            <a:spLocks noGrp="1"/>
          </p:cNvSpPr>
          <p:nvPr>
            <p:ph type="sldNum" sz="quarter" idx="15"/>
          </p:nvPr>
        </p:nvSpPr>
        <p:spPr/>
        <p:txBody>
          <a:bodyPr rtlCol="0"/>
          <a:lstStyle/>
          <a:p>
            <a:fld id="{2B5E18CA-EFC1-4ED8-A974-4BD9A10BFFAB}" type="slidenum">
              <a:rPr lang="en-US" smtClean="0"/>
              <a:t>‹#›</a:t>
            </a:fld>
            <a:endParaRPr lang="en-US"/>
          </a:p>
        </p:txBody>
      </p:sp>
      <p:sp>
        <p:nvSpPr>
          <p:cNvPr id="23" name="Footer Placeholder 22"/>
          <p:cNvSpPr>
            <a:spLocks noGrp="1"/>
          </p:cNvSpPr>
          <p:nvPr>
            <p:ph type="ftr" sz="quarter" idx="16"/>
          </p:nvPr>
        </p:nvSpPr>
        <p:spPr/>
        <p:txBody>
          <a:bodyPr rtlCol="0"/>
          <a:lstStyle/>
          <a:p>
            <a:r>
              <a:rPr lang="en-US"/>
              <a:t>Mayengo, M. M</a:t>
            </a: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86F1199E-46E1-412A-BF13-B078CE49133A}" type="datetime1">
              <a:rPr lang="en-US" smtClean="0"/>
              <a:t>11/6/2024</a:t>
            </a:fld>
            <a:endParaRPr lang="en-US"/>
          </a:p>
        </p:txBody>
      </p:sp>
      <p:sp>
        <p:nvSpPr>
          <p:cNvPr id="18" name="Slide Number Placeholder 17"/>
          <p:cNvSpPr>
            <a:spLocks noGrp="1"/>
          </p:cNvSpPr>
          <p:nvPr>
            <p:ph type="sldNum" sz="quarter" idx="11"/>
          </p:nvPr>
        </p:nvSpPr>
        <p:spPr/>
        <p:txBody>
          <a:bodyPr rtlCol="0"/>
          <a:lstStyle/>
          <a:p>
            <a:fld id="{2B5E18CA-EFC1-4ED8-A974-4BD9A10BFFAB}" type="slidenum">
              <a:rPr lang="en-US" smtClean="0"/>
              <a:t>‹#›</a:t>
            </a:fld>
            <a:endParaRPr lang="en-US"/>
          </a:p>
        </p:txBody>
      </p:sp>
      <p:sp>
        <p:nvSpPr>
          <p:cNvPr id="21" name="Footer Placeholder 20"/>
          <p:cNvSpPr>
            <a:spLocks noGrp="1"/>
          </p:cNvSpPr>
          <p:nvPr>
            <p:ph type="ftr" sz="quarter" idx="12"/>
          </p:nvPr>
        </p:nvSpPr>
        <p:spPr/>
        <p:txBody>
          <a:bodyPr rtlCol="0"/>
          <a:lstStyle/>
          <a:p>
            <a:r>
              <a:rPr lang="en-US"/>
              <a:t>Mayengo, M. 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DF1FA9E-815C-4E14-99AB-AE44C07B2D13}" type="datetime1">
              <a:rPr lang="en-US" smtClean="0"/>
              <a:t>11/6/2024</a:t>
            </a:fld>
            <a:endParaRPr lang="en-US"/>
          </a:p>
        </p:txBody>
      </p:sp>
      <p:sp>
        <p:nvSpPr>
          <p:cNvPr id="5" name="Footer Placeholder 4"/>
          <p:cNvSpPr>
            <a:spLocks noGrp="1"/>
          </p:cNvSpPr>
          <p:nvPr>
            <p:ph type="ftr" sz="quarter" idx="11"/>
          </p:nvPr>
        </p:nvSpPr>
        <p:spPr/>
        <p:txBody>
          <a:bodyPr/>
          <a:lstStyle/>
          <a:p>
            <a:r>
              <a:rPr lang="en-US"/>
              <a:t>Mayengo, M. M</a:t>
            </a:r>
          </a:p>
        </p:txBody>
      </p:sp>
      <p:sp>
        <p:nvSpPr>
          <p:cNvPr id="6" name="Slide Number Placeholder 5"/>
          <p:cNvSpPr>
            <a:spLocks noGrp="1"/>
          </p:cNvSpPr>
          <p:nvPr>
            <p:ph type="sldNum" sz="quarter" idx="12"/>
          </p:nvPr>
        </p:nvSpPr>
        <p:spPr/>
        <p:txBody>
          <a:bodyPr/>
          <a:lstStyle/>
          <a:p>
            <a:fld id="{2B5E18CA-EFC1-4ED8-A974-4BD9A10BFFA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B8BD117-ECE0-4107-A276-A89C40F6B15F}" type="datetime1">
              <a:rPr lang="en-US" smtClean="0"/>
              <a:t>11/6/2024</a:t>
            </a:fld>
            <a:endParaRPr lang="en-US"/>
          </a:p>
        </p:txBody>
      </p:sp>
      <p:sp>
        <p:nvSpPr>
          <p:cNvPr id="5" name="Footer Placeholder 4"/>
          <p:cNvSpPr>
            <a:spLocks noGrp="1"/>
          </p:cNvSpPr>
          <p:nvPr>
            <p:ph type="ftr" sz="quarter" idx="11"/>
          </p:nvPr>
        </p:nvSpPr>
        <p:spPr/>
        <p:txBody>
          <a:bodyPr/>
          <a:lstStyle/>
          <a:p>
            <a:r>
              <a:rPr lang="en-US"/>
              <a:t>Mayengo, M. M</a:t>
            </a:r>
          </a:p>
        </p:txBody>
      </p:sp>
      <p:sp>
        <p:nvSpPr>
          <p:cNvPr id="6" name="Slide Number Placeholder 5"/>
          <p:cNvSpPr>
            <a:spLocks noGrp="1"/>
          </p:cNvSpPr>
          <p:nvPr>
            <p:ph type="sldNum" sz="quarter" idx="12"/>
          </p:nvPr>
        </p:nvSpPr>
        <p:spPr/>
        <p:txBody>
          <a:bodyPr/>
          <a:lstStyle/>
          <a:p>
            <a:fld id="{2B5E18CA-EFC1-4ED8-A974-4BD9A10BFFA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3CFBFA7D-B429-4F68-BB67-D95A15A11328}" type="datetime1">
              <a:rPr lang="en-US" smtClean="0"/>
              <a:t>11/6/2024</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r>
              <a:rPr lang="en-US"/>
              <a:t>Mayengo, M. M</a:t>
            </a:r>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2B5E18CA-EFC1-4ED8-A974-4BD9A10BFFA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hf hd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9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3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TN 111: Introduction to Discrete Mathematics</a:t>
            </a:r>
          </a:p>
        </p:txBody>
      </p:sp>
      <p:sp>
        <p:nvSpPr>
          <p:cNvPr id="3" name="Subtitle 2"/>
          <p:cNvSpPr>
            <a:spLocks noGrp="1"/>
          </p:cNvSpPr>
          <p:nvPr>
            <p:ph type="subTitle" idx="1"/>
          </p:nvPr>
        </p:nvSpPr>
        <p:spPr/>
        <p:txBody>
          <a:bodyPr>
            <a:normAutofit/>
          </a:bodyPr>
          <a:lstStyle/>
          <a:p>
            <a:r>
              <a:rPr lang="en-US" dirty="0"/>
              <a:t>Instructor:  Mr. Paschal Charles</a:t>
            </a:r>
          </a:p>
          <a:p>
            <a:r>
              <a:rPr lang="en-US" dirty="0"/>
              <a:t>Assistant Lecturer</a:t>
            </a:r>
          </a:p>
          <a:p>
            <a:r>
              <a:rPr lang="en-US" dirty="0"/>
              <a:t>Office No. AB11 (Administration Block)</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358131"/>
            <a:ext cx="1627909" cy="1537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0430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92500"/>
              </a:bodyPr>
              <a:lstStyle/>
              <a:p>
                <a:pPr marL="0" indent="0" algn="just">
                  <a:buNone/>
                </a:pPr>
                <a:r>
                  <a:rPr lang="en-US" u="sng" dirty="0">
                    <a:solidFill>
                      <a:srgbClr val="FF0000"/>
                    </a:solidFill>
                    <a:effectLst>
                      <a:outerShdw blurRad="38100" dist="38100" dir="2700000" algn="tl">
                        <a:srgbClr val="000000">
                          <a:alpha val="43137"/>
                        </a:srgbClr>
                      </a:outerShdw>
                    </a:effectLst>
                  </a:rPr>
                  <a:t>Propositional Logic</a:t>
                </a:r>
              </a:p>
              <a:p>
                <a:pPr marL="0" indent="0" algn="just">
                  <a:buNone/>
                </a:pPr>
                <a:r>
                  <a:rPr lang="en-US" u="sng" dirty="0" err="1">
                    <a:effectLst>
                      <a:outerShdw blurRad="38100" dist="38100" dir="2700000" algn="tl">
                        <a:srgbClr val="000000">
                          <a:alpha val="43137"/>
                        </a:srgbClr>
                      </a:outerShdw>
                    </a:effectLst>
                  </a:rPr>
                  <a:t>Proposions</a:t>
                </a:r>
                <a:endParaRPr lang="en-US" u="sng" dirty="0">
                  <a:effectLst>
                    <a:outerShdw blurRad="38100" dist="38100" dir="2700000" algn="tl">
                      <a:srgbClr val="000000">
                        <a:alpha val="43137"/>
                      </a:srgbClr>
                    </a:outerShdw>
                  </a:effectLst>
                </a:endParaRPr>
              </a:p>
              <a:p>
                <a:pPr algn="just"/>
                <a:r>
                  <a:rPr lang="en-US" dirty="0"/>
                  <a:t>This is a declarative sentence (</a:t>
                </a:r>
                <a:r>
                  <a:rPr lang="en-US" dirty="0" err="1"/>
                  <a:t>i.e</a:t>
                </a:r>
                <a:r>
                  <a:rPr lang="en-US" dirty="0"/>
                  <a:t> a sentence that declares a fact) that is either TRUE or FALSE, but not both.</a:t>
                </a:r>
              </a:p>
              <a:p>
                <a:pPr marL="0" indent="0" algn="just">
                  <a:buNone/>
                </a:pPr>
                <a:endParaRPr lang="en-US" dirty="0"/>
              </a:p>
              <a:p>
                <a:pPr marL="0" indent="0" algn="just">
                  <a:buNone/>
                </a:pPr>
                <a:r>
                  <a:rPr lang="en-US" b="1" u="sng" dirty="0"/>
                  <a:t>Example 1.</a:t>
                </a:r>
              </a:p>
              <a:p>
                <a:pPr marL="0" indent="0" algn="just">
                  <a:buNone/>
                </a:pPr>
                <a:r>
                  <a:rPr lang="en-US" dirty="0"/>
                  <a:t>All the following declarative sentences are propositions.</a:t>
                </a:r>
              </a:p>
              <a:p>
                <a:pPr marL="514350" indent="-514350" algn="just">
                  <a:buFont typeface="+mj-lt"/>
                  <a:buAutoNum type="arabicPeriod"/>
                </a:pPr>
                <a:r>
                  <a:rPr lang="en-US" dirty="0"/>
                  <a:t>Washington, DC., is the capital of the U.S.A</a:t>
                </a:r>
              </a:p>
              <a:p>
                <a:pPr marL="514350" indent="-514350" algn="just">
                  <a:buFont typeface="+mj-lt"/>
                  <a:buAutoNum type="arabicPeriod"/>
                </a:pPr>
                <a:r>
                  <a:rPr lang="en-US" dirty="0"/>
                  <a:t>Arusha is the capital of Tanzania</a:t>
                </a:r>
              </a:p>
              <a:p>
                <a:pPr marL="514350" indent="-514350" algn="just">
                  <a:buFont typeface="+mj-lt"/>
                  <a:buAutoNum type="arabicPeriod"/>
                </a:pPr>
                <a:r>
                  <a:rPr lang="en-US" dirty="0"/>
                  <a:t> </a:t>
                </a:r>
                <a14:m>
                  <m:oMath xmlns:m="http://schemas.openxmlformats.org/officeDocument/2006/math">
                    <m:r>
                      <a:rPr lang="en-US" i="1" dirty="0">
                        <a:latin typeface="Cambria Math"/>
                      </a:rPr>
                      <m:t>1+2=3</m:t>
                    </m:r>
                  </m:oMath>
                </a14:m>
                <a:endParaRPr lang="en-US" dirty="0"/>
              </a:p>
              <a:p>
                <a:pPr marL="514350" indent="-514350" algn="just">
                  <a:buFont typeface="+mj-lt"/>
                  <a:buAutoNum type="arabicPeriod"/>
                </a:pPr>
                <a:r>
                  <a:rPr lang="en-US" dirty="0"/>
                  <a:t> </a:t>
                </a:r>
                <a14:m>
                  <m:oMath xmlns:m="http://schemas.openxmlformats.org/officeDocument/2006/math">
                    <m:r>
                      <a:rPr lang="en-US" i="1" dirty="0">
                        <a:latin typeface="Cambria Math"/>
                      </a:rPr>
                      <m:t>2+3=6</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061" t="-876" r="-1061"/>
                </a:stretch>
              </a:blipFill>
            </p:spPr>
            <p:txBody>
              <a:bodyPr/>
              <a:lstStyle/>
              <a:p>
                <a:r>
                  <a:rPr lang="en-US">
                    <a:noFill/>
                  </a:rPr>
                  <a:t> </a:t>
                </a:r>
              </a:p>
            </p:txBody>
          </p:sp>
        </mc:Fallback>
      </mc:AlternateContent>
      <p:pic>
        <p:nvPicPr>
          <p:cNvPr id="2050"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7696200" y="7927483"/>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15"/>
          </p:nvPr>
        </p:nvSpPr>
        <p:spPr/>
        <p:txBody>
          <a:bodyPr/>
          <a:lstStyle/>
          <a:p>
            <a:fld id="{2B5E18CA-EFC1-4ED8-A974-4BD9A10BFFAB}" type="slidenum">
              <a:rPr lang="en-US" smtClean="0"/>
              <a:t>2</a:t>
            </a:fld>
            <a:endParaRPr lang="en-US"/>
          </a:p>
        </p:txBody>
      </p:sp>
      <p:pic>
        <p:nvPicPr>
          <p:cNvPr id="8"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0935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pPr marL="0" indent="0" algn="just">
                  <a:buNone/>
                </a:pPr>
                <a:r>
                  <a:rPr lang="en-US" b="1" u="sng" dirty="0"/>
                  <a:t>…Example 1.</a:t>
                </a:r>
              </a:p>
              <a:p>
                <a:pPr marL="0" indent="0" algn="just">
                  <a:buNone/>
                </a:pPr>
                <a:r>
                  <a:rPr lang="en-US" dirty="0"/>
                  <a:t>Proposition 1 and 3 are </a:t>
                </a:r>
                <a:r>
                  <a:rPr lang="en-US" u="sng" dirty="0"/>
                  <a:t>TRUE</a:t>
                </a:r>
                <a:r>
                  <a:rPr lang="en-US" dirty="0"/>
                  <a:t>, whereas 2 and 4 are </a:t>
                </a:r>
                <a:r>
                  <a:rPr lang="en-US" u="sng" dirty="0"/>
                  <a:t>FALSE.</a:t>
                </a:r>
                <a:endParaRPr lang="en-US" dirty="0"/>
              </a:p>
              <a:p>
                <a:pPr marL="0" indent="0" algn="just">
                  <a:buNone/>
                </a:pPr>
                <a:endParaRPr lang="en-US" u="sng" dirty="0"/>
              </a:p>
              <a:p>
                <a:pPr marL="0" indent="0" algn="just">
                  <a:buNone/>
                </a:pPr>
                <a:r>
                  <a:rPr lang="en-US" b="1" u="sng" dirty="0"/>
                  <a:t>Example 2.</a:t>
                </a:r>
              </a:p>
              <a:p>
                <a:pPr marL="514350" indent="-514350" algn="just">
                  <a:buFont typeface="+mj-lt"/>
                  <a:buAutoNum type="arabicPeriod"/>
                </a:pPr>
                <a:r>
                  <a:rPr lang="en-US" dirty="0"/>
                  <a:t>What time is it?</a:t>
                </a:r>
              </a:p>
              <a:p>
                <a:pPr marL="514350" indent="-514350" algn="just">
                  <a:buFont typeface="+mj-lt"/>
                  <a:buAutoNum type="arabicPeriod"/>
                </a:pPr>
                <a:r>
                  <a:rPr lang="en-US" dirty="0"/>
                  <a:t>Read this carefully.</a:t>
                </a:r>
                <a:endParaRPr lang="en-US" u="sng" dirty="0"/>
              </a:p>
              <a:p>
                <a:pPr marL="514350" indent="-514350" algn="just">
                  <a:buFont typeface="+mj-lt"/>
                  <a:buAutoNum type="arabicPeriod"/>
                </a:pPr>
                <a:r>
                  <a:rPr lang="en-US" dirty="0"/>
                  <a:t> </a:t>
                </a:r>
                <a14:m>
                  <m:oMath xmlns:m="http://schemas.openxmlformats.org/officeDocument/2006/math">
                    <m:r>
                      <a:rPr lang="en-US" i="1">
                        <a:latin typeface="Cambria Math"/>
                      </a:rPr>
                      <m:t>𝑥</m:t>
                    </m:r>
                    <m:r>
                      <a:rPr lang="en-US" i="1">
                        <a:latin typeface="Cambria Math"/>
                      </a:rPr>
                      <m:t>+1=2</m:t>
                    </m:r>
                  </m:oMath>
                </a14:m>
                <a:endParaRPr lang="en-US" dirty="0"/>
              </a:p>
              <a:p>
                <a:pPr marL="514350" indent="-514350" algn="just">
                  <a:buFont typeface="+mj-lt"/>
                  <a:buAutoNum type="arabicPeriod"/>
                </a:pPr>
                <a:r>
                  <a:rPr lang="en-US" dirty="0"/>
                  <a:t> </a:t>
                </a:r>
                <a14:m>
                  <m:oMath xmlns:m="http://schemas.openxmlformats.org/officeDocument/2006/math">
                    <m:r>
                      <a:rPr lang="en-US" i="1">
                        <a:latin typeface="Cambria Math"/>
                      </a:rPr>
                      <m:t>𝑥</m:t>
                    </m:r>
                    <m:r>
                      <a:rPr lang="en-US" i="1">
                        <a:latin typeface="Cambria Math"/>
                      </a:rPr>
                      <m:t>+</m:t>
                    </m:r>
                    <m:r>
                      <a:rPr lang="en-US" i="1">
                        <a:latin typeface="Cambria Math"/>
                      </a:rPr>
                      <m:t>𝑦</m:t>
                    </m:r>
                    <m:r>
                      <a:rPr lang="en-US" i="1">
                        <a:latin typeface="Cambria Math"/>
                      </a:rPr>
                      <m:t>=</m:t>
                    </m:r>
                    <m:r>
                      <a:rPr lang="en-US" i="1">
                        <a:latin typeface="Cambria Math"/>
                      </a:rPr>
                      <m:t>𝑧</m:t>
                    </m:r>
                  </m:oMath>
                </a14:m>
                <a:endParaRPr lang="en-US" dirty="0"/>
              </a:p>
              <a:p>
                <a:pPr marL="0" indent="0" algn="just">
                  <a:buNone/>
                </a:pPr>
                <a:r>
                  <a:rPr lang="en-US" dirty="0"/>
                  <a:t>Sentences 1 and 2 are </a:t>
                </a:r>
                <a:r>
                  <a:rPr lang="en-US" b="1" dirty="0"/>
                  <a:t>NOT</a:t>
                </a:r>
                <a:r>
                  <a:rPr lang="en-US" dirty="0"/>
                  <a:t> </a:t>
                </a:r>
                <a:r>
                  <a:rPr lang="en-US" u="sng" dirty="0"/>
                  <a:t>propositions</a:t>
                </a:r>
                <a:r>
                  <a:rPr lang="en-US" dirty="0"/>
                  <a:t> because they are </a:t>
                </a:r>
                <a:r>
                  <a:rPr lang="en-US" b="1" dirty="0"/>
                  <a:t>NOT</a:t>
                </a:r>
                <a:r>
                  <a:rPr lang="en-US" dirty="0"/>
                  <a:t> declarative sentences</a:t>
                </a:r>
              </a:p>
              <a:p>
                <a:pPr marL="0" indent="0" algn="just">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224" t="-1001" r="-1224"/>
                </a:stretch>
              </a:blipFill>
            </p:spPr>
            <p:txBody>
              <a:bodyPr/>
              <a:lstStyle/>
              <a:p>
                <a:r>
                  <a:rPr lang="en-US">
                    <a:noFill/>
                  </a:rPr>
                  <a:t> </a:t>
                </a:r>
              </a:p>
            </p:txBody>
          </p:sp>
        </mc:Fallback>
      </mc:AlternateContent>
      <p:sp>
        <p:nvSpPr>
          <p:cNvPr id="5" name="Slide Number Placeholder 4"/>
          <p:cNvSpPr>
            <a:spLocks noGrp="1"/>
          </p:cNvSpPr>
          <p:nvPr>
            <p:ph type="sldNum" sz="quarter" idx="15"/>
          </p:nvPr>
        </p:nvSpPr>
        <p:spPr/>
        <p:txBody>
          <a:bodyPr/>
          <a:lstStyle/>
          <a:p>
            <a:fld id="{2B5E18CA-EFC1-4ED8-A974-4BD9A10BFFAB}" type="slidenum">
              <a:rPr lang="en-US" smtClean="0"/>
              <a:t>3</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566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circle(in)">
                                      <p:cBhvr>
                                        <p:cTn id="29"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pPr marL="0" indent="0" algn="just">
                  <a:buNone/>
                </a:pPr>
                <a:r>
                  <a:rPr lang="en-US" b="1" u="sng" dirty="0"/>
                  <a:t>…Example 2.</a:t>
                </a:r>
              </a:p>
              <a:p>
                <a:pPr marL="514350" indent="-514350" algn="just">
                  <a:buFont typeface="+mj-lt"/>
                  <a:buAutoNum type="arabicPeriod"/>
                </a:pPr>
                <a:r>
                  <a:rPr lang="en-US" dirty="0"/>
                  <a:t>What time is it?</a:t>
                </a:r>
              </a:p>
              <a:p>
                <a:pPr marL="514350" indent="-514350" algn="just">
                  <a:buFont typeface="+mj-lt"/>
                  <a:buAutoNum type="arabicPeriod"/>
                </a:pPr>
                <a:r>
                  <a:rPr lang="en-US" dirty="0"/>
                  <a:t>Read this carefully.</a:t>
                </a:r>
                <a:endParaRPr lang="en-US" u="sng" dirty="0"/>
              </a:p>
              <a:p>
                <a:pPr marL="514350" indent="-514350" algn="just">
                  <a:buFont typeface="+mj-lt"/>
                  <a:buAutoNum type="arabicPeriod"/>
                </a:pPr>
                <a:r>
                  <a:rPr lang="en-US" dirty="0"/>
                  <a:t> </a:t>
                </a:r>
                <a14:m>
                  <m:oMath xmlns:m="http://schemas.openxmlformats.org/officeDocument/2006/math">
                    <m:r>
                      <a:rPr lang="en-US" b="0" i="1" smtClean="0">
                        <a:latin typeface="Cambria Math"/>
                      </a:rPr>
                      <m:t>𝑥</m:t>
                    </m:r>
                    <m:r>
                      <a:rPr lang="en-US" b="0" i="1" smtClean="0">
                        <a:latin typeface="Cambria Math"/>
                      </a:rPr>
                      <m:t>+1=2</m:t>
                    </m:r>
                  </m:oMath>
                </a14:m>
                <a:endParaRPr lang="en-US" b="0" dirty="0"/>
              </a:p>
              <a:p>
                <a:pPr marL="514350" indent="-514350" algn="just">
                  <a:buFont typeface="+mj-lt"/>
                  <a:buAutoNum type="arabicPeriod"/>
                </a:pPr>
                <a:r>
                  <a:rPr lang="en-US" dirty="0"/>
                  <a:t> </a:t>
                </a:r>
                <a14:m>
                  <m:oMath xmlns:m="http://schemas.openxmlformats.org/officeDocument/2006/math">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r>
                      <a:rPr lang="en-US" b="0" i="1" smtClean="0">
                        <a:latin typeface="Cambria Math"/>
                      </a:rPr>
                      <m:t>𝑧</m:t>
                    </m:r>
                  </m:oMath>
                </a14:m>
                <a:endParaRPr lang="en-US" dirty="0"/>
              </a:p>
              <a:p>
                <a:pPr marL="0" indent="0" algn="just">
                  <a:buNone/>
                </a:pPr>
                <a:r>
                  <a:rPr lang="en-US" dirty="0"/>
                  <a:t>Sentences 3 and 4 are not </a:t>
                </a:r>
                <a:r>
                  <a:rPr lang="en-US" u="sng" dirty="0"/>
                  <a:t>propositions</a:t>
                </a:r>
                <a:r>
                  <a:rPr lang="en-US" dirty="0"/>
                  <a:t> because they are neither </a:t>
                </a:r>
                <a:r>
                  <a:rPr lang="en-US" u="sng" dirty="0"/>
                  <a:t>TRUE</a:t>
                </a:r>
                <a:r>
                  <a:rPr lang="en-US" dirty="0"/>
                  <a:t> nor </a:t>
                </a:r>
                <a:r>
                  <a:rPr lang="en-US" u="sng" dirty="0"/>
                  <a:t>FALSE.</a:t>
                </a:r>
                <a:r>
                  <a:rPr lang="en-US" dirty="0"/>
                  <a:t> </a:t>
                </a:r>
              </a:p>
              <a:p>
                <a:pPr marL="0" indent="0" algn="just">
                  <a:buNone/>
                </a:pPr>
                <a:endParaRPr lang="en-US" dirty="0"/>
              </a:p>
              <a:p>
                <a:pPr marL="0" indent="0" algn="just">
                  <a:buNone/>
                </a:pPr>
                <a:r>
                  <a:rPr lang="en-US" b="1" dirty="0">
                    <a:solidFill>
                      <a:srgbClr val="FF0000"/>
                    </a:solidFill>
                  </a:rPr>
                  <a:t>NOTE</a:t>
                </a:r>
                <a:r>
                  <a:rPr lang="en-US" dirty="0"/>
                  <a:t>: Sentence 3 and 4 can be turned into proposition if we assign the values to the variables.</a:t>
                </a:r>
              </a:p>
              <a:p>
                <a:pPr marL="0" indent="0" algn="just">
                  <a:buNone/>
                </a:pPr>
                <a:endParaRPr lang="en-US" dirty="0"/>
              </a:p>
              <a:p>
                <a:pPr marL="0" indent="0" algn="just">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224" t="-1001" r="-1224"/>
                </a:stretch>
              </a:blipFill>
            </p:spPr>
            <p:txBody>
              <a:bodyPr/>
              <a:lstStyle/>
              <a:p>
                <a:r>
                  <a:rPr lang="en-US">
                    <a:noFill/>
                  </a:rPr>
                  <a:t> </a:t>
                </a:r>
              </a:p>
            </p:txBody>
          </p:sp>
        </mc:Fallback>
      </mc:AlternateContent>
      <p:sp>
        <p:nvSpPr>
          <p:cNvPr id="5" name="Slide Number Placeholder 4"/>
          <p:cNvSpPr>
            <a:spLocks noGrp="1"/>
          </p:cNvSpPr>
          <p:nvPr>
            <p:ph type="sldNum" sz="quarter" idx="15"/>
          </p:nvPr>
        </p:nvSpPr>
        <p:spPr/>
        <p:txBody>
          <a:bodyPr/>
          <a:lstStyle/>
          <a:p>
            <a:fld id="{2B5E18CA-EFC1-4ED8-A974-4BD9A10BFFAB}" type="slidenum">
              <a:rPr lang="en-US" smtClean="0"/>
              <a:t>4</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71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80">
                                          <p:stCondLst>
                                            <p:cond delay="0"/>
                                          </p:stCondLst>
                                        </p:cTn>
                                        <p:tgtEl>
                                          <p:spTgt spid="3">
                                            <p:txEl>
                                              <p:pRg st="7" end="7"/>
                                            </p:txEl>
                                          </p:spTgt>
                                        </p:tgtEl>
                                      </p:cBhvr>
                                    </p:animEffect>
                                    <p:anim calcmode="lin" valueType="num">
                                      <p:cBhvr>
                                        <p:cTn id="14"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7" end="7"/>
                                            </p:txEl>
                                          </p:spTgt>
                                        </p:tgtEl>
                                      </p:cBhvr>
                                      <p:to x="100000" y="60000"/>
                                    </p:animScale>
                                    <p:animScale>
                                      <p:cBhvr>
                                        <p:cTn id="20" dur="166" decel="50000">
                                          <p:stCondLst>
                                            <p:cond delay="676"/>
                                          </p:stCondLst>
                                        </p:cTn>
                                        <p:tgtEl>
                                          <p:spTgt spid="3">
                                            <p:txEl>
                                              <p:pRg st="7" end="7"/>
                                            </p:txEl>
                                          </p:spTgt>
                                        </p:tgtEl>
                                      </p:cBhvr>
                                      <p:to x="100000" y="100000"/>
                                    </p:animScale>
                                    <p:animScale>
                                      <p:cBhvr>
                                        <p:cTn id="21" dur="26">
                                          <p:stCondLst>
                                            <p:cond delay="1312"/>
                                          </p:stCondLst>
                                        </p:cTn>
                                        <p:tgtEl>
                                          <p:spTgt spid="3">
                                            <p:txEl>
                                              <p:pRg st="7" end="7"/>
                                            </p:txEl>
                                          </p:spTgt>
                                        </p:tgtEl>
                                      </p:cBhvr>
                                      <p:to x="100000" y="80000"/>
                                    </p:animScale>
                                    <p:animScale>
                                      <p:cBhvr>
                                        <p:cTn id="22" dur="166" decel="50000">
                                          <p:stCondLst>
                                            <p:cond delay="1338"/>
                                          </p:stCondLst>
                                        </p:cTn>
                                        <p:tgtEl>
                                          <p:spTgt spid="3">
                                            <p:txEl>
                                              <p:pRg st="7" end="7"/>
                                            </p:txEl>
                                          </p:spTgt>
                                        </p:tgtEl>
                                      </p:cBhvr>
                                      <p:to x="100000" y="100000"/>
                                    </p:animScale>
                                    <p:animScale>
                                      <p:cBhvr>
                                        <p:cTn id="23" dur="26">
                                          <p:stCondLst>
                                            <p:cond delay="1642"/>
                                          </p:stCondLst>
                                        </p:cTn>
                                        <p:tgtEl>
                                          <p:spTgt spid="3">
                                            <p:txEl>
                                              <p:pRg st="7" end="7"/>
                                            </p:txEl>
                                          </p:spTgt>
                                        </p:tgtEl>
                                      </p:cBhvr>
                                      <p:to x="100000" y="90000"/>
                                    </p:animScale>
                                    <p:animScale>
                                      <p:cBhvr>
                                        <p:cTn id="24" dur="166" decel="50000">
                                          <p:stCondLst>
                                            <p:cond delay="1668"/>
                                          </p:stCondLst>
                                        </p:cTn>
                                        <p:tgtEl>
                                          <p:spTgt spid="3">
                                            <p:txEl>
                                              <p:pRg st="7" end="7"/>
                                            </p:txEl>
                                          </p:spTgt>
                                        </p:tgtEl>
                                      </p:cBhvr>
                                      <p:to x="100000" y="100000"/>
                                    </p:animScale>
                                    <p:animScale>
                                      <p:cBhvr>
                                        <p:cTn id="25" dur="26">
                                          <p:stCondLst>
                                            <p:cond delay="1808"/>
                                          </p:stCondLst>
                                        </p:cTn>
                                        <p:tgtEl>
                                          <p:spTgt spid="3">
                                            <p:txEl>
                                              <p:pRg st="7" end="7"/>
                                            </p:txEl>
                                          </p:spTgt>
                                        </p:tgtEl>
                                      </p:cBhvr>
                                      <p:to x="100000" y="95000"/>
                                    </p:animScale>
                                    <p:animScale>
                                      <p:cBhvr>
                                        <p:cTn id="26"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marL="0" indent="0" algn="just">
                  <a:buNone/>
                </a:pPr>
                <a:r>
                  <a:rPr lang="en-US" b="1" u="sng" dirty="0"/>
                  <a:t>Propositional variables</a:t>
                </a:r>
              </a:p>
              <a:p>
                <a:pPr algn="just"/>
                <a:r>
                  <a:rPr lang="en-US" dirty="0"/>
                  <a:t>The use of letters to represent propositions</a:t>
                </a:r>
              </a:p>
              <a:p>
                <a:pPr algn="just"/>
                <a:r>
                  <a:rPr lang="en-US" dirty="0"/>
                  <a:t>Conventional letters used for propositional variables are </a:t>
                </a:r>
                <a14:m>
                  <m:oMath xmlns:m="http://schemas.openxmlformats.org/officeDocument/2006/math">
                    <m:r>
                      <a:rPr lang="en-US" b="0" i="1" smtClean="0">
                        <a:latin typeface="Cambria Math"/>
                      </a:rPr>
                      <m:t>𝑝</m:t>
                    </m:r>
                    <m:r>
                      <a:rPr lang="en-US" b="0" i="1" smtClean="0">
                        <a:latin typeface="Cambria Math"/>
                      </a:rPr>
                      <m:t>, </m:t>
                    </m:r>
                    <m:r>
                      <a:rPr lang="en-US" b="0" i="1" smtClean="0">
                        <a:latin typeface="Cambria Math"/>
                      </a:rPr>
                      <m:t>𝑞</m:t>
                    </m:r>
                    <m:r>
                      <a:rPr lang="en-US" b="0" i="1" smtClean="0">
                        <a:latin typeface="Cambria Math"/>
                      </a:rPr>
                      <m:t>, </m:t>
                    </m:r>
                    <m:r>
                      <a:rPr lang="en-US" b="0" i="1" smtClean="0">
                        <a:latin typeface="Cambria Math"/>
                      </a:rPr>
                      <m:t>𝑟</m:t>
                    </m:r>
                    <m:r>
                      <a:rPr lang="en-US" b="0" i="1" smtClean="0">
                        <a:latin typeface="Cambria Math"/>
                      </a:rPr>
                      <m:t>, </m:t>
                    </m:r>
                    <m:r>
                      <a:rPr lang="en-US" b="0" i="1" smtClean="0">
                        <a:latin typeface="Cambria Math"/>
                      </a:rPr>
                      <m:t>𝑠</m:t>
                    </m:r>
                    <m:r>
                      <a:rPr lang="en-US" b="0" i="1" smtClean="0">
                        <a:latin typeface="Cambria Math"/>
                      </a:rPr>
                      <m:t>, …</m:t>
                    </m:r>
                  </m:oMath>
                </a14:m>
                <a:r>
                  <a:rPr lang="en-US" dirty="0"/>
                  <a:t> </a:t>
                </a:r>
              </a:p>
              <a:p>
                <a:pPr algn="just"/>
                <a:r>
                  <a:rPr lang="en-US" dirty="0"/>
                  <a:t>The truth value of a proposition is TRUE, is denoted by </a:t>
                </a:r>
                <a14:m>
                  <m:oMath xmlns:m="http://schemas.openxmlformats.org/officeDocument/2006/math">
                    <m:r>
                      <a:rPr lang="en-US" b="0" i="1" smtClean="0">
                        <a:latin typeface="Cambria Math"/>
                      </a:rPr>
                      <m:t>𝑇</m:t>
                    </m:r>
                  </m:oMath>
                </a14:m>
                <a:endParaRPr lang="en-US" b="0" dirty="0"/>
              </a:p>
              <a:p>
                <a:pPr algn="just"/>
                <a:r>
                  <a:rPr lang="en-US" dirty="0"/>
                  <a:t>The truth value of a proposition is FALSE, is denoted by </a:t>
                </a:r>
                <a14:m>
                  <m:oMath xmlns:m="http://schemas.openxmlformats.org/officeDocument/2006/math">
                    <m:r>
                      <a:rPr lang="en-US" b="0" i="1" smtClean="0">
                        <a:latin typeface="Cambria Math"/>
                      </a:rPr>
                      <m:t>𝐹</m:t>
                    </m:r>
                  </m:oMath>
                </a14:m>
                <a:endParaRPr lang="en-US" b="0" dirty="0"/>
              </a:p>
              <a:p>
                <a:pPr algn="just"/>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1752" r="-1852" b="-1348"/>
                </a:stretch>
              </a:blipFill>
            </p:spPr>
            <p:txBody>
              <a:bodyPr/>
              <a:lstStyle/>
              <a:p>
                <a:r>
                  <a:rPr lang="en-US">
                    <a:noFill/>
                  </a:rPr>
                  <a:t> </a:t>
                </a:r>
              </a:p>
            </p:txBody>
          </p:sp>
        </mc:Fallback>
      </mc:AlternateContent>
      <p:sp>
        <p:nvSpPr>
          <p:cNvPr id="5" name="Slide Number Placeholder 4"/>
          <p:cNvSpPr>
            <a:spLocks noGrp="1"/>
          </p:cNvSpPr>
          <p:nvPr>
            <p:ph type="sldNum" sz="quarter" idx="15"/>
          </p:nvPr>
        </p:nvSpPr>
        <p:spPr/>
        <p:txBody>
          <a:bodyPr/>
          <a:lstStyle/>
          <a:p>
            <a:fld id="{2B5E18CA-EFC1-4ED8-A974-4BD9A10BFFAB}" type="slidenum">
              <a:rPr lang="en-US" smtClean="0"/>
              <a:t>5</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3484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457200" y="1447800"/>
                <a:ext cx="7467600" cy="2667000"/>
              </a:xfrm>
            </p:spPr>
            <p:style>
              <a:lnRef idx="1">
                <a:schemeClr val="accent2"/>
              </a:lnRef>
              <a:fillRef idx="2">
                <a:schemeClr val="accent2"/>
              </a:fillRef>
              <a:effectRef idx="1">
                <a:schemeClr val="accent2"/>
              </a:effectRef>
              <a:fontRef idx="minor">
                <a:schemeClr val="dk1"/>
              </a:fontRef>
            </p:style>
            <p:txBody>
              <a:bodyPr>
                <a:normAutofit/>
              </a:bodyPr>
              <a:lstStyle/>
              <a:p>
                <a:pPr marL="0" indent="0">
                  <a:buNone/>
                </a:pPr>
                <a:r>
                  <a:rPr lang="en-US" b="1" u="sng" dirty="0"/>
                  <a:t>Definition 1</a:t>
                </a:r>
              </a:p>
              <a:p>
                <a:pPr marL="0" indent="0" algn="just">
                  <a:buNone/>
                </a:pPr>
                <a:r>
                  <a:rPr lang="en-US" dirty="0"/>
                  <a:t>Let </a:t>
                </a:r>
                <a14:m>
                  <m:oMath xmlns:m="http://schemas.openxmlformats.org/officeDocument/2006/math">
                    <m:r>
                      <a:rPr lang="en-US" b="0" i="1" smtClean="0">
                        <a:latin typeface="Cambria Math"/>
                      </a:rPr>
                      <m:t>𝑝</m:t>
                    </m:r>
                  </m:oMath>
                </a14:m>
                <a:r>
                  <a:rPr lang="en-US" dirty="0"/>
                  <a:t> be a proposition. The </a:t>
                </a:r>
                <a14:m>
                  <m:oMath xmlns:m="http://schemas.openxmlformats.org/officeDocument/2006/math">
                    <m:r>
                      <a:rPr lang="en-US" b="0" i="1" smtClean="0">
                        <a:latin typeface="Cambria Math"/>
                      </a:rPr>
                      <m:t>𝑛𝑒𝑔𝑎𝑡𝑖𝑜𝑛</m:t>
                    </m:r>
                    <m:r>
                      <a:rPr lang="en-US" b="0" i="1" smtClean="0">
                        <a:latin typeface="Cambria Math"/>
                      </a:rPr>
                      <m:t> </m:t>
                    </m:r>
                    <m:r>
                      <a:rPr lang="en-US" b="0" i="1" smtClean="0">
                        <a:latin typeface="Cambria Math"/>
                      </a:rPr>
                      <m:t>𝑜𝑓</m:t>
                    </m:r>
                    <m:r>
                      <a:rPr lang="en-US" b="0" i="1" smtClean="0">
                        <a:latin typeface="Cambria Math"/>
                      </a:rPr>
                      <m:t> </m:t>
                    </m:r>
                    <m:r>
                      <a:rPr lang="en-US" b="0" i="1" smtClean="0">
                        <a:latin typeface="Cambria Math"/>
                      </a:rPr>
                      <m:t>𝑝</m:t>
                    </m:r>
                  </m:oMath>
                </a14:m>
                <a:r>
                  <a:rPr lang="en-US" dirty="0"/>
                  <a:t>, denoted as </a:t>
                </a:r>
                <a14:m>
                  <m:oMath xmlns:m="http://schemas.openxmlformats.org/officeDocument/2006/math">
                    <m:r>
                      <a:rPr lang="en-US" i="1" smtClean="0">
                        <a:latin typeface="Cambria Math"/>
                        <a:ea typeface="Cambria Math"/>
                      </a:rPr>
                      <m:t>~</m:t>
                    </m:r>
                    <m:r>
                      <a:rPr lang="en-US" b="0" i="1" smtClean="0">
                        <a:latin typeface="Cambria Math"/>
                        <a:ea typeface="Cambria Math"/>
                      </a:rPr>
                      <m:t>𝑝</m:t>
                    </m:r>
                  </m:oMath>
                </a14:m>
                <a:r>
                  <a:rPr lang="en-US" dirty="0"/>
                  <a:t>, is the statement “</a:t>
                </a:r>
                <a:r>
                  <a:rPr lang="en-US" dirty="0">
                    <a:solidFill>
                      <a:srgbClr val="FF0000"/>
                    </a:solidFill>
                  </a:rPr>
                  <a:t>it is not the case that </a:t>
                </a:r>
                <a14:m>
                  <m:oMath xmlns:m="http://schemas.openxmlformats.org/officeDocument/2006/math">
                    <m:r>
                      <a:rPr lang="en-US" b="0" i="1" smtClean="0">
                        <a:solidFill>
                          <a:srgbClr val="FF0000"/>
                        </a:solidFill>
                        <a:latin typeface="Cambria Math"/>
                      </a:rPr>
                      <m:t>𝑝</m:t>
                    </m:r>
                  </m:oMath>
                </a14:m>
                <a:r>
                  <a:rPr lang="en-US" dirty="0"/>
                  <a:t>”. The proposition </a:t>
                </a:r>
                <a14:m>
                  <m:oMath xmlns:m="http://schemas.openxmlformats.org/officeDocument/2006/math">
                    <m:r>
                      <a:rPr lang="en-US" i="1" smtClean="0">
                        <a:latin typeface="Cambria Math"/>
                        <a:ea typeface="Cambria Math"/>
                      </a:rPr>
                      <m:t>~</m:t>
                    </m:r>
                    <m:r>
                      <a:rPr lang="en-US" b="0" i="1" smtClean="0">
                        <a:latin typeface="Cambria Math"/>
                        <a:ea typeface="Cambria Math"/>
                      </a:rPr>
                      <m:t>𝑝</m:t>
                    </m:r>
                  </m:oMath>
                </a14:m>
                <a:r>
                  <a:rPr lang="en-US" dirty="0"/>
                  <a:t> is read “</a:t>
                </a:r>
                <a:r>
                  <a:rPr lang="en-US" dirty="0">
                    <a:solidFill>
                      <a:srgbClr val="FF0000"/>
                    </a:solidFill>
                  </a:rPr>
                  <a:t>not </a:t>
                </a:r>
                <a14:m>
                  <m:oMath xmlns:m="http://schemas.openxmlformats.org/officeDocument/2006/math">
                    <m:r>
                      <a:rPr lang="en-US" b="0" i="1" smtClean="0">
                        <a:solidFill>
                          <a:srgbClr val="FF0000"/>
                        </a:solidFill>
                        <a:latin typeface="Cambria Math"/>
                      </a:rPr>
                      <m:t>𝑝</m:t>
                    </m:r>
                    <m:r>
                      <a:rPr lang="en-US" b="0" i="1" smtClean="0">
                        <a:latin typeface="Cambria Math"/>
                      </a:rPr>
                      <m:t>“</m:t>
                    </m:r>
                  </m:oMath>
                </a14:m>
                <a:endParaRPr lang="en-US" b="0" dirty="0"/>
              </a:p>
              <a:p>
                <a:pPr marL="0" indent="0" algn="just">
                  <a:buNone/>
                </a:pPr>
                <a:r>
                  <a:rPr lang="en-US" dirty="0"/>
                  <a:t>The truth value of the negation of </a:t>
                </a:r>
                <a14:m>
                  <m:oMath xmlns:m="http://schemas.openxmlformats.org/officeDocument/2006/math">
                    <m:r>
                      <a:rPr lang="en-US" b="0" i="1" smtClean="0">
                        <a:latin typeface="Cambria Math"/>
                      </a:rPr>
                      <m:t>𝑝</m:t>
                    </m:r>
                  </m:oMath>
                </a14:m>
                <a:r>
                  <a:rPr lang="en-US" dirty="0"/>
                  <a:t>, </a:t>
                </a:r>
                <a14:m>
                  <m:oMath xmlns:m="http://schemas.openxmlformats.org/officeDocument/2006/math">
                    <m:r>
                      <a:rPr lang="en-US" i="1" smtClean="0">
                        <a:latin typeface="Cambria Math"/>
                        <a:ea typeface="Cambria Math"/>
                      </a:rPr>
                      <m:t>~</m:t>
                    </m:r>
                    <m:r>
                      <a:rPr lang="en-US" b="0" i="1" smtClean="0">
                        <a:latin typeface="Cambria Math"/>
                        <a:ea typeface="Cambria Math"/>
                      </a:rPr>
                      <m:t>𝑝</m:t>
                    </m:r>
                  </m:oMath>
                </a14:m>
                <a:r>
                  <a:rPr lang="en-US" dirty="0"/>
                  <a:t>, is the opposite of the truth value of </a:t>
                </a:r>
                <a14:m>
                  <m:oMath xmlns:m="http://schemas.openxmlformats.org/officeDocument/2006/math">
                    <m:r>
                      <a:rPr lang="en-US" b="0" i="1" smtClean="0">
                        <a:latin typeface="Cambria Math"/>
                      </a:rPr>
                      <m:t>𝑝</m:t>
                    </m:r>
                    <m:r>
                      <a:rPr lang="en-US" b="0" i="1" smtClean="0">
                        <a:latin typeface="Cambria Math"/>
                      </a:rPr>
                      <m:t>.</m:t>
                    </m:r>
                  </m:oMath>
                </a14:m>
                <a:endParaRPr lang="en-US" b="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457200" y="1447800"/>
                <a:ext cx="7467600" cy="2667000"/>
              </a:xfrm>
              <a:blipFill rotWithShape="1">
                <a:blip r:embed="rId2"/>
                <a:stretch>
                  <a:fillRect/>
                </a:stretch>
              </a:blipFill>
            </p:spPr>
            <p:txBody>
              <a:bodyPr/>
              <a:lstStyle/>
              <a:p>
                <a:r>
                  <a:rPr lang="en-US">
                    <a:noFill/>
                  </a:rPr>
                  <a:t> </a:t>
                </a:r>
              </a:p>
            </p:txBody>
          </p:sp>
        </mc:Fallback>
      </mc:AlternateContent>
      <p:sp>
        <p:nvSpPr>
          <p:cNvPr id="6" name="TextBox 5"/>
          <p:cNvSpPr txBox="1"/>
          <p:nvPr/>
        </p:nvSpPr>
        <p:spPr>
          <a:xfrm>
            <a:off x="457200" y="4313872"/>
            <a:ext cx="7543800" cy="1477328"/>
          </a:xfrm>
          <a:prstGeom prst="rect">
            <a:avLst/>
          </a:prstGeom>
          <a:noFill/>
        </p:spPr>
        <p:txBody>
          <a:bodyPr wrap="square" rtlCol="0">
            <a:spAutoFit/>
          </a:bodyPr>
          <a:lstStyle/>
          <a:p>
            <a:pPr algn="just"/>
            <a:r>
              <a:rPr lang="en-US" b="1" u="sng" dirty="0"/>
              <a:t>Example 3</a:t>
            </a:r>
          </a:p>
          <a:p>
            <a:pPr algn="just"/>
            <a:endParaRPr lang="en-US" dirty="0"/>
          </a:p>
          <a:p>
            <a:pPr algn="just"/>
            <a:r>
              <a:rPr lang="en-US" dirty="0"/>
              <a:t>Find the negation of the proposition</a:t>
            </a:r>
          </a:p>
          <a:p>
            <a:pPr algn="just"/>
            <a:r>
              <a:rPr lang="en-US" dirty="0"/>
              <a:t>“</a:t>
            </a:r>
            <a:r>
              <a:rPr lang="en-US" dirty="0">
                <a:solidFill>
                  <a:srgbClr val="FF0000"/>
                </a:solidFill>
              </a:rPr>
              <a:t>Michael’s PC runs LINUX</a:t>
            </a:r>
            <a:r>
              <a:rPr lang="en-US" dirty="0"/>
              <a:t>”</a:t>
            </a:r>
            <a:r>
              <a:rPr lang="en-US" dirty="0">
                <a:solidFill>
                  <a:srgbClr val="FF0000"/>
                </a:solidFill>
              </a:rPr>
              <a:t> </a:t>
            </a:r>
            <a:r>
              <a:rPr lang="en-US" dirty="0"/>
              <a:t>and express it in simple English</a:t>
            </a:r>
          </a:p>
          <a:p>
            <a:endParaRPr lang="en-US" dirty="0"/>
          </a:p>
        </p:txBody>
      </p:sp>
      <p:sp>
        <p:nvSpPr>
          <p:cNvPr id="5" name="Slide Number Placeholder 4"/>
          <p:cNvSpPr>
            <a:spLocks noGrp="1"/>
          </p:cNvSpPr>
          <p:nvPr>
            <p:ph type="sldNum" sz="quarter" idx="15"/>
          </p:nvPr>
        </p:nvSpPr>
        <p:spPr/>
        <p:txBody>
          <a:bodyPr/>
          <a:lstStyle/>
          <a:p>
            <a:fld id="{2B5E18CA-EFC1-4ED8-A974-4BD9A10BFFAB}" type="slidenum">
              <a:rPr lang="en-US" smtClean="0"/>
              <a:t>6</a:t>
            </a:fld>
            <a:endParaRPr lang="en-US"/>
          </a:p>
        </p:txBody>
      </p:sp>
      <p:pic>
        <p:nvPicPr>
          <p:cNvPr id="8"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664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additive="base">
                                        <p:cTn id="1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 calcmode="lin" valueType="num">
                                      <p:cBhvr additive="base">
                                        <p:cTn id="1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p:txBody>
          <a:bodyPr>
            <a:normAutofit/>
          </a:bodyPr>
          <a:lstStyle/>
          <a:p>
            <a:pPr marL="0" indent="0" algn="just">
              <a:buNone/>
            </a:pPr>
            <a:r>
              <a:rPr lang="en-US" b="1" u="sng" dirty="0"/>
              <a:t>…Example 3</a:t>
            </a:r>
          </a:p>
          <a:p>
            <a:pPr marL="0" indent="0" algn="just">
              <a:buNone/>
            </a:pPr>
            <a:r>
              <a:rPr lang="en-US" dirty="0"/>
              <a:t>“</a:t>
            </a:r>
            <a:r>
              <a:rPr lang="en-US" dirty="0">
                <a:solidFill>
                  <a:srgbClr val="FF0000"/>
                </a:solidFill>
              </a:rPr>
              <a:t>Michael’s PC runs LINUX</a:t>
            </a:r>
            <a:r>
              <a:rPr lang="en-US" dirty="0"/>
              <a:t>”</a:t>
            </a:r>
            <a:r>
              <a:rPr lang="en-US" dirty="0">
                <a:solidFill>
                  <a:srgbClr val="FF0000"/>
                </a:solidFill>
              </a:rPr>
              <a:t> </a:t>
            </a:r>
          </a:p>
          <a:p>
            <a:pPr marL="0" indent="0" algn="just">
              <a:buNone/>
            </a:pPr>
            <a:endParaRPr lang="en-US" dirty="0">
              <a:solidFill>
                <a:srgbClr val="FF0000"/>
              </a:solidFill>
            </a:endParaRPr>
          </a:p>
          <a:p>
            <a:pPr marL="0" indent="0" algn="just">
              <a:buNone/>
            </a:pPr>
            <a:r>
              <a:rPr lang="en-US" b="1" u="sng" dirty="0"/>
              <a:t>Solution 3</a:t>
            </a:r>
          </a:p>
          <a:p>
            <a:pPr marL="0" indent="0" algn="just">
              <a:buNone/>
            </a:pPr>
            <a:r>
              <a:rPr lang="en-US" dirty="0"/>
              <a:t>“It is not the case that Michael’s PC runs LINUX”</a:t>
            </a:r>
          </a:p>
          <a:p>
            <a:pPr marL="0" indent="0" algn="just">
              <a:buNone/>
            </a:pPr>
            <a:r>
              <a:rPr lang="en-US" dirty="0"/>
              <a:t>and express it in simple English</a:t>
            </a:r>
          </a:p>
          <a:p>
            <a:pPr marL="0" indent="0" algn="just">
              <a:buNone/>
            </a:pPr>
            <a:endParaRPr lang="en-US" dirty="0"/>
          </a:p>
          <a:p>
            <a:pPr marL="0" indent="0" algn="just">
              <a:buNone/>
            </a:pPr>
            <a:r>
              <a:rPr lang="en-US" dirty="0"/>
              <a:t>In simple English we say; “</a:t>
            </a:r>
            <a:r>
              <a:rPr lang="en-US" dirty="0">
                <a:solidFill>
                  <a:srgbClr val="0070C0"/>
                </a:solidFill>
              </a:rPr>
              <a:t>Michael’s PC does not run LINUX</a:t>
            </a:r>
            <a:r>
              <a:rPr lang="en-US" dirty="0"/>
              <a:t>”</a:t>
            </a:r>
          </a:p>
          <a:p>
            <a:pPr marL="0" indent="0" algn="just">
              <a:buNone/>
            </a:pPr>
            <a:endParaRPr lang="en-US" dirty="0"/>
          </a:p>
        </p:txBody>
      </p:sp>
      <p:sp>
        <p:nvSpPr>
          <p:cNvPr id="5" name="Slide Number Placeholder 4"/>
          <p:cNvSpPr>
            <a:spLocks noGrp="1"/>
          </p:cNvSpPr>
          <p:nvPr>
            <p:ph type="sldNum" sz="quarter" idx="15"/>
          </p:nvPr>
        </p:nvSpPr>
        <p:spPr/>
        <p:txBody>
          <a:bodyPr/>
          <a:lstStyle/>
          <a:p>
            <a:fld id="{2B5E18CA-EFC1-4ED8-A974-4BD9A10BFFAB}" type="slidenum">
              <a:rPr lang="en-US" smtClean="0"/>
              <a:t>7</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030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down)">
                                      <p:cBhvr>
                                        <p:cTn id="7" dur="580">
                                          <p:stCondLst>
                                            <p:cond delay="0"/>
                                          </p:stCondLst>
                                        </p:cTn>
                                        <p:tgtEl>
                                          <p:spTgt spid="3">
                                            <p:txEl>
                                              <p:pRg st="7" end="7"/>
                                            </p:txEl>
                                          </p:spTgt>
                                        </p:tgtEl>
                                      </p:cBhvr>
                                    </p:animEffect>
                                    <p:anim calcmode="lin" valueType="num">
                                      <p:cBhvr>
                                        <p:cTn id="8"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7" end="7"/>
                                            </p:txEl>
                                          </p:spTgt>
                                        </p:tgtEl>
                                      </p:cBhvr>
                                      <p:to x="100000" y="60000"/>
                                    </p:animScale>
                                    <p:animScale>
                                      <p:cBhvr>
                                        <p:cTn id="14" dur="166" decel="50000">
                                          <p:stCondLst>
                                            <p:cond delay="676"/>
                                          </p:stCondLst>
                                        </p:cTn>
                                        <p:tgtEl>
                                          <p:spTgt spid="3">
                                            <p:txEl>
                                              <p:pRg st="7" end="7"/>
                                            </p:txEl>
                                          </p:spTgt>
                                        </p:tgtEl>
                                      </p:cBhvr>
                                      <p:to x="100000" y="100000"/>
                                    </p:animScale>
                                    <p:animScale>
                                      <p:cBhvr>
                                        <p:cTn id="15" dur="26">
                                          <p:stCondLst>
                                            <p:cond delay="1312"/>
                                          </p:stCondLst>
                                        </p:cTn>
                                        <p:tgtEl>
                                          <p:spTgt spid="3">
                                            <p:txEl>
                                              <p:pRg st="7" end="7"/>
                                            </p:txEl>
                                          </p:spTgt>
                                        </p:tgtEl>
                                      </p:cBhvr>
                                      <p:to x="100000" y="80000"/>
                                    </p:animScale>
                                    <p:animScale>
                                      <p:cBhvr>
                                        <p:cTn id="16" dur="166" decel="50000">
                                          <p:stCondLst>
                                            <p:cond delay="1338"/>
                                          </p:stCondLst>
                                        </p:cTn>
                                        <p:tgtEl>
                                          <p:spTgt spid="3">
                                            <p:txEl>
                                              <p:pRg st="7" end="7"/>
                                            </p:txEl>
                                          </p:spTgt>
                                        </p:tgtEl>
                                      </p:cBhvr>
                                      <p:to x="100000" y="100000"/>
                                    </p:animScale>
                                    <p:animScale>
                                      <p:cBhvr>
                                        <p:cTn id="17" dur="26">
                                          <p:stCondLst>
                                            <p:cond delay="1642"/>
                                          </p:stCondLst>
                                        </p:cTn>
                                        <p:tgtEl>
                                          <p:spTgt spid="3">
                                            <p:txEl>
                                              <p:pRg st="7" end="7"/>
                                            </p:txEl>
                                          </p:spTgt>
                                        </p:tgtEl>
                                      </p:cBhvr>
                                      <p:to x="100000" y="90000"/>
                                    </p:animScale>
                                    <p:animScale>
                                      <p:cBhvr>
                                        <p:cTn id="18" dur="166" decel="50000">
                                          <p:stCondLst>
                                            <p:cond delay="1668"/>
                                          </p:stCondLst>
                                        </p:cTn>
                                        <p:tgtEl>
                                          <p:spTgt spid="3">
                                            <p:txEl>
                                              <p:pRg st="7" end="7"/>
                                            </p:txEl>
                                          </p:spTgt>
                                        </p:tgtEl>
                                      </p:cBhvr>
                                      <p:to x="100000" y="100000"/>
                                    </p:animScale>
                                    <p:animScale>
                                      <p:cBhvr>
                                        <p:cTn id="19" dur="26">
                                          <p:stCondLst>
                                            <p:cond delay="1808"/>
                                          </p:stCondLst>
                                        </p:cTn>
                                        <p:tgtEl>
                                          <p:spTgt spid="3">
                                            <p:txEl>
                                              <p:pRg st="7" end="7"/>
                                            </p:txEl>
                                          </p:spTgt>
                                        </p:tgtEl>
                                      </p:cBhvr>
                                      <p:to x="100000" y="95000"/>
                                    </p:animScale>
                                    <p:animScale>
                                      <p:cBhvr>
                                        <p:cTn id="20"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p:txBody>
          <a:bodyPr>
            <a:normAutofit lnSpcReduction="10000"/>
          </a:bodyPr>
          <a:lstStyle/>
          <a:p>
            <a:pPr marL="0" indent="0" algn="just">
              <a:buNone/>
            </a:pPr>
            <a:r>
              <a:rPr lang="en-US" b="1" u="sng" dirty="0"/>
              <a:t>Example 4</a:t>
            </a:r>
          </a:p>
          <a:p>
            <a:pPr marL="0" indent="0" algn="just">
              <a:buNone/>
            </a:pPr>
            <a:r>
              <a:rPr lang="en-US" dirty="0"/>
              <a:t>Find the negation of the proposition </a:t>
            </a:r>
          </a:p>
          <a:p>
            <a:pPr marL="0" indent="0" algn="just">
              <a:buNone/>
            </a:pPr>
            <a:r>
              <a:rPr lang="en-US" dirty="0"/>
              <a:t>“</a:t>
            </a:r>
            <a:r>
              <a:rPr lang="en-US" dirty="0">
                <a:solidFill>
                  <a:srgbClr val="FF0000"/>
                </a:solidFill>
              </a:rPr>
              <a:t>John’s smartphone has at least 32GB of memory</a:t>
            </a:r>
            <a:r>
              <a:rPr lang="en-US" dirty="0"/>
              <a:t>”</a:t>
            </a:r>
            <a:r>
              <a:rPr lang="en-US" dirty="0">
                <a:solidFill>
                  <a:srgbClr val="FF0000"/>
                </a:solidFill>
              </a:rPr>
              <a:t> </a:t>
            </a:r>
            <a:r>
              <a:rPr lang="en-US" dirty="0"/>
              <a:t>and express it in simple English.</a:t>
            </a:r>
          </a:p>
          <a:p>
            <a:pPr marL="0" indent="0" algn="just">
              <a:buNone/>
            </a:pPr>
            <a:endParaRPr lang="en-US" dirty="0">
              <a:solidFill>
                <a:srgbClr val="FF0000"/>
              </a:solidFill>
            </a:endParaRPr>
          </a:p>
          <a:p>
            <a:pPr marL="0" indent="0" algn="just">
              <a:buNone/>
            </a:pPr>
            <a:r>
              <a:rPr lang="en-US" b="1" u="sng" dirty="0"/>
              <a:t>Solution 4</a:t>
            </a:r>
          </a:p>
          <a:p>
            <a:pPr marL="0" indent="0" algn="just">
              <a:buNone/>
            </a:pPr>
            <a:r>
              <a:rPr lang="en-US" dirty="0"/>
              <a:t>“It is not the case that John’s smartphone has at least 32GB of memory”</a:t>
            </a:r>
          </a:p>
          <a:p>
            <a:pPr marL="0" indent="0" algn="just">
              <a:buNone/>
            </a:pPr>
            <a:r>
              <a:rPr lang="en-US" dirty="0"/>
              <a:t>In simple English we say: “</a:t>
            </a:r>
            <a:r>
              <a:rPr lang="en-US" dirty="0">
                <a:solidFill>
                  <a:srgbClr val="00B0F0"/>
                </a:solidFill>
              </a:rPr>
              <a:t>John’s smartphone does not have at least 32GB of memory</a:t>
            </a:r>
            <a:r>
              <a:rPr lang="en-US" dirty="0"/>
              <a:t>” </a:t>
            </a:r>
          </a:p>
          <a:p>
            <a:pPr marL="0" indent="0" algn="just">
              <a:buNone/>
            </a:pPr>
            <a:r>
              <a:rPr lang="en-US" dirty="0"/>
              <a:t>Or even more simply as: “</a:t>
            </a:r>
            <a:r>
              <a:rPr lang="en-US" dirty="0">
                <a:solidFill>
                  <a:srgbClr val="00B0F0"/>
                </a:solidFill>
              </a:rPr>
              <a:t>John’s smartphone has less than 32GB of memory</a:t>
            </a:r>
            <a:r>
              <a:rPr lang="en-US" dirty="0"/>
              <a:t>”</a:t>
            </a:r>
            <a:endParaRPr lang="en-US" dirty="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p:txBody>
      </p:sp>
      <p:sp>
        <p:nvSpPr>
          <p:cNvPr id="5" name="Slide Number Placeholder 4"/>
          <p:cNvSpPr>
            <a:spLocks noGrp="1"/>
          </p:cNvSpPr>
          <p:nvPr>
            <p:ph type="sldNum" sz="quarter" idx="15"/>
          </p:nvPr>
        </p:nvSpPr>
        <p:spPr/>
        <p:txBody>
          <a:bodyPr/>
          <a:lstStyle/>
          <a:p>
            <a:fld id="{2B5E18CA-EFC1-4ED8-A974-4BD9A10BFFAB}" type="slidenum">
              <a:rPr lang="en-US" smtClean="0"/>
              <a:t>8</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526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circle(in)">
                                      <p:cBhvr>
                                        <p:cTn id="17" dur="20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circle(in)">
                                      <p:cBhvr>
                                        <p:cTn id="2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4" name="Text Placeholder 3"/>
          <p:cNvSpPr>
            <a:spLocks noGrp="1"/>
          </p:cNvSpPr>
          <p:nvPr>
            <p:ph type="body" idx="2"/>
          </p:nvPr>
        </p:nvSpPr>
        <p:spPr/>
        <p:txBody>
          <a:bodyPr>
            <a:normAutofit fontScale="92500" lnSpcReduction="10000"/>
          </a:bodyPr>
          <a:lstStyle/>
          <a:p>
            <a:pPr algn="just"/>
            <a:endParaRPr lang="en-US" dirty="0"/>
          </a:p>
          <a:p>
            <a:pPr algn="just"/>
            <a:endParaRPr lang="en-US" sz="2800" dirty="0"/>
          </a:p>
          <a:p>
            <a:pPr algn="just"/>
            <a:r>
              <a:rPr lang="en-US" sz="2800" dirty="0"/>
              <a:t>Table 1. </a:t>
            </a:r>
          </a:p>
          <a:p>
            <a:pPr algn="just"/>
            <a:endParaRPr lang="en-US" sz="2800" dirty="0"/>
          </a:p>
          <a:p>
            <a:pPr algn="just"/>
            <a:r>
              <a:rPr lang="en-US" sz="2800" dirty="0"/>
              <a:t>The truth table for the negation of the proposition </a:t>
            </a:r>
          </a:p>
        </p:txBody>
      </p:sp>
      <p:sp>
        <p:nvSpPr>
          <p:cNvPr id="3" name="Content Placeholder 2"/>
          <p:cNvSpPr>
            <a:spLocks noGrp="1"/>
          </p:cNvSpPr>
          <p:nvPr>
            <p:ph sz="quarter" idx="1"/>
          </p:nvPr>
        </p:nvSpPr>
        <p:spPr/>
        <p:txBody>
          <a:bodyPr>
            <a:normAutofit/>
          </a:bodyPr>
          <a:lstStyle/>
          <a:p>
            <a:pPr marL="0" indent="0" algn="ctr">
              <a:buNone/>
            </a:pPr>
            <a:r>
              <a:rPr lang="en-US" b="1" u="sng" dirty="0"/>
              <a:t>Truth Table</a:t>
            </a:r>
          </a:p>
          <a:p>
            <a:pPr marL="0" indent="0" algn="just">
              <a:buNone/>
            </a:pPr>
            <a:endParaRPr lang="en-US" dirty="0">
              <a:solidFill>
                <a:srgbClr val="FF0000"/>
              </a:solidFill>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600200"/>
            <a:ext cx="3906892" cy="37364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5"/>
          <p:cNvSpPr>
            <a:spLocks noGrp="1"/>
          </p:cNvSpPr>
          <p:nvPr>
            <p:ph type="sldNum" sz="quarter" idx="15"/>
          </p:nvPr>
        </p:nvSpPr>
        <p:spPr/>
        <p:txBody>
          <a:bodyPr/>
          <a:lstStyle/>
          <a:p>
            <a:fld id="{2B5E18CA-EFC1-4ED8-A974-4BD9A10BFFAB}" type="slidenum">
              <a:rPr lang="en-US" smtClean="0"/>
              <a:t>9</a:t>
            </a:fld>
            <a:endParaRPr lang="en-US"/>
          </a:p>
        </p:txBody>
      </p:sp>
      <p:pic>
        <p:nvPicPr>
          <p:cNvPr id="9"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9045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457200" y="1600200"/>
                <a:ext cx="7467600" cy="2590800"/>
              </a:xfrm>
            </p:spPr>
            <p:style>
              <a:lnRef idx="1">
                <a:schemeClr val="accent2"/>
              </a:lnRef>
              <a:fillRef idx="2">
                <a:schemeClr val="accent2"/>
              </a:fillRef>
              <a:effectRef idx="1">
                <a:schemeClr val="accent2"/>
              </a:effectRef>
              <a:fontRef idx="minor">
                <a:schemeClr val="dk1"/>
              </a:fontRef>
            </p:style>
            <p:txBody>
              <a:bodyPr>
                <a:normAutofit/>
              </a:bodyPr>
              <a:lstStyle/>
              <a:p>
                <a:pPr marL="0" indent="0" algn="just">
                  <a:buNone/>
                </a:pPr>
                <a:r>
                  <a:rPr lang="en-US" b="1" u="sng" dirty="0"/>
                  <a:t>Definition 2</a:t>
                </a:r>
              </a:p>
              <a:p>
                <a:pPr marL="0" indent="0" algn="just">
                  <a:buNone/>
                </a:pPr>
                <a:endParaRPr lang="en-US" b="1" u="sng" dirty="0"/>
              </a:p>
              <a:p>
                <a:pPr marL="0" indent="0" algn="just">
                  <a:buNone/>
                </a:pPr>
                <a:r>
                  <a:rPr lang="en-US" dirty="0"/>
                  <a:t>Let </a:t>
                </a:r>
                <a14:m>
                  <m:oMath xmlns:m="http://schemas.openxmlformats.org/officeDocument/2006/math">
                    <m:r>
                      <a:rPr lang="en-US" b="0" i="1" smtClean="0">
                        <a:latin typeface="Cambria Math"/>
                      </a:rPr>
                      <m:t>𝑝</m:t>
                    </m:r>
                  </m:oMath>
                </a14:m>
                <a:r>
                  <a:rPr lang="en-US" dirty="0"/>
                  <a:t> and </a:t>
                </a:r>
                <a14:m>
                  <m:oMath xmlns:m="http://schemas.openxmlformats.org/officeDocument/2006/math">
                    <m:r>
                      <a:rPr lang="en-US" b="0" i="1" smtClean="0">
                        <a:latin typeface="Cambria Math"/>
                      </a:rPr>
                      <m:t>𝑞</m:t>
                    </m:r>
                    <m:r>
                      <a:rPr lang="en-US" b="0" i="1" smtClean="0">
                        <a:latin typeface="Cambria Math"/>
                      </a:rPr>
                      <m:t> </m:t>
                    </m:r>
                  </m:oMath>
                </a14:m>
                <a:r>
                  <a:rPr lang="en-US" dirty="0"/>
                  <a:t>be a propositions. The </a:t>
                </a:r>
                <a14:m>
                  <m:oMath xmlns:m="http://schemas.openxmlformats.org/officeDocument/2006/math">
                    <m:r>
                      <m:rPr>
                        <m:sty m:val="p"/>
                      </m:rPr>
                      <a:rPr lang="en-US" b="0" i="0" smtClean="0">
                        <a:latin typeface="Cambria Math"/>
                      </a:rPr>
                      <m:t>conjunction</m:t>
                    </m:r>
                    <m:r>
                      <a:rPr lang="en-US" b="0" i="0" smtClean="0">
                        <a:latin typeface="Cambria Math"/>
                      </a:rPr>
                      <m:t> </m:t>
                    </m:r>
                    <m:r>
                      <a:rPr lang="en-US" b="0" i="1" smtClean="0">
                        <a:latin typeface="Cambria Math"/>
                      </a:rPr>
                      <m:t>𝑜𝑓</m:t>
                    </m:r>
                    <m:r>
                      <a:rPr lang="en-US" b="0" i="1" smtClean="0">
                        <a:latin typeface="Cambria Math"/>
                      </a:rPr>
                      <m:t> </m:t>
                    </m:r>
                    <m:r>
                      <a:rPr lang="en-US" b="0" i="1" smtClean="0">
                        <a:latin typeface="Cambria Math"/>
                      </a:rPr>
                      <m:t>𝑝</m:t>
                    </m:r>
                  </m:oMath>
                </a14:m>
                <a:r>
                  <a:rPr lang="en-US" dirty="0"/>
                  <a:t>, denoted as </a:t>
                </a:r>
                <a14:m>
                  <m:oMath xmlns:m="http://schemas.openxmlformats.org/officeDocument/2006/math">
                    <m:r>
                      <a:rPr lang="en-US" b="0" i="1" smtClean="0">
                        <a:latin typeface="Cambria Math"/>
                        <a:ea typeface="Cambria Math"/>
                      </a:rPr>
                      <m:t>𝑝</m:t>
                    </m:r>
                    <m:r>
                      <a:rPr lang="el-GR" b="0" i="1" smtClean="0">
                        <a:latin typeface="Cambria Math"/>
                        <a:ea typeface="Cambria Math"/>
                      </a:rPr>
                      <m:t>⋀</m:t>
                    </m:r>
                    <m:r>
                      <m:rPr>
                        <m:sty m:val="p"/>
                      </m:rPr>
                      <a:rPr lang="en-US" b="0" i="0" smtClean="0">
                        <a:latin typeface="Cambria Math"/>
                        <a:ea typeface="Cambria Math"/>
                      </a:rPr>
                      <m:t>q</m:t>
                    </m:r>
                  </m:oMath>
                </a14:m>
                <a:r>
                  <a:rPr lang="en-US" dirty="0"/>
                  <a:t>, is the proposition “</a:t>
                </a:r>
                <a14:m>
                  <m:oMath xmlns:m="http://schemas.openxmlformats.org/officeDocument/2006/math">
                    <m:r>
                      <a:rPr lang="en-US" b="0" i="1" smtClean="0">
                        <a:solidFill>
                          <a:srgbClr val="FF0000"/>
                        </a:solidFill>
                        <a:latin typeface="Cambria Math"/>
                      </a:rPr>
                      <m:t>𝑝</m:t>
                    </m:r>
                    <m:r>
                      <a:rPr lang="en-US" b="0" i="1" smtClean="0">
                        <a:solidFill>
                          <a:srgbClr val="FF0000"/>
                        </a:solidFill>
                        <a:latin typeface="Cambria Math"/>
                      </a:rPr>
                      <m:t> </m:t>
                    </m:r>
                    <m:r>
                      <a:rPr lang="en-US" b="0" i="1" smtClean="0">
                        <a:solidFill>
                          <a:srgbClr val="FF0000"/>
                        </a:solidFill>
                        <a:latin typeface="Cambria Math"/>
                      </a:rPr>
                      <m:t>𝑎𝑛𝑑</m:t>
                    </m:r>
                    <m:r>
                      <a:rPr lang="en-US" b="0" i="1" smtClean="0">
                        <a:solidFill>
                          <a:srgbClr val="FF0000"/>
                        </a:solidFill>
                        <a:latin typeface="Cambria Math"/>
                      </a:rPr>
                      <m:t> </m:t>
                    </m:r>
                    <m:r>
                      <a:rPr lang="en-US" b="0" i="1" smtClean="0">
                        <a:solidFill>
                          <a:srgbClr val="FF0000"/>
                        </a:solidFill>
                        <a:latin typeface="Cambria Math"/>
                      </a:rPr>
                      <m:t>𝑞</m:t>
                    </m:r>
                  </m:oMath>
                </a14:m>
                <a:r>
                  <a:rPr lang="en-US" dirty="0"/>
                  <a:t>”. The conjunction </a:t>
                </a:r>
                <a14:m>
                  <m:oMath xmlns:m="http://schemas.openxmlformats.org/officeDocument/2006/math">
                    <m:r>
                      <a:rPr lang="en-US" i="1">
                        <a:latin typeface="Cambria Math"/>
                        <a:ea typeface="Cambria Math"/>
                      </a:rPr>
                      <m:t>𝑝</m:t>
                    </m:r>
                    <m:r>
                      <a:rPr lang="el-GR" i="1">
                        <a:latin typeface="Cambria Math"/>
                        <a:ea typeface="Cambria Math"/>
                      </a:rPr>
                      <m:t>⋀</m:t>
                    </m:r>
                    <m:r>
                      <m:rPr>
                        <m:sty m:val="p"/>
                      </m:rPr>
                      <a:rPr lang="en-US">
                        <a:latin typeface="Cambria Math"/>
                        <a:ea typeface="Cambria Math"/>
                      </a:rPr>
                      <m:t>q</m:t>
                    </m:r>
                  </m:oMath>
                </a14:m>
                <a:r>
                  <a:rPr lang="en-US" b="0" dirty="0"/>
                  <a:t> is TRUE when both </a:t>
                </a:r>
                <a14:m>
                  <m:oMath xmlns:m="http://schemas.openxmlformats.org/officeDocument/2006/math">
                    <m:r>
                      <a:rPr lang="en-US" b="0" i="1" smtClean="0">
                        <a:latin typeface="Cambria Math"/>
                      </a:rPr>
                      <m:t>𝑝</m:t>
                    </m:r>
                  </m:oMath>
                </a14:m>
                <a:r>
                  <a:rPr lang="en-US" b="0" dirty="0"/>
                  <a:t> and </a:t>
                </a:r>
                <a14:m>
                  <m:oMath xmlns:m="http://schemas.openxmlformats.org/officeDocument/2006/math">
                    <m:r>
                      <a:rPr lang="en-US" b="0" i="1" smtClean="0">
                        <a:latin typeface="Cambria Math"/>
                      </a:rPr>
                      <m:t>𝑞</m:t>
                    </m:r>
                  </m:oMath>
                </a14:m>
                <a:r>
                  <a:rPr lang="en-US" b="0" dirty="0"/>
                  <a:t> are TRUE and FALSE otherwise.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457200" y="1600200"/>
                <a:ext cx="7467600" cy="2590800"/>
              </a:xfrm>
              <a:blipFill rotWithShape="1">
                <a:blip r:embed="rId2"/>
                <a:stretch>
                  <a:fillRect/>
                </a:stretch>
              </a:blipFill>
            </p:spPr>
            <p:txBody>
              <a:bodyPr/>
              <a:lstStyle/>
              <a:p>
                <a:r>
                  <a:rPr lang="en-US">
                    <a:noFill/>
                  </a:rPr>
                  <a:t> </a:t>
                </a:r>
              </a:p>
            </p:txBody>
          </p:sp>
        </mc:Fallback>
      </mc:AlternateContent>
      <p:sp>
        <p:nvSpPr>
          <p:cNvPr id="5" name="Slide Number Placeholder 4"/>
          <p:cNvSpPr>
            <a:spLocks noGrp="1"/>
          </p:cNvSpPr>
          <p:nvPr>
            <p:ph type="sldNum" sz="quarter" idx="15"/>
          </p:nvPr>
        </p:nvSpPr>
        <p:spPr/>
        <p:txBody>
          <a:bodyPr/>
          <a:lstStyle/>
          <a:p>
            <a:fld id="{2B5E18CA-EFC1-4ED8-A974-4BD9A10BFFAB}" type="slidenum">
              <a:rPr lang="en-US" smtClean="0"/>
              <a:t>10</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3915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4" name="Text Placeholder 3"/>
          <p:cNvSpPr>
            <a:spLocks noGrp="1"/>
          </p:cNvSpPr>
          <p:nvPr>
            <p:ph type="body" idx="2"/>
          </p:nvPr>
        </p:nvSpPr>
        <p:spPr/>
        <p:txBody>
          <a:bodyPr>
            <a:normAutofit fontScale="92500" lnSpcReduction="20000"/>
          </a:bodyPr>
          <a:lstStyle/>
          <a:p>
            <a:pPr algn="just"/>
            <a:endParaRPr lang="en-US" dirty="0"/>
          </a:p>
          <a:p>
            <a:pPr algn="just"/>
            <a:endParaRPr lang="en-US" sz="2800" dirty="0"/>
          </a:p>
          <a:p>
            <a:pPr algn="just"/>
            <a:r>
              <a:rPr lang="en-US" sz="2800" dirty="0"/>
              <a:t>Table 2. </a:t>
            </a:r>
          </a:p>
          <a:p>
            <a:pPr algn="just"/>
            <a:endParaRPr lang="en-US" sz="2800" dirty="0"/>
          </a:p>
          <a:p>
            <a:pPr algn="just"/>
            <a:r>
              <a:rPr lang="en-US" sz="2800" dirty="0"/>
              <a:t>The truth table for the conjunction of two propositions </a:t>
            </a:r>
          </a:p>
        </p:txBody>
      </p:sp>
      <p:sp>
        <p:nvSpPr>
          <p:cNvPr id="3" name="Content Placeholder 2"/>
          <p:cNvSpPr>
            <a:spLocks noGrp="1"/>
          </p:cNvSpPr>
          <p:nvPr>
            <p:ph sz="quarter" idx="1"/>
          </p:nvPr>
        </p:nvSpPr>
        <p:spPr/>
        <p:txBody>
          <a:bodyPr>
            <a:normAutofit/>
          </a:bodyPr>
          <a:lstStyle/>
          <a:p>
            <a:pPr marL="0" indent="0" algn="ctr">
              <a:buNone/>
            </a:pPr>
            <a:r>
              <a:rPr lang="en-US" b="1" u="sng" dirty="0"/>
              <a:t>Truth Table</a:t>
            </a:r>
          </a:p>
          <a:p>
            <a:pPr marL="0" indent="0" algn="just">
              <a:buNone/>
            </a:pPr>
            <a:endParaRPr lang="en-US" dirty="0">
              <a:solidFill>
                <a:srgbClr val="FF000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95400"/>
            <a:ext cx="4114800" cy="3811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5"/>
          <p:cNvSpPr>
            <a:spLocks noGrp="1"/>
          </p:cNvSpPr>
          <p:nvPr>
            <p:ph type="sldNum" sz="quarter" idx="15"/>
          </p:nvPr>
        </p:nvSpPr>
        <p:spPr/>
        <p:txBody>
          <a:bodyPr/>
          <a:lstStyle/>
          <a:p>
            <a:fld id="{2B5E18CA-EFC1-4ED8-A974-4BD9A10BFFAB}" type="slidenum">
              <a:rPr lang="en-US" smtClean="0"/>
              <a:t>11</a:t>
            </a:fld>
            <a:endParaRPr lang="en-US"/>
          </a:p>
        </p:txBody>
      </p:sp>
      <p:pic>
        <p:nvPicPr>
          <p:cNvPr id="9"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9022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457200" y="1600200"/>
                <a:ext cx="7467600" cy="2590800"/>
              </a:xfrm>
            </p:spPr>
            <p:style>
              <a:lnRef idx="1">
                <a:schemeClr val="accent2"/>
              </a:lnRef>
              <a:fillRef idx="2">
                <a:schemeClr val="accent2"/>
              </a:fillRef>
              <a:effectRef idx="1">
                <a:schemeClr val="accent2"/>
              </a:effectRef>
              <a:fontRef idx="minor">
                <a:schemeClr val="dk1"/>
              </a:fontRef>
            </p:style>
            <p:txBody>
              <a:bodyPr>
                <a:normAutofit/>
              </a:bodyPr>
              <a:lstStyle/>
              <a:p>
                <a:pPr marL="0" indent="0" algn="just">
                  <a:buNone/>
                </a:pPr>
                <a:r>
                  <a:rPr lang="en-US" b="1" u="sng" dirty="0"/>
                  <a:t>Definition 3</a:t>
                </a:r>
              </a:p>
              <a:p>
                <a:pPr marL="0" indent="0" algn="just">
                  <a:buNone/>
                </a:pPr>
                <a:endParaRPr lang="en-US" b="1" u="sng" dirty="0"/>
              </a:p>
              <a:p>
                <a:pPr marL="0" indent="0" algn="just">
                  <a:buNone/>
                </a:pPr>
                <a:r>
                  <a:rPr lang="en-US" dirty="0"/>
                  <a:t>Let </a:t>
                </a:r>
                <a14:m>
                  <m:oMath xmlns:m="http://schemas.openxmlformats.org/officeDocument/2006/math">
                    <m:r>
                      <a:rPr lang="en-US" b="0" i="1" smtClean="0">
                        <a:latin typeface="Cambria Math"/>
                      </a:rPr>
                      <m:t>𝑝</m:t>
                    </m:r>
                  </m:oMath>
                </a14:m>
                <a:r>
                  <a:rPr lang="en-US" dirty="0"/>
                  <a:t> and </a:t>
                </a:r>
                <a14:m>
                  <m:oMath xmlns:m="http://schemas.openxmlformats.org/officeDocument/2006/math">
                    <m:r>
                      <a:rPr lang="en-US" b="0" i="1" smtClean="0">
                        <a:latin typeface="Cambria Math"/>
                      </a:rPr>
                      <m:t>𝑞</m:t>
                    </m:r>
                    <m:r>
                      <a:rPr lang="en-US" b="0" i="1" smtClean="0">
                        <a:latin typeface="Cambria Math"/>
                      </a:rPr>
                      <m:t> </m:t>
                    </m:r>
                  </m:oMath>
                </a14:m>
                <a:r>
                  <a:rPr lang="en-US" dirty="0"/>
                  <a:t>be a propositions. The</a:t>
                </a:r>
                <a14:m>
                  <m:oMath xmlns:m="http://schemas.openxmlformats.org/officeDocument/2006/math">
                    <m:r>
                      <a:rPr lang="en-US" b="0" i="0" smtClean="0">
                        <a:latin typeface="Cambria Math"/>
                      </a:rPr>
                      <m:t> </m:t>
                    </m:r>
                    <m:r>
                      <m:rPr>
                        <m:sty m:val="p"/>
                      </m:rPr>
                      <a:rPr lang="en-US" b="0" i="0" smtClean="0">
                        <a:latin typeface="Cambria Math"/>
                      </a:rPr>
                      <m:t>disjunction</m:t>
                    </m:r>
                    <m:r>
                      <a:rPr lang="en-US" b="0" i="0" smtClean="0">
                        <a:latin typeface="Cambria Math"/>
                      </a:rPr>
                      <m:t> </m:t>
                    </m:r>
                    <m:r>
                      <a:rPr lang="en-US" b="0" i="1" smtClean="0">
                        <a:latin typeface="Cambria Math"/>
                      </a:rPr>
                      <m:t>𝑜𝑓</m:t>
                    </m:r>
                    <m:r>
                      <a:rPr lang="en-US" b="0" i="1" smtClean="0">
                        <a:latin typeface="Cambria Math"/>
                      </a:rPr>
                      <m:t> </m:t>
                    </m:r>
                    <m:r>
                      <a:rPr lang="en-US" b="0" i="1" smtClean="0">
                        <a:latin typeface="Cambria Math"/>
                      </a:rPr>
                      <m:t>𝑝</m:t>
                    </m:r>
                  </m:oMath>
                </a14:m>
                <a:r>
                  <a:rPr lang="en-US" dirty="0"/>
                  <a:t>, denoted as </a:t>
                </a:r>
                <a14:m>
                  <m:oMath xmlns:m="http://schemas.openxmlformats.org/officeDocument/2006/math">
                    <m:r>
                      <a:rPr lang="en-US" b="0" i="1" smtClean="0">
                        <a:latin typeface="Cambria Math"/>
                        <a:ea typeface="Cambria Math"/>
                      </a:rPr>
                      <m:t>𝑝</m:t>
                    </m:r>
                    <m:r>
                      <a:rPr lang="el-GR" i="1">
                        <a:latin typeface="Cambria Math"/>
                        <a:ea typeface="Cambria Math"/>
                      </a:rPr>
                      <m:t>∨</m:t>
                    </m:r>
                    <m:r>
                      <m:rPr>
                        <m:sty m:val="p"/>
                      </m:rPr>
                      <a:rPr lang="en-US" b="0" i="0" smtClean="0">
                        <a:latin typeface="Cambria Math"/>
                        <a:ea typeface="Cambria Math"/>
                      </a:rPr>
                      <m:t>q</m:t>
                    </m:r>
                  </m:oMath>
                </a14:m>
                <a:r>
                  <a:rPr lang="en-US" dirty="0"/>
                  <a:t>, is the proposition “</a:t>
                </a:r>
                <a14:m>
                  <m:oMath xmlns:m="http://schemas.openxmlformats.org/officeDocument/2006/math">
                    <m:r>
                      <a:rPr lang="en-US" b="0" i="1" smtClean="0">
                        <a:solidFill>
                          <a:srgbClr val="FF0000"/>
                        </a:solidFill>
                        <a:latin typeface="Cambria Math"/>
                      </a:rPr>
                      <m:t>𝑝</m:t>
                    </m:r>
                    <m:r>
                      <a:rPr lang="en-US" b="0" i="1" smtClean="0">
                        <a:solidFill>
                          <a:srgbClr val="FF0000"/>
                        </a:solidFill>
                        <a:latin typeface="Cambria Math"/>
                      </a:rPr>
                      <m:t> </m:t>
                    </m:r>
                    <m:r>
                      <a:rPr lang="en-US" b="0" i="1" smtClean="0">
                        <a:solidFill>
                          <a:srgbClr val="FF0000"/>
                        </a:solidFill>
                        <a:latin typeface="Cambria Math"/>
                      </a:rPr>
                      <m:t>𝑜𝑟</m:t>
                    </m:r>
                    <m:r>
                      <a:rPr lang="en-US" b="0" i="1" smtClean="0">
                        <a:solidFill>
                          <a:srgbClr val="FF0000"/>
                        </a:solidFill>
                        <a:latin typeface="Cambria Math"/>
                      </a:rPr>
                      <m:t> </m:t>
                    </m:r>
                    <m:r>
                      <a:rPr lang="en-US" b="0" i="1" smtClean="0">
                        <a:solidFill>
                          <a:srgbClr val="FF0000"/>
                        </a:solidFill>
                        <a:latin typeface="Cambria Math"/>
                      </a:rPr>
                      <m:t>𝑞</m:t>
                    </m:r>
                  </m:oMath>
                </a14:m>
                <a:r>
                  <a:rPr lang="en-US" dirty="0"/>
                  <a:t>”. The disjunction </a:t>
                </a:r>
                <a14:m>
                  <m:oMath xmlns:m="http://schemas.openxmlformats.org/officeDocument/2006/math">
                    <m:r>
                      <a:rPr lang="en-US" i="1">
                        <a:latin typeface="Cambria Math"/>
                        <a:ea typeface="Cambria Math"/>
                      </a:rPr>
                      <m:t>𝑝</m:t>
                    </m:r>
                    <m:r>
                      <a:rPr lang="el-GR" i="1" smtClean="0">
                        <a:latin typeface="Cambria Math"/>
                        <a:ea typeface="Cambria Math"/>
                      </a:rPr>
                      <m:t>∨</m:t>
                    </m:r>
                    <m:r>
                      <m:rPr>
                        <m:sty m:val="p"/>
                      </m:rPr>
                      <a:rPr lang="en-US">
                        <a:latin typeface="Cambria Math"/>
                        <a:ea typeface="Cambria Math"/>
                      </a:rPr>
                      <m:t>q</m:t>
                    </m:r>
                  </m:oMath>
                </a14:m>
                <a:r>
                  <a:rPr lang="en-US" b="0" dirty="0"/>
                  <a:t> is FALSE when both </a:t>
                </a:r>
                <a14:m>
                  <m:oMath xmlns:m="http://schemas.openxmlformats.org/officeDocument/2006/math">
                    <m:r>
                      <a:rPr lang="en-US" b="0" i="1" smtClean="0">
                        <a:latin typeface="Cambria Math"/>
                      </a:rPr>
                      <m:t>𝑝</m:t>
                    </m:r>
                  </m:oMath>
                </a14:m>
                <a:r>
                  <a:rPr lang="en-US" b="0" dirty="0"/>
                  <a:t> and </a:t>
                </a:r>
                <a14:m>
                  <m:oMath xmlns:m="http://schemas.openxmlformats.org/officeDocument/2006/math">
                    <m:r>
                      <a:rPr lang="en-US" b="0" i="1" smtClean="0">
                        <a:latin typeface="Cambria Math"/>
                      </a:rPr>
                      <m:t>𝑞</m:t>
                    </m:r>
                  </m:oMath>
                </a14:m>
                <a:r>
                  <a:rPr lang="en-US" b="0" dirty="0"/>
                  <a:t> are FALSE and TRUE otherwise.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457200" y="1600200"/>
                <a:ext cx="7467600" cy="2590800"/>
              </a:xfrm>
              <a:blipFill rotWithShape="1">
                <a:blip r:embed="rId2"/>
                <a:stretch>
                  <a:fillRect/>
                </a:stretch>
              </a:blipFill>
            </p:spPr>
            <p:txBody>
              <a:bodyPr/>
              <a:lstStyle/>
              <a:p>
                <a:r>
                  <a:rPr lang="en-US">
                    <a:noFill/>
                  </a:rPr>
                  <a:t> </a:t>
                </a:r>
              </a:p>
            </p:txBody>
          </p:sp>
        </mc:Fallback>
      </mc:AlternateContent>
      <p:sp>
        <p:nvSpPr>
          <p:cNvPr id="5" name="Slide Number Placeholder 4"/>
          <p:cNvSpPr>
            <a:spLocks noGrp="1"/>
          </p:cNvSpPr>
          <p:nvPr>
            <p:ph type="sldNum" sz="quarter" idx="15"/>
          </p:nvPr>
        </p:nvSpPr>
        <p:spPr/>
        <p:txBody>
          <a:bodyPr/>
          <a:lstStyle/>
          <a:p>
            <a:fld id="{2B5E18CA-EFC1-4ED8-A974-4BD9A10BFFAB}" type="slidenum">
              <a:rPr lang="en-US" smtClean="0"/>
              <a:t>12</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0346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4" name="Text Placeholder 3"/>
          <p:cNvSpPr>
            <a:spLocks noGrp="1"/>
          </p:cNvSpPr>
          <p:nvPr>
            <p:ph type="body" idx="2"/>
          </p:nvPr>
        </p:nvSpPr>
        <p:spPr/>
        <p:txBody>
          <a:bodyPr>
            <a:normAutofit fontScale="92500" lnSpcReduction="20000"/>
          </a:bodyPr>
          <a:lstStyle/>
          <a:p>
            <a:pPr algn="just"/>
            <a:endParaRPr lang="en-US" dirty="0"/>
          </a:p>
          <a:p>
            <a:pPr algn="just"/>
            <a:endParaRPr lang="en-US" sz="2800" dirty="0"/>
          </a:p>
          <a:p>
            <a:pPr algn="just"/>
            <a:r>
              <a:rPr lang="en-US" sz="2800" dirty="0"/>
              <a:t>Table 3. </a:t>
            </a:r>
          </a:p>
          <a:p>
            <a:pPr algn="just"/>
            <a:endParaRPr lang="en-US" sz="2800" dirty="0"/>
          </a:p>
          <a:p>
            <a:pPr algn="just"/>
            <a:r>
              <a:rPr lang="en-US" sz="2800" dirty="0"/>
              <a:t>The truth table for the disjunction of two propositions </a:t>
            </a:r>
          </a:p>
        </p:txBody>
      </p:sp>
      <p:sp>
        <p:nvSpPr>
          <p:cNvPr id="3" name="Content Placeholder 2"/>
          <p:cNvSpPr>
            <a:spLocks noGrp="1"/>
          </p:cNvSpPr>
          <p:nvPr>
            <p:ph sz="quarter" idx="1"/>
          </p:nvPr>
        </p:nvSpPr>
        <p:spPr/>
        <p:txBody>
          <a:bodyPr>
            <a:normAutofit/>
          </a:bodyPr>
          <a:lstStyle/>
          <a:p>
            <a:pPr marL="0" indent="0" algn="ctr">
              <a:buNone/>
            </a:pPr>
            <a:r>
              <a:rPr lang="en-US" b="1" u="sng" dirty="0"/>
              <a:t>Truth Table</a:t>
            </a:r>
          </a:p>
          <a:p>
            <a:pPr marL="0" indent="0" algn="just">
              <a:buNone/>
            </a:pPr>
            <a:endParaRPr lang="en-US" dirty="0">
              <a:solidFill>
                <a:srgbClr val="FF0000"/>
              </a:solidFill>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95401"/>
            <a:ext cx="466672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5"/>
          <p:cNvSpPr>
            <a:spLocks noGrp="1"/>
          </p:cNvSpPr>
          <p:nvPr>
            <p:ph type="sldNum" sz="quarter" idx="15"/>
          </p:nvPr>
        </p:nvSpPr>
        <p:spPr/>
        <p:txBody>
          <a:bodyPr/>
          <a:lstStyle/>
          <a:p>
            <a:fld id="{2B5E18CA-EFC1-4ED8-A974-4BD9A10BFFAB}" type="slidenum">
              <a:rPr lang="en-US" smtClean="0"/>
              <a:t>13</a:t>
            </a:fld>
            <a:endParaRPr lang="en-US"/>
          </a:p>
        </p:txBody>
      </p:sp>
      <p:pic>
        <p:nvPicPr>
          <p:cNvPr id="9"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4401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pPr marL="0" indent="0" algn="just">
                  <a:buNone/>
                </a:pPr>
                <a:r>
                  <a:rPr lang="en-US" b="1" u="sng" dirty="0"/>
                  <a:t>Facts:</a:t>
                </a:r>
              </a:p>
              <a:p>
                <a:pPr marL="0" indent="0" algn="just">
                  <a:buNone/>
                </a:pPr>
                <a:endParaRPr lang="en-US" b="1" u="sng" dirty="0"/>
              </a:p>
              <a:p>
                <a:pPr algn="just">
                  <a:buFont typeface="Wingdings" panose="05000000000000000000" pitchFamily="2" charset="2"/>
                  <a:buChar char="§"/>
                </a:pPr>
                <a:r>
                  <a:rPr lang="en-US" dirty="0">
                    <a:solidFill>
                      <a:schemeClr val="tx1"/>
                    </a:solidFill>
                  </a:rPr>
                  <a:t>The use of connective </a:t>
                </a:r>
                <a14:m>
                  <m:oMath xmlns:m="http://schemas.openxmlformats.org/officeDocument/2006/math">
                    <m:r>
                      <a:rPr lang="en-US" b="0" i="1" smtClean="0">
                        <a:solidFill>
                          <a:schemeClr val="tx1"/>
                        </a:solidFill>
                        <a:latin typeface="Cambria Math"/>
                      </a:rPr>
                      <m:t>𝑜𝑟</m:t>
                    </m:r>
                  </m:oMath>
                </a14:m>
                <a:r>
                  <a:rPr lang="en-US" dirty="0">
                    <a:solidFill>
                      <a:schemeClr val="tx1"/>
                    </a:solidFill>
                  </a:rPr>
                  <a:t> in a disjunction corresponds to one of the two ways the word </a:t>
                </a:r>
                <a14:m>
                  <m:oMath xmlns:m="http://schemas.openxmlformats.org/officeDocument/2006/math">
                    <m:r>
                      <a:rPr lang="en-US" b="0" i="1" smtClean="0">
                        <a:solidFill>
                          <a:schemeClr val="tx1"/>
                        </a:solidFill>
                        <a:latin typeface="Cambria Math"/>
                      </a:rPr>
                      <m:t>𝑜𝑟</m:t>
                    </m:r>
                  </m:oMath>
                </a14:m>
                <a:r>
                  <a:rPr lang="en-US" dirty="0">
                    <a:solidFill>
                      <a:schemeClr val="tx1"/>
                    </a:solidFill>
                  </a:rPr>
                  <a:t> is used in English, </a:t>
                </a:r>
                <a:r>
                  <a:rPr lang="en-US" dirty="0"/>
                  <a:t>namely, as an </a:t>
                </a:r>
                <a:r>
                  <a:rPr lang="en-US" b="1" dirty="0"/>
                  <a:t>inclusive or</a:t>
                </a:r>
                <a:r>
                  <a:rPr lang="en-US" dirty="0"/>
                  <a:t>.</a:t>
                </a:r>
                <a:endParaRPr lang="en-US" dirty="0">
                  <a:solidFill>
                    <a:schemeClr val="tx1"/>
                  </a:solidFill>
                </a:endParaRPr>
              </a:p>
              <a:p>
                <a:pPr algn="just">
                  <a:buFont typeface="Wingdings" panose="05000000000000000000" pitchFamily="2" charset="2"/>
                  <a:buChar char="§"/>
                </a:pPr>
                <a:r>
                  <a:rPr lang="en-US" dirty="0"/>
                  <a:t>A disjunction is TRUE when at least one of the two propositions is TRUE</a:t>
                </a:r>
              </a:p>
              <a:p>
                <a:pPr marL="0" indent="0" algn="just">
                  <a:buNone/>
                </a:pPr>
                <a:endParaRPr lang="en-US"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224" t="-1001" r="-1224"/>
                </a:stretch>
              </a:blipFill>
            </p:spPr>
            <p:txBody>
              <a:bodyPr/>
              <a:lstStyle/>
              <a:p>
                <a:r>
                  <a:rPr lang="en-US">
                    <a:noFill/>
                  </a:rPr>
                  <a:t> </a:t>
                </a:r>
              </a:p>
            </p:txBody>
          </p:sp>
        </mc:Fallback>
      </mc:AlternateContent>
      <p:sp>
        <p:nvSpPr>
          <p:cNvPr id="5" name="Slide Number Placeholder 4"/>
          <p:cNvSpPr>
            <a:spLocks noGrp="1"/>
          </p:cNvSpPr>
          <p:nvPr>
            <p:ph type="sldNum" sz="quarter" idx="15"/>
          </p:nvPr>
        </p:nvSpPr>
        <p:spPr/>
        <p:txBody>
          <a:bodyPr/>
          <a:lstStyle/>
          <a:p>
            <a:fld id="{2B5E18CA-EFC1-4ED8-A974-4BD9A10BFFAB}" type="slidenum">
              <a:rPr lang="en-US" smtClean="0"/>
              <a:t>14</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871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80">
                                          <p:stCondLst>
                                            <p:cond delay="0"/>
                                          </p:stCondLst>
                                        </p:cTn>
                                        <p:tgtEl>
                                          <p:spTgt spid="3">
                                            <p:txEl>
                                              <p:pRg st="3" end="3"/>
                                            </p:txEl>
                                          </p:spTgt>
                                        </p:tgtEl>
                                      </p:cBhvr>
                                    </p:animEffect>
                                    <p:anim calcmode="lin" valueType="num">
                                      <p:cBhvr>
                                        <p:cTn id="14"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3" end="3"/>
                                            </p:txEl>
                                          </p:spTgt>
                                        </p:tgtEl>
                                      </p:cBhvr>
                                      <p:to x="100000" y="60000"/>
                                    </p:animScale>
                                    <p:animScale>
                                      <p:cBhvr>
                                        <p:cTn id="20" dur="166" decel="50000">
                                          <p:stCondLst>
                                            <p:cond delay="676"/>
                                          </p:stCondLst>
                                        </p:cTn>
                                        <p:tgtEl>
                                          <p:spTgt spid="3">
                                            <p:txEl>
                                              <p:pRg st="3" end="3"/>
                                            </p:txEl>
                                          </p:spTgt>
                                        </p:tgtEl>
                                      </p:cBhvr>
                                      <p:to x="100000" y="100000"/>
                                    </p:animScale>
                                    <p:animScale>
                                      <p:cBhvr>
                                        <p:cTn id="21" dur="26">
                                          <p:stCondLst>
                                            <p:cond delay="1312"/>
                                          </p:stCondLst>
                                        </p:cTn>
                                        <p:tgtEl>
                                          <p:spTgt spid="3">
                                            <p:txEl>
                                              <p:pRg st="3" end="3"/>
                                            </p:txEl>
                                          </p:spTgt>
                                        </p:tgtEl>
                                      </p:cBhvr>
                                      <p:to x="100000" y="80000"/>
                                    </p:animScale>
                                    <p:animScale>
                                      <p:cBhvr>
                                        <p:cTn id="22" dur="166" decel="50000">
                                          <p:stCondLst>
                                            <p:cond delay="1338"/>
                                          </p:stCondLst>
                                        </p:cTn>
                                        <p:tgtEl>
                                          <p:spTgt spid="3">
                                            <p:txEl>
                                              <p:pRg st="3" end="3"/>
                                            </p:txEl>
                                          </p:spTgt>
                                        </p:tgtEl>
                                      </p:cBhvr>
                                      <p:to x="100000" y="100000"/>
                                    </p:animScale>
                                    <p:animScale>
                                      <p:cBhvr>
                                        <p:cTn id="23" dur="26">
                                          <p:stCondLst>
                                            <p:cond delay="1642"/>
                                          </p:stCondLst>
                                        </p:cTn>
                                        <p:tgtEl>
                                          <p:spTgt spid="3">
                                            <p:txEl>
                                              <p:pRg st="3" end="3"/>
                                            </p:txEl>
                                          </p:spTgt>
                                        </p:tgtEl>
                                      </p:cBhvr>
                                      <p:to x="100000" y="90000"/>
                                    </p:animScale>
                                    <p:animScale>
                                      <p:cBhvr>
                                        <p:cTn id="24" dur="166" decel="50000">
                                          <p:stCondLst>
                                            <p:cond delay="1668"/>
                                          </p:stCondLst>
                                        </p:cTn>
                                        <p:tgtEl>
                                          <p:spTgt spid="3">
                                            <p:txEl>
                                              <p:pRg st="3" end="3"/>
                                            </p:txEl>
                                          </p:spTgt>
                                        </p:tgtEl>
                                      </p:cBhvr>
                                      <p:to x="100000" y="100000"/>
                                    </p:animScale>
                                    <p:animScale>
                                      <p:cBhvr>
                                        <p:cTn id="25" dur="26">
                                          <p:stCondLst>
                                            <p:cond delay="1808"/>
                                          </p:stCondLst>
                                        </p:cTn>
                                        <p:tgtEl>
                                          <p:spTgt spid="3">
                                            <p:txEl>
                                              <p:pRg st="3" end="3"/>
                                            </p:txEl>
                                          </p:spTgt>
                                        </p:tgtEl>
                                      </p:cBhvr>
                                      <p:to x="100000" y="95000"/>
                                    </p:animScale>
                                    <p:animScale>
                                      <p:cBhvr>
                                        <p:cTn id="26"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92500"/>
              </a:bodyPr>
              <a:lstStyle/>
              <a:p>
                <a:pPr marL="0" indent="0" algn="just">
                  <a:buNone/>
                </a:pPr>
                <a:r>
                  <a:rPr lang="en-US" b="1" u="sng" dirty="0"/>
                  <a:t>Example 5</a:t>
                </a:r>
              </a:p>
              <a:p>
                <a:pPr marL="0" indent="0" algn="just">
                  <a:buNone/>
                </a:pPr>
                <a:r>
                  <a:rPr lang="en-US" dirty="0"/>
                  <a:t>Find the conjunction of the propositions </a:t>
                </a:r>
                <a14:m>
                  <m:oMath xmlns:m="http://schemas.openxmlformats.org/officeDocument/2006/math">
                    <m:r>
                      <a:rPr lang="en-US" b="0" i="1" smtClean="0">
                        <a:latin typeface="Cambria Math"/>
                      </a:rPr>
                      <m:t>𝑝</m:t>
                    </m:r>
                  </m:oMath>
                </a14:m>
                <a:r>
                  <a:rPr lang="en-US" b="1" dirty="0"/>
                  <a:t> </a:t>
                </a:r>
                <a:r>
                  <a:rPr lang="en-US" dirty="0"/>
                  <a:t>and </a:t>
                </a:r>
                <a14:m>
                  <m:oMath xmlns:m="http://schemas.openxmlformats.org/officeDocument/2006/math">
                    <m:r>
                      <a:rPr lang="en-US" b="0" i="1" smtClean="0">
                        <a:latin typeface="Cambria Math"/>
                      </a:rPr>
                      <m:t>𝑞</m:t>
                    </m:r>
                  </m:oMath>
                </a14:m>
                <a:r>
                  <a:rPr lang="en-US" b="1" dirty="0"/>
                  <a:t> </a:t>
                </a:r>
                <a:r>
                  <a:rPr lang="en-US" dirty="0"/>
                  <a:t>where </a:t>
                </a:r>
                <a14:m>
                  <m:oMath xmlns:m="http://schemas.openxmlformats.org/officeDocument/2006/math">
                    <m:r>
                      <a:rPr lang="en-US" b="0" i="1" smtClean="0">
                        <a:latin typeface="Cambria Math"/>
                      </a:rPr>
                      <m:t>𝑝</m:t>
                    </m:r>
                  </m:oMath>
                </a14:m>
                <a:r>
                  <a:rPr lang="en-US" b="1" dirty="0"/>
                  <a:t> </a:t>
                </a:r>
                <a:r>
                  <a:rPr lang="en-US" dirty="0"/>
                  <a:t>is the proposition “Peter’s PC has more than 16GB free hard disc space” and </a:t>
                </a:r>
                <a14:m>
                  <m:oMath xmlns:m="http://schemas.openxmlformats.org/officeDocument/2006/math">
                    <m:r>
                      <a:rPr lang="en-US" b="0" i="1" smtClean="0">
                        <a:latin typeface="Cambria Math"/>
                      </a:rPr>
                      <m:t>𝑞</m:t>
                    </m:r>
                  </m:oMath>
                </a14:m>
                <a:r>
                  <a:rPr lang="en-US" b="1" dirty="0"/>
                  <a:t> </a:t>
                </a:r>
                <a:r>
                  <a:rPr lang="en-US" dirty="0"/>
                  <a:t>is the proposition “The processor in Peter’s PC runs faster than 1GHz”</a:t>
                </a:r>
              </a:p>
              <a:p>
                <a:pPr marL="0" indent="0" algn="just">
                  <a:buNone/>
                </a:pPr>
                <a:endParaRPr lang="en-US" b="1" u="sng" dirty="0"/>
              </a:p>
              <a:p>
                <a:pPr marL="0" indent="0" algn="just">
                  <a:buNone/>
                </a:pPr>
                <a:r>
                  <a:rPr lang="en-US" b="1" u="sng" dirty="0"/>
                  <a:t>Solution 5</a:t>
                </a:r>
              </a:p>
              <a:p>
                <a:pPr marL="0" indent="0" algn="just">
                  <a:buNone/>
                </a:pPr>
                <a:r>
                  <a:rPr lang="en-US" dirty="0"/>
                  <a:t>The conjunction of these propositions, </a:t>
                </a:r>
                <a14:m>
                  <m:oMath xmlns:m="http://schemas.openxmlformats.org/officeDocument/2006/math">
                    <m:r>
                      <a:rPr lang="en-US" i="1">
                        <a:latin typeface="Cambria Math"/>
                      </a:rPr>
                      <m:t>𝑝</m:t>
                    </m:r>
                    <m:r>
                      <a:rPr lang="en-US" b="1">
                        <a:latin typeface="Cambria Math"/>
                        <a:ea typeface="Cambria Math"/>
                      </a:rPr>
                      <m:t>∧</m:t>
                    </m:r>
                    <m:r>
                      <a:rPr lang="en-US" i="1">
                        <a:latin typeface="Cambria Math"/>
                      </a:rPr>
                      <m:t>𝑞</m:t>
                    </m:r>
                    <m:r>
                      <a:rPr lang="en-US">
                        <a:latin typeface="Cambria Math"/>
                      </a:rPr>
                      <m:t>,</m:t>
                    </m:r>
                  </m:oMath>
                </a14:m>
                <a:r>
                  <a:rPr lang="en-US" b="1" dirty="0"/>
                  <a:t> </a:t>
                </a:r>
                <a:r>
                  <a:rPr lang="en-US" dirty="0"/>
                  <a:t>is the proposition “</a:t>
                </a:r>
                <a:r>
                  <a:rPr lang="en-US" dirty="0">
                    <a:solidFill>
                      <a:srgbClr val="00B0F0"/>
                    </a:solidFill>
                  </a:rPr>
                  <a:t>Peter’s PC has more than 16GB free hard disc space, and its processor runs faster than 1GHz</a:t>
                </a:r>
                <a:r>
                  <a:rPr lang="en-US" dirty="0"/>
                  <a:t>”</a:t>
                </a:r>
              </a:p>
              <a:p>
                <a:pPr marL="0" indent="0" algn="just">
                  <a:buNone/>
                </a:pPr>
                <a:r>
                  <a:rPr lang="en-US" b="1" dirty="0"/>
                  <a:t>Hint: </a:t>
                </a:r>
                <a:r>
                  <a:rPr lang="en-US" dirty="0"/>
                  <a:t>For this conjunction to be true, both conditions given must be true. It is false when one of these conditions are false.</a:t>
                </a:r>
              </a:p>
              <a:p>
                <a:pPr marL="0" indent="0" algn="just">
                  <a:buNone/>
                </a:pPr>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980" t="-751" r="-1061" b="-1627"/>
                </a:stretch>
              </a:blipFill>
            </p:spPr>
            <p:txBody>
              <a:bodyPr/>
              <a:lstStyle/>
              <a:p>
                <a:r>
                  <a:rPr lang="en-US">
                    <a:noFill/>
                  </a:rPr>
                  <a:t> </a:t>
                </a:r>
              </a:p>
            </p:txBody>
          </p:sp>
        </mc:Fallback>
      </mc:AlternateContent>
      <p:sp>
        <p:nvSpPr>
          <p:cNvPr id="5" name="Slide Number Placeholder 4"/>
          <p:cNvSpPr>
            <a:spLocks noGrp="1"/>
          </p:cNvSpPr>
          <p:nvPr>
            <p:ph type="sldNum" sz="quarter" idx="15"/>
          </p:nvPr>
        </p:nvSpPr>
        <p:spPr/>
        <p:txBody>
          <a:bodyPr/>
          <a:lstStyle/>
          <a:p>
            <a:fld id="{2B5E18CA-EFC1-4ED8-A974-4BD9A10BFFAB}" type="slidenum">
              <a:rPr lang="en-US" smtClean="0"/>
              <a:t>15</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4412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xit" presetSubtype="0" fill="hold" nodeType="clickEffect">
                                  <p:stCondLst>
                                    <p:cond delay="0"/>
                                  </p:stCondLst>
                                  <p:childTnLst>
                                    <p:animEffect transition="out" filter="wipe(down)">
                                      <p:cBhvr>
                                        <p:cTn id="6" dur="180" accel="50000">
                                          <p:stCondLst>
                                            <p:cond delay="1820"/>
                                          </p:stCondLst>
                                        </p:cTn>
                                        <p:tgtEl>
                                          <p:spTgt spid="3">
                                            <p:txEl>
                                              <p:pRg st="5" end="5"/>
                                            </p:txEl>
                                          </p:spTgt>
                                        </p:tgtEl>
                                      </p:cBhvr>
                                    </p:animEffect>
                                    <p:anim calcmode="lin" valueType="num">
                                      <p:cBhvr>
                                        <p:cTn id="7" dur="1822" tmFilter="0,0; 0.14,0.31; 0.43,0.73; 0.71,0.91; 1.0,1.0">
                                          <p:stCondLst>
                                            <p:cond delay="0"/>
                                          </p:stCondLst>
                                        </p:cTn>
                                        <p:tgtEl>
                                          <p:spTgt spid="3">
                                            <p:txEl>
                                              <p:pRg st="5" end="5"/>
                                            </p:txEl>
                                          </p:spTgt>
                                        </p:tgtEl>
                                        <p:attrNameLst>
                                          <p:attrName>ppt_x</p:attrName>
                                        </p:attrNameLst>
                                      </p:cBhvr>
                                      <p:tavLst>
                                        <p:tav tm="0">
                                          <p:val>
                                            <p:strVal val="ppt_x"/>
                                          </p:val>
                                        </p:tav>
                                        <p:tav tm="100000">
                                          <p:val>
                                            <p:strVal val="#ppt_x+0.25"/>
                                          </p:val>
                                        </p:tav>
                                      </p:tavLst>
                                    </p:anim>
                                    <p:anim calcmode="lin" valueType="num">
                                      <p:cBhvr>
                                        <p:cTn id="8" dur="178">
                                          <p:stCondLst>
                                            <p:cond delay="1822"/>
                                          </p:stCondLst>
                                        </p:cTn>
                                        <p:tgtEl>
                                          <p:spTgt spid="3">
                                            <p:txEl>
                                              <p:pRg st="5" end="5"/>
                                            </p:txEl>
                                          </p:spTgt>
                                        </p:tgtEl>
                                        <p:attrNameLst>
                                          <p:attrName>ppt_x</p:attrName>
                                        </p:attrNameLst>
                                      </p:cBhvr>
                                      <p:tavLst>
                                        <p:tav tm="0">
                                          <p:val>
                                            <p:strVal val="ppt_x"/>
                                          </p:val>
                                        </p:tav>
                                        <p:tav tm="100000">
                                          <p:val>
                                            <p:strVal val="ppt_x"/>
                                          </p:val>
                                        </p:tav>
                                      </p:tavLst>
                                    </p:anim>
                                    <p:anim calcmode="lin" valueType="num">
                                      <p:cBhvr>
                                        <p:cTn id="9" dur="664" tmFilter="0.0,0.0;0.25,0.07;0.50,0.2;0.75,0.467;1.0,1.0">
                                          <p:stCondLst>
                                            <p:cond delay="0"/>
                                          </p:stCondLst>
                                        </p:cTn>
                                        <p:tgtEl>
                                          <p:spTgt spid="3">
                                            <p:txEl>
                                              <p:pRg st="5" end="5"/>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 dur="664" tmFilter="0, 0; 0.125,0.2665; 0.25,0.4; 0.375,0.465; 0.5,0.5;  0.625,0.535; 0.75,0.6; 0.875,0.7335; 1,1">
                                          <p:stCondLst>
                                            <p:cond delay="664"/>
                                          </p:stCondLst>
                                        </p:cTn>
                                        <p:tgtEl>
                                          <p:spTgt spid="3">
                                            <p:txEl>
                                              <p:pRg st="5" end="5"/>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 dur="332" tmFilter="0, 0; 0.125,0.2665; 0.25,0.4; 0.375,0.465; 0.5,0.5;  0.625,0.535; 0.75,0.6; 0.875,0.7335; 1,1">
                                          <p:stCondLst>
                                            <p:cond delay="1324"/>
                                          </p:stCondLst>
                                        </p:cTn>
                                        <p:tgtEl>
                                          <p:spTgt spid="3">
                                            <p:txEl>
                                              <p:pRg st="5" end="5"/>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 dur="164" tmFilter="0, 0; 0.125,0.2665; 0.25,0.4; 0.375,0.465; 0.5,0.5;  0.625,0.535; 0.75,0.6; 0.875,0.7335; 1,1">
                                          <p:stCondLst>
                                            <p:cond delay="1656"/>
                                          </p:stCondLst>
                                        </p:cTn>
                                        <p:tgtEl>
                                          <p:spTgt spid="3">
                                            <p:txEl>
                                              <p:pRg st="5" end="5"/>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 dur="180" accel="50000">
                                          <p:stCondLst>
                                            <p:cond delay="1820"/>
                                          </p:stCondLst>
                                        </p:cTn>
                                        <p:tgtEl>
                                          <p:spTgt spid="3">
                                            <p:txEl>
                                              <p:pRg st="5" end="5"/>
                                            </p:txEl>
                                          </p:spTgt>
                                        </p:tgtEl>
                                        <p:attrNameLst>
                                          <p:attrName>ppt_y</p:attrName>
                                        </p:attrNameLst>
                                      </p:cBhvr>
                                      <p:tavLst>
                                        <p:tav tm="0">
                                          <p:val>
                                            <p:strVal val="ppt_y"/>
                                          </p:val>
                                        </p:tav>
                                        <p:tav tm="100000">
                                          <p:val>
                                            <p:strVal val="ppt_y+ppt_h"/>
                                          </p:val>
                                        </p:tav>
                                      </p:tavLst>
                                    </p:anim>
                                    <p:animScale>
                                      <p:cBhvr>
                                        <p:cTn id="14" dur="26">
                                          <p:stCondLst>
                                            <p:cond delay="620"/>
                                          </p:stCondLst>
                                        </p:cTn>
                                        <p:tgtEl>
                                          <p:spTgt spid="3">
                                            <p:txEl>
                                              <p:pRg st="5" end="5"/>
                                            </p:txEl>
                                          </p:spTgt>
                                        </p:tgtEl>
                                      </p:cBhvr>
                                      <p:to x="100000" y="60000"/>
                                    </p:animScale>
                                    <p:animScale>
                                      <p:cBhvr>
                                        <p:cTn id="15" dur="166" decel="50000">
                                          <p:stCondLst>
                                            <p:cond delay="646"/>
                                          </p:stCondLst>
                                        </p:cTn>
                                        <p:tgtEl>
                                          <p:spTgt spid="3">
                                            <p:txEl>
                                              <p:pRg st="5" end="5"/>
                                            </p:txEl>
                                          </p:spTgt>
                                        </p:tgtEl>
                                      </p:cBhvr>
                                      <p:to x="100000" y="100000"/>
                                    </p:animScale>
                                    <p:animScale>
                                      <p:cBhvr>
                                        <p:cTn id="16" dur="26">
                                          <p:stCondLst>
                                            <p:cond delay="1312"/>
                                          </p:stCondLst>
                                        </p:cTn>
                                        <p:tgtEl>
                                          <p:spTgt spid="3">
                                            <p:txEl>
                                              <p:pRg st="5" end="5"/>
                                            </p:txEl>
                                          </p:spTgt>
                                        </p:tgtEl>
                                      </p:cBhvr>
                                      <p:to x="100000" y="80000"/>
                                    </p:animScale>
                                    <p:animScale>
                                      <p:cBhvr>
                                        <p:cTn id="17" dur="166" decel="50000">
                                          <p:stCondLst>
                                            <p:cond delay="1338"/>
                                          </p:stCondLst>
                                        </p:cTn>
                                        <p:tgtEl>
                                          <p:spTgt spid="3">
                                            <p:txEl>
                                              <p:pRg st="5" end="5"/>
                                            </p:txEl>
                                          </p:spTgt>
                                        </p:tgtEl>
                                      </p:cBhvr>
                                      <p:to x="100000" y="100000"/>
                                    </p:animScale>
                                    <p:animScale>
                                      <p:cBhvr>
                                        <p:cTn id="18" dur="26">
                                          <p:stCondLst>
                                            <p:cond delay="1642"/>
                                          </p:stCondLst>
                                        </p:cTn>
                                        <p:tgtEl>
                                          <p:spTgt spid="3">
                                            <p:txEl>
                                              <p:pRg st="5" end="5"/>
                                            </p:txEl>
                                          </p:spTgt>
                                        </p:tgtEl>
                                      </p:cBhvr>
                                      <p:to x="100000" y="90000"/>
                                    </p:animScale>
                                    <p:animScale>
                                      <p:cBhvr>
                                        <p:cTn id="19" dur="166" decel="50000">
                                          <p:stCondLst>
                                            <p:cond delay="1668"/>
                                          </p:stCondLst>
                                        </p:cTn>
                                        <p:tgtEl>
                                          <p:spTgt spid="3">
                                            <p:txEl>
                                              <p:pRg st="5" end="5"/>
                                            </p:txEl>
                                          </p:spTgt>
                                        </p:tgtEl>
                                      </p:cBhvr>
                                      <p:to x="100000" y="100000"/>
                                    </p:animScale>
                                    <p:animScale>
                                      <p:cBhvr>
                                        <p:cTn id="20" dur="26">
                                          <p:stCondLst>
                                            <p:cond delay="1808"/>
                                          </p:stCondLst>
                                        </p:cTn>
                                        <p:tgtEl>
                                          <p:spTgt spid="3">
                                            <p:txEl>
                                              <p:pRg st="5" end="5"/>
                                            </p:txEl>
                                          </p:spTgt>
                                        </p:tgtEl>
                                      </p:cBhvr>
                                      <p:to x="100000" y="95000"/>
                                    </p:animScale>
                                    <p:animScale>
                                      <p:cBhvr>
                                        <p:cTn id="21" dur="166" decel="50000">
                                          <p:stCondLst>
                                            <p:cond delay="1834"/>
                                          </p:stCondLst>
                                        </p:cTn>
                                        <p:tgtEl>
                                          <p:spTgt spid="3">
                                            <p:txEl>
                                              <p:pRg st="5" end="5"/>
                                            </p:txEl>
                                          </p:spTgt>
                                        </p:tgtEl>
                                      </p:cBhvr>
                                      <p:to x="100000" y="100000"/>
                                    </p:animScale>
                                    <p:set>
                                      <p:cBhvr>
                                        <p:cTn id="22" dur="1" fill="hold">
                                          <p:stCondLst>
                                            <p:cond delay="1999"/>
                                          </p:stCondLst>
                                        </p:cTn>
                                        <p:tgtEl>
                                          <p:spTgt spid="3">
                                            <p:txEl>
                                              <p:pRg st="5" end="5"/>
                                            </p:txEl>
                                          </p:spTgt>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92500"/>
              </a:bodyPr>
              <a:lstStyle/>
              <a:p>
                <a:pPr marL="0" indent="0" algn="just">
                  <a:buNone/>
                </a:pPr>
                <a:r>
                  <a:rPr lang="en-US" b="1" u="sng" dirty="0"/>
                  <a:t>Example 6</a:t>
                </a:r>
              </a:p>
              <a:p>
                <a:pPr marL="0" indent="0" algn="just">
                  <a:buNone/>
                </a:pPr>
                <a:r>
                  <a:rPr lang="en-US" dirty="0"/>
                  <a:t>What is the disjunction of </a:t>
                </a:r>
                <a14:m>
                  <m:oMath xmlns:m="http://schemas.openxmlformats.org/officeDocument/2006/math">
                    <m:r>
                      <a:rPr lang="en-US" b="0" i="1" smtClean="0">
                        <a:latin typeface="Cambria Math"/>
                      </a:rPr>
                      <m:t>𝑝</m:t>
                    </m:r>
                  </m:oMath>
                </a14:m>
                <a:r>
                  <a:rPr lang="en-US" dirty="0"/>
                  <a:t> and </a:t>
                </a:r>
                <a14:m>
                  <m:oMath xmlns:m="http://schemas.openxmlformats.org/officeDocument/2006/math">
                    <m:r>
                      <a:rPr lang="en-US" b="0" i="1" smtClean="0">
                        <a:latin typeface="Cambria Math"/>
                      </a:rPr>
                      <m:t>𝑞</m:t>
                    </m:r>
                  </m:oMath>
                </a14:m>
                <a:r>
                  <a:rPr lang="en-US" dirty="0"/>
                  <a:t> where </a:t>
                </a:r>
                <a14:m>
                  <m:oMath xmlns:m="http://schemas.openxmlformats.org/officeDocument/2006/math">
                    <m:r>
                      <a:rPr lang="en-US" i="1">
                        <a:latin typeface="Cambria Math"/>
                      </a:rPr>
                      <m:t>𝑝</m:t>
                    </m:r>
                  </m:oMath>
                </a14:m>
                <a:r>
                  <a:rPr lang="en-US" dirty="0"/>
                  <a:t> and </a:t>
                </a:r>
                <a14:m>
                  <m:oMath xmlns:m="http://schemas.openxmlformats.org/officeDocument/2006/math">
                    <m:r>
                      <a:rPr lang="en-US" i="1">
                        <a:latin typeface="Cambria Math"/>
                      </a:rPr>
                      <m:t>𝑞</m:t>
                    </m:r>
                    <m:r>
                      <a:rPr lang="en-US" i="1">
                        <a:latin typeface="Cambria Math"/>
                      </a:rPr>
                      <m:t> </m:t>
                    </m:r>
                  </m:oMath>
                </a14:m>
                <a:r>
                  <a:rPr lang="en-US" dirty="0"/>
                  <a:t>are the same propositions as in Example 5 above?</a:t>
                </a:r>
              </a:p>
              <a:p>
                <a:pPr marL="0" indent="0" algn="just">
                  <a:buNone/>
                </a:pPr>
                <a:endParaRPr lang="en-US" dirty="0"/>
              </a:p>
              <a:p>
                <a:pPr marL="0" indent="0" algn="just">
                  <a:buNone/>
                </a:pPr>
                <a:r>
                  <a:rPr lang="en-US" b="1" u="sng" dirty="0"/>
                  <a:t>Solution 6</a:t>
                </a:r>
              </a:p>
              <a:p>
                <a:pPr marL="0" indent="0" algn="just">
                  <a:buNone/>
                </a:pPr>
                <a:r>
                  <a:rPr lang="en-US" dirty="0"/>
                  <a:t>The disjunction of </a:t>
                </a:r>
                <a14:m>
                  <m:oMath xmlns:m="http://schemas.openxmlformats.org/officeDocument/2006/math">
                    <m:r>
                      <a:rPr lang="en-US" i="1">
                        <a:latin typeface="Cambria Math"/>
                      </a:rPr>
                      <m:t>𝑝</m:t>
                    </m:r>
                  </m:oMath>
                </a14:m>
                <a:r>
                  <a:rPr lang="en-US" dirty="0"/>
                  <a:t> and </a:t>
                </a:r>
                <a14:m>
                  <m:oMath xmlns:m="http://schemas.openxmlformats.org/officeDocument/2006/math">
                    <m:r>
                      <a:rPr lang="en-US" i="1">
                        <a:latin typeface="Cambria Math"/>
                      </a:rPr>
                      <m:t>𝑞</m:t>
                    </m:r>
                  </m:oMath>
                </a14:m>
                <a:r>
                  <a:rPr lang="en-US" dirty="0"/>
                  <a:t>, </a:t>
                </a:r>
                <a14:m>
                  <m:oMath xmlns:m="http://schemas.openxmlformats.org/officeDocument/2006/math">
                    <m:r>
                      <a:rPr lang="en-US" i="1">
                        <a:latin typeface="Cambria Math"/>
                      </a:rPr>
                      <m:t>𝑝</m:t>
                    </m:r>
                    <m:r>
                      <a:rPr lang="en-US" b="1" i="1">
                        <a:latin typeface="Cambria Math"/>
                      </a:rPr>
                      <m:t>∨</m:t>
                    </m:r>
                    <m:r>
                      <a:rPr lang="en-US" i="1">
                        <a:latin typeface="Cambria Math"/>
                      </a:rPr>
                      <m:t>𝑞</m:t>
                    </m:r>
                  </m:oMath>
                </a14:m>
                <a:r>
                  <a:rPr lang="en-US" dirty="0"/>
                  <a:t>, is the propositions “</a:t>
                </a:r>
                <a:r>
                  <a:rPr lang="en-US" dirty="0">
                    <a:solidFill>
                      <a:srgbClr val="00B0F0"/>
                    </a:solidFill>
                  </a:rPr>
                  <a:t>Peter’s PC has at least 16GB free hard disc space, or the processor in Peter’s PC runs faster than 1GHz</a:t>
                </a:r>
                <a:r>
                  <a:rPr lang="en-US" dirty="0"/>
                  <a:t>”</a:t>
                </a:r>
              </a:p>
              <a:p>
                <a:pPr marL="0" indent="0" algn="just">
                  <a:buNone/>
                </a:pPr>
                <a:endParaRPr lang="en-US" dirty="0"/>
              </a:p>
              <a:p>
                <a:pPr marL="0" indent="0" algn="just">
                  <a:buNone/>
                </a:pPr>
                <a:r>
                  <a:rPr lang="en-US" b="1" dirty="0"/>
                  <a:t>Hint: </a:t>
                </a:r>
                <a:r>
                  <a:rPr lang="en-US" dirty="0"/>
                  <a:t>This proposition is FALSE when both of these conditions are FALSE, otherwise it is TRUE.</a:t>
                </a:r>
              </a:p>
              <a:p>
                <a:pPr marL="0" indent="0" algn="just">
                  <a:buNone/>
                </a:pPr>
                <a:r>
                  <a:rPr lang="en-US" dirty="0"/>
                  <a:t> </a:t>
                </a:r>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980" t="-751" r="-1061"/>
                </a:stretch>
              </a:blipFill>
            </p:spPr>
            <p:txBody>
              <a:bodyPr/>
              <a:lstStyle/>
              <a:p>
                <a:r>
                  <a:rPr lang="en-US">
                    <a:noFill/>
                  </a:rPr>
                  <a:t> </a:t>
                </a:r>
              </a:p>
            </p:txBody>
          </p:sp>
        </mc:Fallback>
      </mc:AlternateContent>
      <p:sp>
        <p:nvSpPr>
          <p:cNvPr id="5" name="Slide Number Placeholder 4"/>
          <p:cNvSpPr>
            <a:spLocks noGrp="1"/>
          </p:cNvSpPr>
          <p:nvPr>
            <p:ph type="sldNum" sz="quarter" idx="15"/>
          </p:nvPr>
        </p:nvSpPr>
        <p:spPr/>
        <p:txBody>
          <a:bodyPr/>
          <a:lstStyle/>
          <a:p>
            <a:fld id="{2B5E18CA-EFC1-4ED8-A974-4BD9A10BFFAB}" type="slidenum">
              <a:rPr lang="en-US" smtClean="0"/>
              <a:t>16</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989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xit" presetSubtype="0" fill="hold" nodeType="clickEffect">
                                  <p:stCondLst>
                                    <p:cond delay="0"/>
                                  </p:stCondLst>
                                  <p:childTnLst>
                                    <p:animEffect transition="out" filter="wipe(down)">
                                      <p:cBhvr>
                                        <p:cTn id="6" dur="180" accel="50000">
                                          <p:stCondLst>
                                            <p:cond delay="1820"/>
                                          </p:stCondLst>
                                        </p:cTn>
                                        <p:tgtEl>
                                          <p:spTgt spid="3">
                                            <p:txEl>
                                              <p:pRg st="6" end="6"/>
                                            </p:txEl>
                                          </p:spTgt>
                                        </p:tgtEl>
                                      </p:cBhvr>
                                    </p:animEffect>
                                    <p:anim calcmode="lin" valueType="num">
                                      <p:cBhvr>
                                        <p:cTn id="7" dur="1822" tmFilter="0,0; 0.14,0.31; 0.43,0.73; 0.71,0.91; 1.0,1.0">
                                          <p:stCondLst>
                                            <p:cond delay="0"/>
                                          </p:stCondLst>
                                        </p:cTn>
                                        <p:tgtEl>
                                          <p:spTgt spid="3">
                                            <p:txEl>
                                              <p:pRg st="6" end="6"/>
                                            </p:txEl>
                                          </p:spTgt>
                                        </p:tgtEl>
                                        <p:attrNameLst>
                                          <p:attrName>ppt_x</p:attrName>
                                        </p:attrNameLst>
                                      </p:cBhvr>
                                      <p:tavLst>
                                        <p:tav tm="0">
                                          <p:val>
                                            <p:strVal val="ppt_x"/>
                                          </p:val>
                                        </p:tav>
                                        <p:tav tm="100000">
                                          <p:val>
                                            <p:strVal val="#ppt_x+0.25"/>
                                          </p:val>
                                        </p:tav>
                                      </p:tavLst>
                                    </p:anim>
                                    <p:anim calcmode="lin" valueType="num">
                                      <p:cBhvr>
                                        <p:cTn id="8" dur="178">
                                          <p:stCondLst>
                                            <p:cond delay="1822"/>
                                          </p:stCondLst>
                                        </p:cTn>
                                        <p:tgtEl>
                                          <p:spTgt spid="3">
                                            <p:txEl>
                                              <p:pRg st="6" end="6"/>
                                            </p:txEl>
                                          </p:spTgt>
                                        </p:tgtEl>
                                        <p:attrNameLst>
                                          <p:attrName>ppt_x</p:attrName>
                                        </p:attrNameLst>
                                      </p:cBhvr>
                                      <p:tavLst>
                                        <p:tav tm="0">
                                          <p:val>
                                            <p:strVal val="ppt_x"/>
                                          </p:val>
                                        </p:tav>
                                        <p:tav tm="100000">
                                          <p:val>
                                            <p:strVal val="ppt_x"/>
                                          </p:val>
                                        </p:tav>
                                      </p:tavLst>
                                    </p:anim>
                                    <p:anim calcmode="lin" valueType="num">
                                      <p:cBhvr>
                                        <p:cTn id="9" dur="664" tmFilter="0.0,0.0;0.25,0.07;0.50,0.2;0.75,0.467;1.0,1.0">
                                          <p:stCondLst>
                                            <p:cond delay="0"/>
                                          </p:stCondLst>
                                        </p:cTn>
                                        <p:tgtEl>
                                          <p:spTgt spid="3">
                                            <p:txEl>
                                              <p:pRg st="6" end="6"/>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 dur="664" tmFilter="0, 0; 0.125,0.2665; 0.25,0.4; 0.375,0.465; 0.5,0.5;  0.625,0.535; 0.75,0.6; 0.875,0.7335; 1,1">
                                          <p:stCondLst>
                                            <p:cond delay="664"/>
                                          </p:stCondLst>
                                        </p:cTn>
                                        <p:tgtEl>
                                          <p:spTgt spid="3">
                                            <p:txEl>
                                              <p:pRg st="6" end="6"/>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 dur="332" tmFilter="0, 0; 0.125,0.2665; 0.25,0.4; 0.375,0.465; 0.5,0.5;  0.625,0.535; 0.75,0.6; 0.875,0.7335; 1,1">
                                          <p:stCondLst>
                                            <p:cond delay="1324"/>
                                          </p:stCondLst>
                                        </p:cTn>
                                        <p:tgtEl>
                                          <p:spTgt spid="3">
                                            <p:txEl>
                                              <p:pRg st="6" end="6"/>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 dur="164" tmFilter="0, 0; 0.125,0.2665; 0.25,0.4; 0.375,0.465; 0.5,0.5;  0.625,0.535; 0.75,0.6; 0.875,0.7335; 1,1">
                                          <p:stCondLst>
                                            <p:cond delay="1656"/>
                                          </p:stCondLst>
                                        </p:cTn>
                                        <p:tgtEl>
                                          <p:spTgt spid="3">
                                            <p:txEl>
                                              <p:pRg st="6" end="6"/>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 dur="180" accel="50000">
                                          <p:stCondLst>
                                            <p:cond delay="1820"/>
                                          </p:stCondLst>
                                        </p:cTn>
                                        <p:tgtEl>
                                          <p:spTgt spid="3">
                                            <p:txEl>
                                              <p:pRg st="6" end="6"/>
                                            </p:txEl>
                                          </p:spTgt>
                                        </p:tgtEl>
                                        <p:attrNameLst>
                                          <p:attrName>ppt_y</p:attrName>
                                        </p:attrNameLst>
                                      </p:cBhvr>
                                      <p:tavLst>
                                        <p:tav tm="0">
                                          <p:val>
                                            <p:strVal val="ppt_y"/>
                                          </p:val>
                                        </p:tav>
                                        <p:tav tm="100000">
                                          <p:val>
                                            <p:strVal val="ppt_y+ppt_h"/>
                                          </p:val>
                                        </p:tav>
                                      </p:tavLst>
                                    </p:anim>
                                    <p:animScale>
                                      <p:cBhvr>
                                        <p:cTn id="14" dur="26">
                                          <p:stCondLst>
                                            <p:cond delay="620"/>
                                          </p:stCondLst>
                                        </p:cTn>
                                        <p:tgtEl>
                                          <p:spTgt spid="3">
                                            <p:txEl>
                                              <p:pRg st="6" end="6"/>
                                            </p:txEl>
                                          </p:spTgt>
                                        </p:tgtEl>
                                      </p:cBhvr>
                                      <p:to x="100000" y="60000"/>
                                    </p:animScale>
                                    <p:animScale>
                                      <p:cBhvr>
                                        <p:cTn id="15" dur="166" decel="50000">
                                          <p:stCondLst>
                                            <p:cond delay="646"/>
                                          </p:stCondLst>
                                        </p:cTn>
                                        <p:tgtEl>
                                          <p:spTgt spid="3">
                                            <p:txEl>
                                              <p:pRg st="6" end="6"/>
                                            </p:txEl>
                                          </p:spTgt>
                                        </p:tgtEl>
                                      </p:cBhvr>
                                      <p:to x="100000" y="100000"/>
                                    </p:animScale>
                                    <p:animScale>
                                      <p:cBhvr>
                                        <p:cTn id="16" dur="26">
                                          <p:stCondLst>
                                            <p:cond delay="1312"/>
                                          </p:stCondLst>
                                        </p:cTn>
                                        <p:tgtEl>
                                          <p:spTgt spid="3">
                                            <p:txEl>
                                              <p:pRg st="6" end="6"/>
                                            </p:txEl>
                                          </p:spTgt>
                                        </p:tgtEl>
                                      </p:cBhvr>
                                      <p:to x="100000" y="80000"/>
                                    </p:animScale>
                                    <p:animScale>
                                      <p:cBhvr>
                                        <p:cTn id="17" dur="166" decel="50000">
                                          <p:stCondLst>
                                            <p:cond delay="1338"/>
                                          </p:stCondLst>
                                        </p:cTn>
                                        <p:tgtEl>
                                          <p:spTgt spid="3">
                                            <p:txEl>
                                              <p:pRg st="6" end="6"/>
                                            </p:txEl>
                                          </p:spTgt>
                                        </p:tgtEl>
                                      </p:cBhvr>
                                      <p:to x="100000" y="100000"/>
                                    </p:animScale>
                                    <p:animScale>
                                      <p:cBhvr>
                                        <p:cTn id="18" dur="26">
                                          <p:stCondLst>
                                            <p:cond delay="1642"/>
                                          </p:stCondLst>
                                        </p:cTn>
                                        <p:tgtEl>
                                          <p:spTgt spid="3">
                                            <p:txEl>
                                              <p:pRg st="6" end="6"/>
                                            </p:txEl>
                                          </p:spTgt>
                                        </p:tgtEl>
                                      </p:cBhvr>
                                      <p:to x="100000" y="90000"/>
                                    </p:animScale>
                                    <p:animScale>
                                      <p:cBhvr>
                                        <p:cTn id="19" dur="166" decel="50000">
                                          <p:stCondLst>
                                            <p:cond delay="1668"/>
                                          </p:stCondLst>
                                        </p:cTn>
                                        <p:tgtEl>
                                          <p:spTgt spid="3">
                                            <p:txEl>
                                              <p:pRg st="6" end="6"/>
                                            </p:txEl>
                                          </p:spTgt>
                                        </p:tgtEl>
                                      </p:cBhvr>
                                      <p:to x="100000" y="100000"/>
                                    </p:animScale>
                                    <p:animScale>
                                      <p:cBhvr>
                                        <p:cTn id="20" dur="26">
                                          <p:stCondLst>
                                            <p:cond delay="1808"/>
                                          </p:stCondLst>
                                        </p:cTn>
                                        <p:tgtEl>
                                          <p:spTgt spid="3">
                                            <p:txEl>
                                              <p:pRg st="6" end="6"/>
                                            </p:txEl>
                                          </p:spTgt>
                                        </p:tgtEl>
                                      </p:cBhvr>
                                      <p:to x="100000" y="95000"/>
                                    </p:animScale>
                                    <p:animScale>
                                      <p:cBhvr>
                                        <p:cTn id="21" dur="166" decel="50000">
                                          <p:stCondLst>
                                            <p:cond delay="1834"/>
                                          </p:stCondLst>
                                        </p:cTn>
                                        <p:tgtEl>
                                          <p:spTgt spid="3">
                                            <p:txEl>
                                              <p:pRg st="6" end="6"/>
                                            </p:txEl>
                                          </p:spTgt>
                                        </p:tgtEl>
                                      </p:cBhvr>
                                      <p:to x="100000" y="100000"/>
                                    </p:animScale>
                                    <p:set>
                                      <p:cBhvr>
                                        <p:cTn id="22" dur="1" fill="hold">
                                          <p:stCondLst>
                                            <p:cond delay="1999"/>
                                          </p:stCondLst>
                                        </p:cTn>
                                        <p:tgtEl>
                                          <p:spTgt spid="3">
                                            <p:txEl>
                                              <p:pRg st="6" end="6"/>
                                            </p:txEl>
                                          </p:spTgt>
                                        </p:tgtEl>
                                        <p:attrNameLst>
                                          <p:attrName>style.visibility</p:attrName>
                                        </p:attrNameLst>
                                      </p:cBhvr>
                                      <p:to>
                                        <p:strVal val="hidden"/>
                                      </p:to>
                                    </p:set>
                                  </p:childTnLst>
                                </p:cTn>
                              </p:par>
                              <p:par>
                                <p:cTn id="23" presetID="26" presetClass="exit" presetSubtype="0" fill="hold" nodeType="withEffect">
                                  <p:stCondLst>
                                    <p:cond delay="0"/>
                                  </p:stCondLst>
                                  <p:childTnLst>
                                    <p:animEffect transition="out" filter="wipe(down)">
                                      <p:cBhvr>
                                        <p:cTn id="24" dur="180" accel="50000">
                                          <p:stCondLst>
                                            <p:cond delay="1820"/>
                                          </p:stCondLst>
                                        </p:cTn>
                                        <p:tgtEl>
                                          <p:spTgt spid="3">
                                            <p:txEl>
                                              <p:pRg st="7" end="7"/>
                                            </p:txEl>
                                          </p:spTgt>
                                        </p:tgtEl>
                                      </p:cBhvr>
                                    </p:animEffect>
                                    <p:anim calcmode="lin" valueType="num">
                                      <p:cBhvr>
                                        <p:cTn id="25" dur="1822" tmFilter="0,0; 0.14,0.31; 0.43,0.73; 0.71,0.91; 1.0,1.0">
                                          <p:stCondLst>
                                            <p:cond delay="0"/>
                                          </p:stCondLst>
                                        </p:cTn>
                                        <p:tgtEl>
                                          <p:spTgt spid="3">
                                            <p:txEl>
                                              <p:pRg st="7" end="7"/>
                                            </p:txEl>
                                          </p:spTgt>
                                        </p:tgtEl>
                                        <p:attrNameLst>
                                          <p:attrName>ppt_x</p:attrName>
                                        </p:attrNameLst>
                                      </p:cBhvr>
                                      <p:tavLst>
                                        <p:tav tm="0">
                                          <p:val>
                                            <p:strVal val="ppt_x"/>
                                          </p:val>
                                        </p:tav>
                                        <p:tav tm="100000">
                                          <p:val>
                                            <p:strVal val="#ppt_x+0.25"/>
                                          </p:val>
                                        </p:tav>
                                      </p:tavLst>
                                    </p:anim>
                                    <p:anim calcmode="lin" valueType="num">
                                      <p:cBhvr>
                                        <p:cTn id="26" dur="178">
                                          <p:stCondLst>
                                            <p:cond delay="1822"/>
                                          </p:stCondLst>
                                        </p:cTn>
                                        <p:tgtEl>
                                          <p:spTgt spid="3">
                                            <p:txEl>
                                              <p:pRg st="7" end="7"/>
                                            </p:txEl>
                                          </p:spTgt>
                                        </p:tgtEl>
                                        <p:attrNameLst>
                                          <p:attrName>ppt_x</p:attrName>
                                        </p:attrNameLst>
                                      </p:cBhvr>
                                      <p:tavLst>
                                        <p:tav tm="0">
                                          <p:val>
                                            <p:strVal val="ppt_x"/>
                                          </p:val>
                                        </p:tav>
                                        <p:tav tm="100000">
                                          <p:val>
                                            <p:strVal val="ppt_x"/>
                                          </p:val>
                                        </p:tav>
                                      </p:tavLst>
                                    </p:anim>
                                    <p:anim calcmode="lin" valueType="num">
                                      <p:cBhvr>
                                        <p:cTn id="27" dur="664" tmFilter="0.0,0.0;0.25,0.07;0.50,0.2;0.75,0.467;1.0,1.0">
                                          <p:stCondLst>
                                            <p:cond delay="0"/>
                                          </p:stCondLst>
                                        </p:cTn>
                                        <p:tgtEl>
                                          <p:spTgt spid="3">
                                            <p:txEl>
                                              <p:pRg st="7" end="7"/>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8" dur="664" tmFilter="0, 0; 0.125,0.2665; 0.25,0.4; 0.375,0.465; 0.5,0.5;  0.625,0.535; 0.75,0.6; 0.875,0.7335; 1,1">
                                          <p:stCondLst>
                                            <p:cond delay="664"/>
                                          </p:stCondLst>
                                        </p:cTn>
                                        <p:tgtEl>
                                          <p:spTgt spid="3">
                                            <p:txEl>
                                              <p:pRg st="7" end="7"/>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9" dur="332" tmFilter="0, 0; 0.125,0.2665; 0.25,0.4; 0.375,0.465; 0.5,0.5;  0.625,0.535; 0.75,0.6; 0.875,0.7335; 1,1">
                                          <p:stCondLst>
                                            <p:cond delay="1324"/>
                                          </p:stCondLst>
                                        </p:cTn>
                                        <p:tgtEl>
                                          <p:spTgt spid="3">
                                            <p:txEl>
                                              <p:pRg st="7" end="7"/>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0" dur="164" tmFilter="0, 0; 0.125,0.2665; 0.25,0.4; 0.375,0.465; 0.5,0.5;  0.625,0.535; 0.75,0.6; 0.875,0.7335; 1,1">
                                          <p:stCondLst>
                                            <p:cond delay="1656"/>
                                          </p:stCondLst>
                                        </p:cTn>
                                        <p:tgtEl>
                                          <p:spTgt spid="3">
                                            <p:txEl>
                                              <p:pRg st="7" end="7"/>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1" dur="180" accel="50000">
                                          <p:stCondLst>
                                            <p:cond delay="1820"/>
                                          </p:stCondLst>
                                        </p:cTn>
                                        <p:tgtEl>
                                          <p:spTgt spid="3">
                                            <p:txEl>
                                              <p:pRg st="7" end="7"/>
                                            </p:txEl>
                                          </p:spTgt>
                                        </p:tgtEl>
                                        <p:attrNameLst>
                                          <p:attrName>ppt_y</p:attrName>
                                        </p:attrNameLst>
                                      </p:cBhvr>
                                      <p:tavLst>
                                        <p:tav tm="0">
                                          <p:val>
                                            <p:strVal val="ppt_y"/>
                                          </p:val>
                                        </p:tav>
                                        <p:tav tm="100000">
                                          <p:val>
                                            <p:strVal val="ppt_y+ppt_h"/>
                                          </p:val>
                                        </p:tav>
                                      </p:tavLst>
                                    </p:anim>
                                    <p:animScale>
                                      <p:cBhvr>
                                        <p:cTn id="32" dur="26">
                                          <p:stCondLst>
                                            <p:cond delay="620"/>
                                          </p:stCondLst>
                                        </p:cTn>
                                        <p:tgtEl>
                                          <p:spTgt spid="3">
                                            <p:txEl>
                                              <p:pRg st="7" end="7"/>
                                            </p:txEl>
                                          </p:spTgt>
                                        </p:tgtEl>
                                      </p:cBhvr>
                                      <p:to x="100000" y="60000"/>
                                    </p:animScale>
                                    <p:animScale>
                                      <p:cBhvr>
                                        <p:cTn id="33" dur="166" decel="50000">
                                          <p:stCondLst>
                                            <p:cond delay="646"/>
                                          </p:stCondLst>
                                        </p:cTn>
                                        <p:tgtEl>
                                          <p:spTgt spid="3">
                                            <p:txEl>
                                              <p:pRg st="7" end="7"/>
                                            </p:txEl>
                                          </p:spTgt>
                                        </p:tgtEl>
                                      </p:cBhvr>
                                      <p:to x="100000" y="100000"/>
                                    </p:animScale>
                                    <p:animScale>
                                      <p:cBhvr>
                                        <p:cTn id="34" dur="26">
                                          <p:stCondLst>
                                            <p:cond delay="1312"/>
                                          </p:stCondLst>
                                        </p:cTn>
                                        <p:tgtEl>
                                          <p:spTgt spid="3">
                                            <p:txEl>
                                              <p:pRg st="7" end="7"/>
                                            </p:txEl>
                                          </p:spTgt>
                                        </p:tgtEl>
                                      </p:cBhvr>
                                      <p:to x="100000" y="80000"/>
                                    </p:animScale>
                                    <p:animScale>
                                      <p:cBhvr>
                                        <p:cTn id="35" dur="166" decel="50000">
                                          <p:stCondLst>
                                            <p:cond delay="1338"/>
                                          </p:stCondLst>
                                        </p:cTn>
                                        <p:tgtEl>
                                          <p:spTgt spid="3">
                                            <p:txEl>
                                              <p:pRg st="7" end="7"/>
                                            </p:txEl>
                                          </p:spTgt>
                                        </p:tgtEl>
                                      </p:cBhvr>
                                      <p:to x="100000" y="100000"/>
                                    </p:animScale>
                                    <p:animScale>
                                      <p:cBhvr>
                                        <p:cTn id="36" dur="26">
                                          <p:stCondLst>
                                            <p:cond delay="1642"/>
                                          </p:stCondLst>
                                        </p:cTn>
                                        <p:tgtEl>
                                          <p:spTgt spid="3">
                                            <p:txEl>
                                              <p:pRg st="7" end="7"/>
                                            </p:txEl>
                                          </p:spTgt>
                                        </p:tgtEl>
                                      </p:cBhvr>
                                      <p:to x="100000" y="90000"/>
                                    </p:animScale>
                                    <p:animScale>
                                      <p:cBhvr>
                                        <p:cTn id="37" dur="166" decel="50000">
                                          <p:stCondLst>
                                            <p:cond delay="1668"/>
                                          </p:stCondLst>
                                        </p:cTn>
                                        <p:tgtEl>
                                          <p:spTgt spid="3">
                                            <p:txEl>
                                              <p:pRg st="7" end="7"/>
                                            </p:txEl>
                                          </p:spTgt>
                                        </p:tgtEl>
                                      </p:cBhvr>
                                      <p:to x="100000" y="100000"/>
                                    </p:animScale>
                                    <p:animScale>
                                      <p:cBhvr>
                                        <p:cTn id="38" dur="26">
                                          <p:stCondLst>
                                            <p:cond delay="1808"/>
                                          </p:stCondLst>
                                        </p:cTn>
                                        <p:tgtEl>
                                          <p:spTgt spid="3">
                                            <p:txEl>
                                              <p:pRg st="7" end="7"/>
                                            </p:txEl>
                                          </p:spTgt>
                                        </p:tgtEl>
                                      </p:cBhvr>
                                      <p:to x="100000" y="95000"/>
                                    </p:animScale>
                                    <p:animScale>
                                      <p:cBhvr>
                                        <p:cTn id="39" dur="166" decel="50000">
                                          <p:stCondLst>
                                            <p:cond delay="1834"/>
                                          </p:stCondLst>
                                        </p:cTn>
                                        <p:tgtEl>
                                          <p:spTgt spid="3">
                                            <p:txEl>
                                              <p:pRg st="7" end="7"/>
                                            </p:txEl>
                                          </p:spTgt>
                                        </p:tgtEl>
                                      </p:cBhvr>
                                      <p:to x="100000" y="100000"/>
                                    </p:animScale>
                                    <p:set>
                                      <p:cBhvr>
                                        <p:cTn id="40" dur="1" fill="hold">
                                          <p:stCondLst>
                                            <p:cond delay="1999"/>
                                          </p:stCondLst>
                                        </p:cTn>
                                        <p:tgtEl>
                                          <p:spTgt spid="3">
                                            <p:txEl>
                                              <p:pRg st="7" end="7"/>
                                            </p:txEl>
                                          </p:spTgt>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anim calcmode="lin" valueType="num">
                                      <p:cBhvr additive="base">
                                        <p:cTn id="4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 calcmode="lin" valueType="num">
                                      <p:cBhvr additive="base">
                                        <p:cTn id="4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457200" y="1600200"/>
                <a:ext cx="7467600" cy="2590800"/>
              </a:xfrm>
            </p:spPr>
            <p:style>
              <a:lnRef idx="1">
                <a:schemeClr val="accent2"/>
              </a:lnRef>
              <a:fillRef idx="2">
                <a:schemeClr val="accent2"/>
              </a:fillRef>
              <a:effectRef idx="1">
                <a:schemeClr val="accent2"/>
              </a:effectRef>
              <a:fontRef idx="minor">
                <a:schemeClr val="dk1"/>
              </a:fontRef>
            </p:style>
            <p:txBody>
              <a:bodyPr>
                <a:normAutofit/>
              </a:bodyPr>
              <a:lstStyle/>
              <a:p>
                <a:pPr marL="0" indent="0">
                  <a:buNone/>
                </a:pPr>
                <a:r>
                  <a:rPr lang="en-US" b="1" u="sng" dirty="0"/>
                  <a:t>Definition 4</a:t>
                </a:r>
              </a:p>
              <a:p>
                <a:pPr marL="0" indent="0">
                  <a:buNone/>
                </a:pPr>
                <a:endParaRPr lang="en-US" b="1" u="sng" dirty="0"/>
              </a:p>
              <a:p>
                <a:pPr marL="0" indent="0">
                  <a:buNone/>
                </a:pPr>
                <a:r>
                  <a:rPr lang="en-US" dirty="0"/>
                  <a:t>Let </a:t>
                </a:r>
                <a14:m>
                  <m:oMath xmlns:m="http://schemas.openxmlformats.org/officeDocument/2006/math">
                    <m:r>
                      <a:rPr lang="en-US" b="0" i="1" smtClean="0">
                        <a:latin typeface="Cambria Math"/>
                      </a:rPr>
                      <m:t>𝑝</m:t>
                    </m:r>
                  </m:oMath>
                </a14:m>
                <a:r>
                  <a:rPr lang="en-US" dirty="0"/>
                  <a:t> and </a:t>
                </a:r>
                <a14:m>
                  <m:oMath xmlns:m="http://schemas.openxmlformats.org/officeDocument/2006/math">
                    <m:r>
                      <a:rPr lang="en-US" b="0" i="1" smtClean="0">
                        <a:latin typeface="Cambria Math"/>
                      </a:rPr>
                      <m:t>𝑞</m:t>
                    </m:r>
                    <m:r>
                      <a:rPr lang="en-US" b="0" i="1" smtClean="0">
                        <a:latin typeface="Cambria Math"/>
                      </a:rPr>
                      <m:t> </m:t>
                    </m:r>
                  </m:oMath>
                </a14:m>
                <a:r>
                  <a:rPr lang="en-US" dirty="0"/>
                  <a:t>be a propositions. The</a:t>
                </a:r>
                <a14:m>
                  <m:oMath xmlns:m="http://schemas.openxmlformats.org/officeDocument/2006/math">
                    <m:r>
                      <a:rPr lang="en-US" b="0" i="0" smtClean="0">
                        <a:latin typeface="Cambria Math"/>
                      </a:rPr>
                      <m:t> </m:t>
                    </m:r>
                    <m:r>
                      <m:rPr>
                        <m:sty m:val="p"/>
                      </m:rPr>
                      <a:rPr lang="en-US" b="0" i="0" smtClean="0">
                        <a:latin typeface="Cambria Math"/>
                      </a:rPr>
                      <m:t>exclusive</m:t>
                    </m:r>
                    <m:r>
                      <a:rPr lang="en-US" b="0" i="0" smtClean="0">
                        <a:latin typeface="Cambria Math"/>
                      </a:rPr>
                      <m:t> </m:t>
                    </m:r>
                    <m:r>
                      <m:rPr>
                        <m:sty m:val="p"/>
                      </m:rPr>
                      <a:rPr lang="en-US" b="0" i="0" smtClean="0">
                        <a:latin typeface="Cambria Math"/>
                      </a:rPr>
                      <m:t>or</m:t>
                    </m:r>
                    <m:r>
                      <a:rPr lang="en-US" b="0" i="0" smtClean="0">
                        <a:latin typeface="Cambria Math"/>
                      </a:rPr>
                      <m:t> </m:t>
                    </m:r>
                    <m:r>
                      <a:rPr lang="en-US" b="0" i="1" smtClean="0">
                        <a:latin typeface="Cambria Math"/>
                      </a:rPr>
                      <m:t>𝑜𝑓</m:t>
                    </m:r>
                    <m:r>
                      <a:rPr lang="en-US" b="0" i="1" smtClean="0">
                        <a:latin typeface="Cambria Math"/>
                      </a:rPr>
                      <m:t> </m:t>
                    </m:r>
                    <m:r>
                      <a:rPr lang="en-US" b="0" i="1" smtClean="0">
                        <a:latin typeface="Cambria Math"/>
                      </a:rPr>
                      <m:t>𝑝</m:t>
                    </m:r>
                    <m:r>
                      <a:rPr lang="en-US" b="0" i="1" smtClean="0">
                        <a:latin typeface="Cambria Math"/>
                      </a:rPr>
                      <m:t> </m:t>
                    </m:r>
                    <m:r>
                      <a:rPr lang="en-US" b="0" i="1" smtClean="0">
                        <a:latin typeface="Cambria Math"/>
                      </a:rPr>
                      <m:t>𝑎𝑛𝑑</m:t>
                    </m:r>
                    <m:r>
                      <a:rPr lang="en-US" b="0" i="1" smtClean="0">
                        <a:latin typeface="Cambria Math"/>
                      </a:rPr>
                      <m:t> </m:t>
                    </m:r>
                    <m:r>
                      <a:rPr lang="en-US" b="0" i="1" smtClean="0">
                        <a:latin typeface="Cambria Math"/>
                      </a:rPr>
                      <m:t>𝑞</m:t>
                    </m:r>
                  </m:oMath>
                </a14:m>
                <a:r>
                  <a:rPr lang="en-US" dirty="0"/>
                  <a:t>, denoted as </a:t>
                </a:r>
                <a14:m>
                  <m:oMath xmlns:m="http://schemas.openxmlformats.org/officeDocument/2006/math">
                    <m:r>
                      <a:rPr lang="en-US" b="0" i="1" smtClean="0">
                        <a:latin typeface="Cambria Math"/>
                        <a:ea typeface="Cambria Math"/>
                      </a:rPr>
                      <m:t>𝑝</m:t>
                    </m:r>
                    <m:r>
                      <a:rPr lang="en-US" b="0" i="1" smtClean="0">
                        <a:latin typeface="Cambria Math"/>
                        <a:ea typeface="Cambria Math"/>
                      </a:rPr>
                      <m:t>⨁</m:t>
                    </m:r>
                    <m:r>
                      <m:rPr>
                        <m:sty m:val="p"/>
                      </m:rPr>
                      <a:rPr lang="en-US" b="0" i="0" smtClean="0">
                        <a:latin typeface="Cambria Math"/>
                        <a:ea typeface="Cambria Math"/>
                      </a:rPr>
                      <m:t>q</m:t>
                    </m:r>
                  </m:oMath>
                </a14:m>
                <a:r>
                  <a:rPr lang="en-US" dirty="0"/>
                  <a:t>, is the proposition that is TRUE when exactly one of </a:t>
                </a:r>
                <a14:m>
                  <m:oMath xmlns:m="http://schemas.openxmlformats.org/officeDocument/2006/math">
                    <m:r>
                      <a:rPr lang="en-US" b="0" i="1" smtClean="0">
                        <a:latin typeface="Cambria Math"/>
                      </a:rPr>
                      <m:t>𝑝</m:t>
                    </m:r>
                  </m:oMath>
                </a14:m>
                <a:r>
                  <a:rPr lang="en-US" dirty="0"/>
                  <a:t> and </a:t>
                </a:r>
                <a14:m>
                  <m:oMath xmlns:m="http://schemas.openxmlformats.org/officeDocument/2006/math">
                    <m:r>
                      <m:rPr>
                        <m:sty m:val="p"/>
                      </m:rPr>
                      <a:rPr lang="en-US">
                        <a:latin typeface="Cambria Math"/>
                        <a:ea typeface="Cambria Math"/>
                      </a:rPr>
                      <m:t>q</m:t>
                    </m:r>
                  </m:oMath>
                </a14:m>
                <a:r>
                  <a:rPr lang="en-US" b="0" dirty="0"/>
                  <a:t> is TRUE and FALSE otherwise</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457200" y="1600200"/>
                <a:ext cx="7467600" cy="2590800"/>
              </a:xfrm>
              <a:blipFill rotWithShape="1">
                <a:blip r:embed="rId2"/>
                <a:stretch>
                  <a:fillRect/>
                </a:stretch>
              </a:blipFill>
            </p:spPr>
            <p:txBody>
              <a:bodyPr/>
              <a:lstStyle/>
              <a:p>
                <a:r>
                  <a:rPr lang="en-GB">
                    <a:noFill/>
                  </a:rPr>
                  <a:t> </a:t>
                </a:r>
              </a:p>
            </p:txBody>
          </p:sp>
        </mc:Fallback>
      </mc:AlternateContent>
      <p:sp>
        <p:nvSpPr>
          <p:cNvPr id="5" name="Slide Number Placeholder 4"/>
          <p:cNvSpPr>
            <a:spLocks noGrp="1"/>
          </p:cNvSpPr>
          <p:nvPr>
            <p:ph type="sldNum" sz="quarter" idx="15"/>
          </p:nvPr>
        </p:nvSpPr>
        <p:spPr/>
        <p:txBody>
          <a:bodyPr/>
          <a:lstStyle/>
          <a:p>
            <a:fld id="{2B5E18CA-EFC1-4ED8-A974-4BD9A10BFFAB}" type="slidenum">
              <a:rPr lang="en-US" smtClean="0"/>
              <a:t>17</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3883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4" name="Text Placeholder 3"/>
          <p:cNvSpPr>
            <a:spLocks noGrp="1"/>
          </p:cNvSpPr>
          <p:nvPr>
            <p:ph type="body" idx="2"/>
          </p:nvPr>
        </p:nvSpPr>
        <p:spPr/>
        <p:txBody>
          <a:bodyPr>
            <a:normAutofit fontScale="92500" lnSpcReduction="10000"/>
          </a:bodyPr>
          <a:lstStyle/>
          <a:p>
            <a:pPr algn="just"/>
            <a:endParaRPr lang="en-US" dirty="0"/>
          </a:p>
          <a:p>
            <a:pPr algn="just"/>
            <a:endParaRPr lang="en-US" sz="2800" dirty="0"/>
          </a:p>
          <a:p>
            <a:pPr algn="just"/>
            <a:r>
              <a:rPr lang="en-US" sz="2600" dirty="0"/>
              <a:t>Table 4. </a:t>
            </a:r>
          </a:p>
          <a:p>
            <a:pPr algn="just"/>
            <a:endParaRPr lang="en-US" sz="2800" dirty="0"/>
          </a:p>
          <a:p>
            <a:pPr algn="just"/>
            <a:r>
              <a:rPr lang="en-US" sz="2600" dirty="0"/>
              <a:t>The truth table for the exclusive or of two propositions </a:t>
            </a:r>
          </a:p>
        </p:txBody>
      </p:sp>
      <p:sp>
        <p:nvSpPr>
          <p:cNvPr id="3" name="Content Placeholder 2"/>
          <p:cNvSpPr>
            <a:spLocks noGrp="1"/>
          </p:cNvSpPr>
          <p:nvPr>
            <p:ph sz="quarter" idx="1"/>
          </p:nvPr>
        </p:nvSpPr>
        <p:spPr/>
        <p:txBody>
          <a:bodyPr>
            <a:normAutofit/>
          </a:bodyPr>
          <a:lstStyle/>
          <a:p>
            <a:pPr marL="0" indent="0" algn="ctr">
              <a:buNone/>
            </a:pPr>
            <a:r>
              <a:rPr lang="en-US" b="1" u="sng" dirty="0"/>
              <a:t>Truth Table</a:t>
            </a:r>
          </a:p>
          <a:p>
            <a:pPr marL="0" indent="0" algn="just">
              <a:buNone/>
            </a:pPr>
            <a:endParaRPr lang="en-US" dirty="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a:p>
            <a:pPr marL="0" indent="0" algn="just">
              <a:buNone/>
            </a:pPr>
            <a:r>
              <a:rPr lang="en-US" dirty="0">
                <a:solidFill>
                  <a:srgbClr val="FF0000"/>
                </a:solidFill>
              </a:rPr>
              <a:t>Yes, this is how it should look like. You had a better try…!</a:t>
            </a:r>
          </a:p>
          <a:p>
            <a:pPr marL="0" indent="0" algn="just">
              <a:buNone/>
            </a:pPr>
            <a:endParaRPr lang="en-US" dirty="0">
              <a:solidFill>
                <a:srgbClr val="FF000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143000"/>
            <a:ext cx="4612671"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143000"/>
            <a:ext cx="4574571"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5"/>
          <p:cNvSpPr>
            <a:spLocks noGrp="1"/>
          </p:cNvSpPr>
          <p:nvPr>
            <p:ph type="sldNum" sz="quarter" idx="15"/>
          </p:nvPr>
        </p:nvSpPr>
        <p:spPr/>
        <p:txBody>
          <a:bodyPr/>
          <a:lstStyle/>
          <a:p>
            <a:fld id="{2B5E18CA-EFC1-4ED8-A974-4BD9A10BFFAB}" type="slidenum">
              <a:rPr lang="en-US" smtClean="0"/>
              <a:t>18</a:t>
            </a:fld>
            <a:endParaRPr lang="en-US"/>
          </a:p>
        </p:txBody>
      </p:sp>
      <p:pic>
        <p:nvPicPr>
          <p:cNvPr id="10" name="Picture 1"/>
          <p:cNvPicPr>
            <a:picLocks noChangeAspect="1" noChangeArrowheads="1"/>
          </p:cNvPicPr>
          <p:nvPr/>
        </p:nvPicPr>
        <p:blipFill>
          <a:blip r:embed="rId4"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2982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p:style>
          <a:lnRef idx="1">
            <a:schemeClr val="accent2"/>
          </a:lnRef>
          <a:fillRef idx="2">
            <a:schemeClr val="accent2"/>
          </a:fillRef>
          <a:effectRef idx="1">
            <a:schemeClr val="accent2"/>
          </a:effectRef>
          <a:fontRef idx="minor">
            <a:schemeClr val="dk1"/>
          </a:fontRef>
        </p:style>
        <p:txBody>
          <a:bodyPr>
            <a:normAutofit/>
          </a:bodyPr>
          <a:lstStyle/>
          <a:p>
            <a:pPr marL="0" indent="0" algn="just">
              <a:buNone/>
            </a:pPr>
            <a:r>
              <a:rPr lang="en-US" b="1" u="sng" dirty="0"/>
              <a:t>Conditional statements</a:t>
            </a:r>
          </a:p>
          <a:p>
            <a:pPr marL="0" indent="0" algn="just">
              <a:buNone/>
            </a:pPr>
            <a:endParaRPr lang="en-US" b="1" u="sng" dirty="0"/>
          </a:p>
          <a:p>
            <a:pPr marL="0" indent="0" algn="just">
              <a:buNone/>
            </a:pPr>
            <a:r>
              <a:rPr lang="en-US" b="1" u="sng" dirty="0"/>
              <a:t>Definition 5</a:t>
            </a:r>
          </a:p>
          <a:p>
            <a:pPr marL="0" indent="0">
              <a:buNone/>
            </a:pPr>
            <a:r>
              <a:rPr lang="en-US" dirty="0"/>
              <a:t>Let </a:t>
            </a:r>
            <a:r>
              <a:rPr lang="en-US" i="1" dirty="0"/>
              <a:t>p </a:t>
            </a:r>
            <a:r>
              <a:rPr lang="en-US" dirty="0"/>
              <a:t>and </a:t>
            </a:r>
            <a:r>
              <a:rPr lang="en-US" i="1" dirty="0"/>
              <a:t>q </a:t>
            </a:r>
            <a:r>
              <a:rPr lang="en-US" dirty="0"/>
              <a:t>be propositions. The </a:t>
            </a:r>
            <a:r>
              <a:rPr lang="en-US" i="1" dirty="0"/>
              <a:t>conditional statement p </a:t>
            </a:r>
            <a:r>
              <a:rPr lang="en-US" dirty="0"/>
              <a:t>→ </a:t>
            </a:r>
            <a:r>
              <a:rPr lang="en-US" i="1" dirty="0"/>
              <a:t>q </a:t>
            </a:r>
            <a:r>
              <a:rPr lang="en-US" dirty="0"/>
              <a:t>is the proposition “if </a:t>
            </a:r>
            <a:r>
              <a:rPr lang="en-US" i="1" dirty="0"/>
              <a:t>p</a:t>
            </a:r>
            <a:r>
              <a:rPr lang="en-US" dirty="0"/>
              <a:t>, then</a:t>
            </a:r>
          </a:p>
          <a:p>
            <a:pPr marL="0" indent="0">
              <a:buNone/>
            </a:pPr>
            <a:r>
              <a:rPr lang="en-US" i="1" dirty="0"/>
              <a:t>q</a:t>
            </a:r>
            <a:r>
              <a:rPr lang="en-US" dirty="0"/>
              <a:t>.” The conditional statement </a:t>
            </a:r>
            <a:r>
              <a:rPr lang="en-US" i="1" dirty="0"/>
              <a:t>p </a:t>
            </a:r>
            <a:r>
              <a:rPr lang="en-US" dirty="0"/>
              <a:t>→ </a:t>
            </a:r>
            <a:r>
              <a:rPr lang="en-US" i="1" dirty="0"/>
              <a:t>q </a:t>
            </a:r>
            <a:r>
              <a:rPr lang="en-US" dirty="0"/>
              <a:t>is FALSE when </a:t>
            </a:r>
            <a:r>
              <a:rPr lang="en-US" i="1" dirty="0"/>
              <a:t>p </a:t>
            </a:r>
            <a:r>
              <a:rPr lang="en-US" dirty="0"/>
              <a:t>is TRUE and </a:t>
            </a:r>
            <a:r>
              <a:rPr lang="en-US" i="1" dirty="0"/>
              <a:t>q </a:t>
            </a:r>
            <a:r>
              <a:rPr lang="en-US" dirty="0"/>
              <a:t>is FALSE, and TRUE otherwise.</a:t>
            </a:r>
          </a:p>
          <a:p>
            <a:pPr marL="0" indent="0">
              <a:buNone/>
            </a:pPr>
            <a:r>
              <a:rPr lang="en-US" dirty="0"/>
              <a:t>In the conditional statement </a:t>
            </a:r>
            <a:r>
              <a:rPr lang="en-US" i="1" dirty="0"/>
              <a:t>p </a:t>
            </a:r>
            <a:r>
              <a:rPr lang="en-US" dirty="0"/>
              <a:t>→ </a:t>
            </a:r>
            <a:r>
              <a:rPr lang="en-US" i="1" dirty="0"/>
              <a:t>q</a:t>
            </a:r>
            <a:r>
              <a:rPr lang="en-US" dirty="0"/>
              <a:t>, </a:t>
            </a:r>
            <a:r>
              <a:rPr lang="en-US" i="1" dirty="0"/>
              <a:t>p </a:t>
            </a:r>
            <a:r>
              <a:rPr lang="en-US" dirty="0"/>
              <a:t>is called the </a:t>
            </a:r>
            <a:r>
              <a:rPr lang="en-US" i="1" dirty="0"/>
              <a:t>hypothesis </a:t>
            </a:r>
            <a:r>
              <a:rPr lang="en-US" dirty="0"/>
              <a:t>(or </a:t>
            </a:r>
            <a:r>
              <a:rPr lang="en-US" i="1" dirty="0"/>
              <a:t>premise</a:t>
            </a:r>
            <a:r>
              <a:rPr lang="en-US" dirty="0"/>
              <a:t>)</a:t>
            </a:r>
          </a:p>
          <a:p>
            <a:pPr marL="0" indent="0">
              <a:buNone/>
            </a:pPr>
            <a:r>
              <a:rPr lang="en-US" dirty="0"/>
              <a:t>and </a:t>
            </a:r>
            <a:r>
              <a:rPr lang="en-US" i="1" dirty="0"/>
              <a:t>q </a:t>
            </a:r>
            <a:r>
              <a:rPr lang="en-US" dirty="0"/>
              <a:t>is called the </a:t>
            </a:r>
            <a:r>
              <a:rPr lang="en-US" i="1" dirty="0"/>
              <a:t>conclusion</a:t>
            </a:r>
            <a:r>
              <a:rPr lang="en-US" dirty="0"/>
              <a:t>.</a:t>
            </a:r>
          </a:p>
        </p:txBody>
      </p:sp>
      <p:sp>
        <p:nvSpPr>
          <p:cNvPr id="5" name="Slide Number Placeholder 4"/>
          <p:cNvSpPr>
            <a:spLocks noGrp="1"/>
          </p:cNvSpPr>
          <p:nvPr>
            <p:ph type="sldNum" sz="quarter" idx="15"/>
          </p:nvPr>
        </p:nvSpPr>
        <p:spPr/>
        <p:txBody>
          <a:bodyPr/>
          <a:lstStyle/>
          <a:p>
            <a:fld id="{2B5E18CA-EFC1-4ED8-A974-4BD9A10BFFAB}" type="slidenum">
              <a:rPr lang="en-US" smtClean="0"/>
              <a:t>19</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2310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4D95B-592C-60D0-65BB-9D1F2010D946}"/>
              </a:ext>
            </a:extLst>
          </p:cNvPr>
          <p:cNvSpPr>
            <a:spLocks noGrp="1"/>
          </p:cNvSpPr>
          <p:nvPr>
            <p:ph type="title"/>
          </p:nvPr>
        </p:nvSpPr>
        <p:spPr/>
        <p:txBody>
          <a:bodyPr/>
          <a:lstStyle/>
          <a:p>
            <a:pPr algn="ctr"/>
            <a:r>
              <a:rPr lang="en-US" dirty="0"/>
              <a:t>Truth table</a:t>
            </a:r>
          </a:p>
        </p:txBody>
      </p:sp>
      <p:pic>
        <p:nvPicPr>
          <p:cNvPr id="7" name="Content Placeholder 6">
            <a:extLst>
              <a:ext uri="{FF2B5EF4-FFF2-40B4-BE49-F238E27FC236}">
                <a16:creationId xmlns:a16="http://schemas.microsoft.com/office/drawing/2014/main" id="{707B28EA-25DC-FD66-2267-7ED1C4B45845}"/>
              </a:ext>
            </a:extLst>
          </p:cNvPr>
          <p:cNvPicPr>
            <a:picLocks noGrp="1" noChangeAspect="1"/>
          </p:cNvPicPr>
          <p:nvPr>
            <p:ph sz="quarter" idx="1"/>
          </p:nvPr>
        </p:nvPicPr>
        <p:blipFill>
          <a:blip r:embed="rId2"/>
          <a:stretch>
            <a:fillRect/>
          </a:stretch>
        </p:blipFill>
        <p:spPr>
          <a:xfrm>
            <a:off x="838200" y="1828800"/>
            <a:ext cx="6934200" cy="4426458"/>
          </a:xfrm>
        </p:spPr>
      </p:pic>
      <p:sp>
        <p:nvSpPr>
          <p:cNvPr id="4" name="Slide Number Placeholder 3">
            <a:extLst>
              <a:ext uri="{FF2B5EF4-FFF2-40B4-BE49-F238E27FC236}">
                <a16:creationId xmlns:a16="http://schemas.microsoft.com/office/drawing/2014/main" id="{C61168FD-978E-4171-EFE8-49E290EC353E}"/>
              </a:ext>
            </a:extLst>
          </p:cNvPr>
          <p:cNvSpPr>
            <a:spLocks noGrp="1"/>
          </p:cNvSpPr>
          <p:nvPr>
            <p:ph type="sldNum" sz="quarter" idx="15"/>
          </p:nvPr>
        </p:nvSpPr>
        <p:spPr/>
        <p:txBody>
          <a:bodyPr/>
          <a:lstStyle/>
          <a:p>
            <a:fld id="{2B5E18CA-EFC1-4ED8-A974-4BD9A10BFFAB}" type="slidenum">
              <a:rPr lang="en-US" smtClean="0"/>
              <a:t>20</a:t>
            </a:fld>
            <a:endParaRPr lang="en-US"/>
          </a:p>
        </p:txBody>
      </p:sp>
    </p:spTree>
    <p:extLst>
      <p:ext uri="{BB962C8B-B14F-4D97-AF65-F5344CB8AC3E}">
        <p14:creationId xmlns:p14="http://schemas.microsoft.com/office/powerpoint/2010/main" val="3014357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ln>
            <a:solidFill>
              <a:schemeClr val="bg1"/>
            </a:solidFill>
          </a:ln>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0" indent="0" algn="just">
              <a:buNone/>
            </a:pPr>
            <a:r>
              <a:rPr lang="en-US" b="1" u="sng" dirty="0"/>
              <a:t>Conditional statements</a:t>
            </a:r>
          </a:p>
          <a:p>
            <a:pPr marL="0" indent="0" algn="just">
              <a:buNone/>
            </a:pPr>
            <a:endParaRPr lang="en-US" b="1" u="sng" dirty="0"/>
          </a:p>
          <a:p>
            <a:r>
              <a:rPr lang="en-US" dirty="0"/>
              <a:t>The statement </a:t>
            </a:r>
            <a:r>
              <a:rPr lang="en-US" i="1" dirty="0"/>
              <a:t>p </a:t>
            </a:r>
            <a:r>
              <a:rPr lang="en-US" dirty="0"/>
              <a:t>→ </a:t>
            </a:r>
            <a:r>
              <a:rPr lang="en-US" i="1" dirty="0"/>
              <a:t>q </a:t>
            </a:r>
            <a:r>
              <a:rPr lang="en-US" dirty="0"/>
              <a:t>is called a conditional statement because </a:t>
            </a:r>
            <a:r>
              <a:rPr lang="en-US" i="1" dirty="0"/>
              <a:t>p </a:t>
            </a:r>
            <a:r>
              <a:rPr lang="en-US" dirty="0"/>
              <a:t>→ </a:t>
            </a:r>
            <a:r>
              <a:rPr lang="en-US" i="1" dirty="0"/>
              <a:t>q </a:t>
            </a:r>
            <a:r>
              <a:rPr lang="en-US" dirty="0"/>
              <a:t>asserts that </a:t>
            </a:r>
            <a:r>
              <a:rPr lang="en-US" i="1" dirty="0"/>
              <a:t>q </a:t>
            </a:r>
            <a:r>
              <a:rPr lang="en-US" dirty="0"/>
              <a:t>is true on the condition that </a:t>
            </a:r>
            <a:r>
              <a:rPr lang="en-US" i="1" dirty="0"/>
              <a:t>p </a:t>
            </a:r>
            <a:r>
              <a:rPr lang="en-US" dirty="0"/>
              <a:t>holds. </a:t>
            </a:r>
          </a:p>
          <a:p>
            <a:r>
              <a:rPr lang="en-US" dirty="0"/>
              <a:t>A conditional statement is also called an </a:t>
            </a:r>
            <a:r>
              <a:rPr lang="en-US" b="1" dirty="0"/>
              <a:t>implication</a:t>
            </a:r>
            <a:r>
              <a:rPr lang="en-US" dirty="0"/>
              <a:t>.</a:t>
            </a:r>
          </a:p>
          <a:p>
            <a:r>
              <a:rPr lang="en-US" dirty="0"/>
              <a:t>Note that the statement </a:t>
            </a:r>
            <a:r>
              <a:rPr lang="en-US" i="1" dirty="0"/>
              <a:t>p </a:t>
            </a:r>
            <a:r>
              <a:rPr lang="en-US" dirty="0"/>
              <a:t>→ </a:t>
            </a:r>
            <a:r>
              <a:rPr lang="en-US" i="1" dirty="0"/>
              <a:t>q </a:t>
            </a:r>
            <a:r>
              <a:rPr lang="en-US" dirty="0"/>
              <a:t>is true when both </a:t>
            </a:r>
            <a:r>
              <a:rPr lang="en-US" i="1" dirty="0"/>
              <a:t>p </a:t>
            </a:r>
            <a:r>
              <a:rPr lang="en-US" dirty="0"/>
              <a:t>and </a:t>
            </a:r>
            <a:r>
              <a:rPr lang="en-US" i="1" dirty="0"/>
              <a:t>q </a:t>
            </a:r>
            <a:r>
              <a:rPr lang="en-US" dirty="0"/>
              <a:t>are true and when </a:t>
            </a:r>
            <a:r>
              <a:rPr lang="en-US" i="1" dirty="0"/>
              <a:t>p </a:t>
            </a:r>
            <a:r>
              <a:rPr lang="en-US" dirty="0"/>
              <a:t>is false (no matter what truth value </a:t>
            </a:r>
            <a:r>
              <a:rPr lang="en-US" i="1" dirty="0"/>
              <a:t>q </a:t>
            </a:r>
            <a:r>
              <a:rPr lang="en-US" dirty="0"/>
              <a:t>has).</a:t>
            </a:r>
          </a:p>
          <a:p>
            <a:r>
              <a:rPr lang="en-US" dirty="0"/>
              <a:t>Because conditional statements play such an essential role in mathematical reasoning, a variety of terminology is used to express </a:t>
            </a:r>
            <a:r>
              <a:rPr lang="en-US" i="1" dirty="0"/>
              <a:t>p </a:t>
            </a:r>
            <a:r>
              <a:rPr lang="en-US" dirty="0"/>
              <a:t>→ </a:t>
            </a:r>
            <a:r>
              <a:rPr lang="en-US" i="1" dirty="0"/>
              <a:t>q</a:t>
            </a:r>
            <a:r>
              <a:rPr lang="en-US" dirty="0"/>
              <a:t>. You will encounter most them if not all. </a:t>
            </a:r>
          </a:p>
        </p:txBody>
      </p:sp>
      <p:sp>
        <p:nvSpPr>
          <p:cNvPr id="5" name="Slide Number Placeholder 4"/>
          <p:cNvSpPr>
            <a:spLocks noGrp="1"/>
          </p:cNvSpPr>
          <p:nvPr>
            <p:ph type="sldNum" sz="quarter" idx="15"/>
          </p:nvPr>
        </p:nvSpPr>
        <p:spPr/>
        <p:txBody>
          <a:bodyPr/>
          <a:lstStyle/>
          <a:p>
            <a:fld id="{2B5E18CA-EFC1-4ED8-A974-4BD9A10BFFAB}" type="slidenum">
              <a:rPr lang="en-US" smtClean="0"/>
              <a:t>21</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892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xfrm>
            <a:off x="457200" y="2971800"/>
            <a:ext cx="3657600" cy="3200400"/>
          </a:xfrm>
          <a:ln>
            <a:solidFill>
              <a:schemeClr val="bg1"/>
            </a:solidFill>
          </a:ln>
        </p:spPr>
        <p:style>
          <a:lnRef idx="2">
            <a:schemeClr val="dk1"/>
          </a:lnRef>
          <a:fillRef idx="1">
            <a:schemeClr val="lt1"/>
          </a:fillRef>
          <a:effectRef idx="0">
            <a:schemeClr val="dk1"/>
          </a:effectRef>
          <a:fontRef idx="minor">
            <a:schemeClr val="dk1"/>
          </a:fontRef>
        </p:style>
        <p:txBody>
          <a:bodyPr>
            <a:normAutofit fontScale="85000" lnSpcReduction="20000"/>
          </a:bodyPr>
          <a:lstStyle/>
          <a:p>
            <a:pPr>
              <a:buFont typeface="Wingdings" panose="05000000000000000000" pitchFamily="2" charset="2"/>
              <a:buChar char="§"/>
            </a:pPr>
            <a:r>
              <a:rPr lang="en-US" dirty="0"/>
              <a:t>“if </a:t>
            </a:r>
            <a:r>
              <a:rPr lang="en-US" i="1" dirty="0"/>
              <a:t>p</a:t>
            </a:r>
            <a:r>
              <a:rPr lang="en-US" dirty="0"/>
              <a:t>, then </a:t>
            </a:r>
            <a:r>
              <a:rPr lang="en-US" i="1" dirty="0"/>
              <a:t>q</a:t>
            </a:r>
            <a:r>
              <a:rPr lang="en-US" dirty="0"/>
              <a:t>” </a:t>
            </a:r>
          </a:p>
          <a:p>
            <a:pPr>
              <a:buFont typeface="Wingdings" panose="05000000000000000000" pitchFamily="2" charset="2"/>
              <a:buChar char="§"/>
            </a:pPr>
            <a:r>
              <a:rPr lang="en-US" dirty="0"/>
              <a:t>“</a:t>
            </a:r>
            <a:r>
              <a:rPr lang="en-US" i="1" dirty="0"/>
              <a:t>p </a:t>
            </a:r>
            <a:r>
              <a:rPr lang="en-US" dirty="0"/>
              <a:t>implies </a:t>
            </a:r>
            <a:r>
              <a:rPr lang="en-US" i="1" dirty="0"/>
              <a:t>q</a:t>
            </a:r>
            <a:r>
              <a:rPr lang="en-US" dirty="0"/>
              <a:t>”</a:t>
            </a:r>
          </a:p>
          <a:p>
            <a:pPr>
              <a:buFont typeface="Wingdings" panose="05000000000000000000" pitchFamily="2" charset="2"/>
              <a:buChar char="§"/>
            </a:pPr>
            <a:r>
              <a:rPr lang="en-US" dirty="0"/>
              <a:t>“if </a:t>
            </a:r>
            <a:r>
              <a:rPr lang="en-US" i="1" dirty="0"/>
              <a:t>p</a:t>
            </a:r>
            <a:r>
              <a:rPr lang="en-US" dirty="0"/>
              <a:t>, </a:t>
            </a:r>
            <a:r>
              <a:rPr lang="en-US" i="1" dirty="0"/>
              <a:t>q</a:t>
            </a:r>
            <a:r>
              <a:rPr lang="en-US" dirty="0"/>
              <a:t>” </a:t>
            </a:r>
          </a:p>
          <a:p>
            <a:pPr>
              <a:buFont typeface="Wingdings" panose="05000000000000000000" pitchFamily="2" charset="2"/>
              <a:buChar char="§"/>
            </a:pPr>
            <a:r>
              <a:rPr lang="en-US" dirty="0"/>
              <a:t>“</a:t>
            </a:r>
            <a:r>
              <a:rPr lang="en-US" i="1" dirty="0"/>
              <a:t>p </a:t>
            </a:r>
            <a:r>
              <a:rPr lang="en-US" dirty="0"/>
              <a:t>only if </a:t>
            </a:r>
            <a:r>
              <a:rPr lang="en-US" i="1" dirty="0"/>
              <a:t>q</a:t>
            </a:r>
            <a:r>
              <a:rPr lang="en-US" dirty="0"/>
              <a:t>”</a:t>
            </a:r>
          </a:p>
          <a:p>
            <a:pPr>
              <a:buFont typeface="Wingdings" panose="05000000000000000000" pitchFamily="2" charset="2"/>
              <a:buChar char="§"/>
            </a:pPr>
            <a:r>
              <a:rPr lang="en-US" dirty="0"/>
              <a:t>“</a:t>
            </a:r>
            <a:r>
              <a:rPr lang="en-US" i="1" dirty="0"/>
              <a:t>p </a:t>
            </a:r>
            <a:r>
              <a:rPr lang="en-US" dirty="0"/>
              <a:t>is sufficient for </a:t>
            </a:r>
            <a:r>
              <a:rPr lang="en-US" i="1" dirty="0"/>
              <a:t>q</a:t>
            </a:r>
            <a:r>
              <a:rPr lang="en-US" dirty="0"/>
              <a:t>” </a:t>
            </a:r>
          </a:p>
          <a:p>
            <a:pPr>
              <a:buFont typeface="Wingdings" panose="05000000000000000000" pitchFamily="2" charset="2"/>
              <a:buChar char="§"/>
            </a:pPr>
            <a:r>
              <a:rPr lang="en-US" dirty="0"/>
              <a:t>“a sufficient condition for </a:t>
            </a:r>
            <a:r>
              <a:rPr lang="en-US" i="1" dirty="0"/>
              <a:t>q </a:t>
            </a:r>
            <a:r>
              <a:rPr lang="en-US" dirty="0"/>
              <a:t>is </a:t>
            </a:r>
            <a:r>
              <a:rPr lang="en-US" i="1" dirty="0"/>
              <a:t>p</a:t>
            </a:r>
            <a:r>
              <a:rPr lang="en-US" dirty="0"/>
              <a:t>”</a:t>
            </a:r>
          </a:p>
        </p:txBody>
      </p:sp>
      <mc:AlternateContent xmlns:mc="http://schemas.openxmlformats.org/markup-compatibility/2006" xmlns:a14="http://schemas.microsoft.com/office/drawing/2010/main">
        <mc:Choice Requires="a14">
          <p:sp>
            <p:nvSpPr>
              <p:cNvPr id="5" name="Content Placeholder 4"/>
              <p:cNvSpPr>
                <a:spLocks noGrp="1"/>
              </p:cNvSpPr>
              <p:nvPr>
                <p:ph sz="quarter" idx="2"/>
              </p:nvPr>
            </p:nvSpPr>
            <p:spPr>
              <a:xfrm>
                <a:off x="4270248" y="2971800"/>
                <a:ext cx="3657600" cy="2667000"/>
              </a:xfrm>
            </p:spPr>
            <p:txBody>
              <a:bodyPr>
                <a:normAutofit fontScale="85000" lnSpcReduction="20000"/>
              </a:bodyPr>
              <a:lstStyle/>
              <a:p>
                <a:pPr>
                  <a:buFont typeface="Wingdings" panose="05000000000000000000" pitchFamily="2" charset="2"/>
                  <a:buChar char="§"/>
                </a:pPr>
                <a:r>
                  <a:rPr lang="en-US" dirty="0"/>
                  <a:t>“</a:t>
                </a:r>
                <a:r>
                  <a:rPr lang="en-US" i="1" dirty="0"/>
                  <a:t>q </a:t>
                </a:r>
                <a:r>
                  <a:rPr lang="en-US" dirty="0"/>
                  <a:t>if </a:t>
                </a:r>
                <a:r>
                  <a:rPr lang="en-US" i="1" dirty="0"/>
                  <a:t>p</a:t>
                </a:r>
                <a:r>
                  <a:rPr lang="en-US" dirty="0"/>
                  <a:t>” </a:t>
                </a:r>
              </a:p>
              <a:p>
                <a:pPr>
                  <a:buFont typeface="Wingdings" panose="05000000000000000000" pitchFamily="2" charset="2"/>
                  <a:buChar char="§"/>
                </a:pPr>
                <a:r>
                  <a:rPr lang="en-US" dirty="0"/>
                  <a:t>“</a:t>
                </a:r>
                <a:r>
                  <a:rPr lang="en-US" i="1" dirty="0"/>
                  <a:t>q </a:t>
                </a:r>
                <a:r>
                  <a:rPr lang="en-US" dirty="0"/>
                  <a:t>whenever </a:t>
                </a:r>
                <a:r>
                  <a:rPr lang="en-US" i="1" dirty="0"/>
                  <a:t>p</a:t>
                </a:r>
                <a:r>
                  <a:rPr lang="en-US" dirty="0"/>
                  <a:t>”</a:t>
                </a:r>
              </a:p>
              <a:p>
                <a:pPr>
                  <a:buFont typeface="Wingdings" panose="05000000000000000000" pitchFamily="2" charset="2"/>
                  <a:buChar char="§"/>
                </a:pPr>
                <a:r>
                  <a:rPr lang="en-US" dirty="0"/>
                  <a:t>“</a:t>
                </a:r>
                <a:r>
                  <a:rPr lang="en-US" i="1" dirty="0"/>
                  <a:t>q </a:t>
                </a:r>
                <a:r>
                  <a:rPr lang="en-US" dirty="0"/>
                  <a:t>when </a:t>
                </a:r>
                <a:r>
                  <a:rPr lang="en-US" i="1" dirty="0"/>
                  <a:t>p</a:t>
                </a:r>
                <a:r>
                  <a:rPr lang="en-US" dirty="0"/>
                  <a:t>” </a:t>
                </a:r>
              </a:p>
              <a:p>
                <a:pPr>
                  <a:buFont typeface="Wingdings" panose="05000000000000000000" pitchFamily="2" charset="2"/>
                  <a:buChar char="§"/>
                </a:pPr>
                <a:r>
                  <a:rPr lang="en-US" dirty="0"/>
                  <a:t>“</a:t>
                </a:r>
                <a:r>
                  <a:rPr lang="en-US" i="1" dirty="0"/>
                  <a:t>q </a:t>
                </a:r>
                <a:r>
                  <a:rPr lang="en-US" dirty="0"/>
                  <a:t>is necessary for </a:t>
                </a:r>
                <a:r>
                  <a:rPr lang="en-US" i="1" dirty="0"/>
                  <a:t>p</a:t>
                </a:r>
                <a:r>
                  <a:rPr lang="en-US" dirty="0"/>
                  <a:t>”</a:t>
                </a:r>
              </a:p>
              <a:p>
                <a:pPr>
                  <a:buFont typeface="Wingdings" panose="05000000000000000000" pitchFamily="2" charset="2"/>
                  <a:buChar char="§"/>
                </a:pPr>
                <a:r>
                  <a:rPr lang="en-US" dirty="0"/>
                  <a:t>“a necessary condition for </a:t>
                </a:r>
                <a:r>
                  <a:rPr lang="en-US" i="1" dirty="0"/>
                  <a:t>p </a:t>
                </a:r>
                <a:r>
                  <a:rPr lang="en-US" dirty="0"/>
                  <a:t>is </a:t>
                </a:r>
                <a:r>
                  <a:rPr lang="en-US" i="1" dirty="0"/>
                  <a:t>q</a:t>
                </a:r>
                <a:r>
                  <a:rPr lang="en-US" dirty="0"/>
                  <a:t>” </a:t>
                </a:r>
              </a:p>
              <a:p>
                <a:pPr>
                  <a:buFont typeface="Wingdings" panose="05000000000000000000" pitchFamily="2" charset="2"/>
                  <a:buChar char="§"/>
                </a:pPr>
                <a:r>
                  <a:rPr lang="en-US" dirty="0"/>
                  <a:t>“</a:t>
                </a:r>
                <a:r>
                  <a:rPr lang="en-US" i="1" dirty="0"/>
                  <a:t>q </a:t>
                </a:r>
                <a:r>
                  <a:rPr lang="en-US" dirty="0"/>
                  <a:t>follows from </a:t>
                </a:r>
                <a:r>
                  <a:rPr lang="en-US" i="1" dirty="0"/>
                  <a:t>p</a:t>
                </a:r>
                <a:r>
                  <a:rPr lang="en-US" dirty="0"/>
                  <a:t>”</a:t>
                </a:r>
              </a:p>
              <a:p>
                <a:pPr>
                  <a:buFont typeface="Wingdings" panose="05000000000000000000" pitchFamily="2" charset="2"/>
                  <a:buChar char="§"/>
                </a:pPr>
                <a:r>
                  <a:rPr lang="en-US" dirty="0"/>
                  <a:t>“</a:t>
                </a:r>
                <a:r>
                  <a:rPr lang="en-US" i="1" dirty="0"/>
                  <a:t>q </a:t>
                </a:r>
                <a:r>
                  <a:rPr lang="en-US" dirty="0"/>
                  <a:t>unless </a:t>
                </a:r>
                <a14:m>
                  <m:oMath xmlns:m="http://schemas.openxmlformats.org/officeDocument/2006/math">
                    <m:r>
                      <a:rPr lang="en-US" b="0" i="1" smtClean="0">
                        <a:latin typeface="Cambria Math"/>
                      </a:rPr>
                      <m:t>~</m:t>
                    </m:r>
                  </m:oMath>
                </a14:m>
                <a:r>
                  <a:rPr lang="en-US" i="1" dirty="0"/>
                  <a:t>p</a:t>
                </a:r>
                <a:r>
                  <a:rPr lang="en-US" dirty="0"/>
                  <a:t>”</a:t>
                </a:r>
              </a:p>
              <a:p>
                <a:pPr>
                  <a:buFont typeface="Wingdings" panose="05000000000000000000" pitchFamily="2" charset="2"/>
                  <a:buChar char="§"/>
                </a:pP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2"/>
              </p:nvPr>
            </p:nvSpPr>
            <p:spPr>
              <a:xfrm>
                <a:off x="4270248" y="2971800"/>
                <a:ext cx="3657600" cy="2667000"/>
              </a:xfrm>
              <a:blipFill>
                <a:blip r:embed="rId2"/>
                <a:stretch>
                  <a:fillRect l="-333" t="-3661"/>
                </a:stretch>
              </a:blipFill>
            </p:spPr>
            <p:txBody>
              <a:bodyPr/>
              <a:lstStyle/>
              <a:p>
                <a:r>
                  <a:rPr lang="en-US">
                    <a:noFill/>
                  </a:rPr>
                  <a:t> </a:t>
                </a:r>
              </a:p>
            </p:txBody>
          </p:sp>
        </mc:Fallback>
      </mc:AlternateContent>
      <p:sp>
        <p:nvSpPr>
          <p:cNvPr id="6" name="TextBox 5"/>
          <p:cNvSpPr txBox="1"/>
          <p:nvPr/>
        </p:nvSpPr>
        <p:spPr>
          <a:xfrm>
            <a:off x="457200" y="1447800"/>
            <a:ext cx="7467600" cy="1200329"/>
          </a:xfrm>
          <a:prstGeom prst="rect">
            <a:avLst/>
          </a:prstGeom>
          <a:noFill/>
        </p:spPr>
        <p:txBody>
          <a:bodyPr wrap="square" rtlCol="0">
            <a:spAutoFit/>
          </a:bodyPr>
          <a:lstStyle/>
          <a:p>
            <a:pPr algn="just"/>
            <a:r>
              <a:rPr lang="en-US" b="1" u="sng" dirty="0"/>
              <a:t>Conditional statements</a:t>
            </a:r>
          </a:p>
          <a:p>
            <a:r>
              <a:rPr lang="en-US" dirty="0"/>
              <a:t>You are likely to encounter most if not all of the following ways to express this conditional statement:</a:t>
            </a:r>
          </a:p>
          <a:p>
            <a:endParaRPr lang="en-US" dirty="0"/>
          </a:p>
        </p:txBody>
      </p:sp>
      <p:sp>
        <p:nvSpPr>
          <p:cNvPr id="7" name="Slide Number Placeholder 6"/>
          <p:cNvSpPr>
            <a:spLocks noGrp="1"/>
          </p:cNvSpPr>
          <p:nvPr>
            <p:ph type="sldNum" sz="quarter" idx="12"/>
          </p:nvPr>
        </p:nvSpPr>
        <p:spPr/>
        <p:txBody>
          <a:bodyPr/>
          <a:lstStyle/>
          <a:p>
            <a:fld id="{2B5E18CA-EFC1-4ED8-A974-4BD9A10BFFAB}" type="slidenum">
              <a:rPr lang="en-US" smtClean="0"/>
              <a:t>22</a:t>
            </a:fld>
            <a:endParaRPr lang="en-US"/>
          </a:p>
        </p:txBody>
      </p:sp>
      <p:pic>
        <p:nvPicPr>
          <p:cNvPr id="9"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4115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ln>
            <a:solidFill>
              <a:schemeClr val="bg1"/>
            </a:solidFill>
          </a:ln>
        </p:spPr>
        <p:style>
          <a:lnRef idx="2">
            <a:schemeClr val="dk1"/>
          </a:lnRef>
          <a:fillRef idx="1">
            <a:schemeClr val="lt1"/>
          </a:fillRef>
          <a:effectRef idx="0">
            <a:schemeClr val="dk1"/>
          </a:effectRef>
          <a:fontRef idx="minor">
            <a:schemeClr val="dk1"/>
          </a:fontRef>
        </p:style>
        <p:txBody>
          <a:bodyPr>
            <a:normAutofit lnSpcReduction="10000"/>
          </a:bodyPr>
          <a:lstStyle/>
          <a:p>
            <a:pPr marL="0" indent="0" algn="just">
              <a:buNone/>
            </a:pPr>
            <a:r>
              <a:rPr lang="en-US" b="1" u="sng" dirty="0"/>
              <a:t>Example 7</a:t>
            </a:r>
          </a:p>
          <a:p>
            <a:pPr marL="0" indent="0" algn="just">
              <a:buNone/>
            </a:pPr>
            <a:endParaRPr lang="en-US" b="1" u="sng" dirty="0"/>
          </a:p>
          <a:p>
            <a:pPr marL="0" indent="0">
              <a:buNone/>
            </a:pPr>
            <a:r>
              <a:rPr lang="en-US" dirty="0"/>
              <a:t>Let </a:t>
            </a:r>
            <a:r>
              <a:rPr lang="en-US" i="1" dirty="0"/>
              <a:t>p </a:t>
            </a:r>
            <a:r>
              <a:rPr lang="en-US" dirty="0"/>
              <a:t>be the statement “</a:t>
            </a:r>
            <a:r>
              <a:rPr lang="en-US" dirty="0">
                <a:solidFill>
                  <a:srgbClr val="FF0000"/>
                </a:solidFill>
              </a:rPr>
              <a:t>Maria learns discrete mathematics</a:t>
            </a:r>
            <a:r>
              <a:rPr lang="en-US" dirty="0"/>
              <a:t>” and </a:t>
            </a:r>
            <a:r>
              <a:rPr lang="en-US" i="1" dirty="0"/>
              <a:t>q </a:t>
            </a:r>
            <a:r>
              <a:rPr lang="en-US" dirty="0"/>
              <a:t>the statement “</a:t>
            </a:r>
            <a:r>
              <a:rPr lang="en-US" dirty="0">
                <a:solidFill>
                  <a:srgbClr val="00B0F0"/>
                </a:solidFill>
              </a:rPr>
              <a:t>Maria will</a:t>
            </a:r>
          </a:p>
          <a:p>
            <a:pPr marL="0" indent="0">
              <a:buNone/>
            </a:pPr>
            <a:r>
              <a:rPr lang="en-US" dirty="0">
                <a:solidFill>
                  <a:srgbClr val="00B0F0"/>
                </a:solidFill>
              </a:rPr>
              <a:t>find a good job</a:t>
            </a:r>
            <a:r>
              <a:rPr lang="en-US" dirty="0"/>
              <a:t>.” Express the statement </a:t>
            </a:r>
            <a:r>
              <a:rPr lang="en-US" i="1" dirty="0"/>
              <a:t>p </a:t>
            </a:r>
            <a:r>
              <a:rPr lang="en-US" dirty="0"/>
              <a:t>→ </a:t>
            </a:r>
            <a:r>
              <a:rPr lang="en-US" i="1" dirty="0"/>
              <a:t>q </a:t>
            </a:r>
            <a:r>
              <a:rPr lang="en-US" dirty="0"/>
              <a:t>as a statement in English.</a:t>
            </a:r>
          </a:p>
          <a:p>
            <a:pPr marL="0" indent="0">
              <a:buNone/>
            </a:pPr>
            <a:endParaRPr lang="en-US" dirty="0"/>
          </a:p>
          <a:p>
            <a:pPr marL="0" indent="0">
              <a:buNone/>
            </a:pPr>
            <a:r>
              <a:rPr lang="en-US" b="1" u="sng" dirty="0"/>
              <a:t>Solution 7</a:t>
            </a:r>
          </a:p>
          <a:p>
            <a:pPr marL="0" indent="0">
              <a:buNone/>
            </a:pPr>
            <a:r>
              <a:rPr lang="en-US" dirty="0"/>
              <a:t>From the definition of conditional statements, we see that </a:t>
            </a:r>
            <a:r>
              <a:rPr lang="en-US" i="1" dirty="0"/>
              <a:t>p </a:t>
            </a:r>
            <a:r>
              <a:rPr lang="en-US" dirty="0"/>
              <a:t>→ </a:t>
            </a:r>
            <a:r>
              <a:rPr lang="en-US" i="1" dirty="0"/>
              <a:t>q </a:t>
            </a:r>
            <a:r>
              <a:rPr lang="en-US" dirty="0"/>
              <a:t>represents the statement;</a:t>
            </a:r>
          </a:p>
          <a:p>
            <a:pPr marL="0" indent="0">
              <a:buNone/>
            </a:pPr>
            <a:r>
              <a:rPr lang="en-US" dirty="0"/>
              <a:t>“</a:t>
            </a:r>
            <a:r>
              <a:rPr lang="en-US" dirty="0">
                <a:solidFill>
                  <a:srgbClr val="FF0000"/>
                </a:solidFill>
              </a:rPr>
              <a:t>If Maria learns discrete mathematics, then she will find a good job</a:t>
            </a:r>
            <a:r>
              <a:rPr lang="en-US" dirty="0"/>
              <a:t>.”</a:t>
            </a:r>
          </a:p>
        </p:txBody>
      </p:sp>
      <p:sp>
        <p:nvSpPr>
          <p:cNvPr id="5" name="Slide Number Placeholder 4"/>
          <p:cNvSpPr>
            <a:spLocks noGrp="1"/>
          </p:cNvSpPr>
          <p:nvPr>
            <p:ph type="sldNum" sz="quarter" idx="15"/>
          </p:nvPr>
        </p:nvSpPr>
        <p:spPr/>
        <p:txBody>
          <a:bodyPr/>
          <a:lstStyle/>
          <a:p>
            <a:fld id="{2B5E18CA-EFC1-4ED8-A974-4BD9A10BFFAB}" type="slidenum">
              <a:rPr lang="en-US" smtClean="0"/>
              <a:t>23</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2266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ln>
            <a:solidFill>
              <a:schemeClr val="bg1"/>
            </a:solidFill>
          </a:ln>
        </p:spPr>
        <p:style>
          <a:lnRef idx="2">
            <a:schemeClr val="dk1"/>
          </a:lnRef>
          <a:fillRef idx="1">
            <a:schemeClr val="lt1"/>
          </a:fillRef>
          <a:effectRef idx="0">
            <a:schemeClr val="dk1"/>
          </a:effectRef>
          <a:fontRef idx="minor">
            <a:schemeClr val="dk1"/>
          </a:fontRef>
        </p:style>
        <p:txBody>
          <a:bodyPr>
            <a:normAutofit lnSpcReduction="10000"/>
          </a:bodyPr>
          <a:lstStyle/>
          <a:p>
            <a:pPr marL="0" indent="0">
              <a:buNone/>
            </a:pPr>
            <a:r>
              <a:rPr lang="en-US" dirty="0"/>
              <a:t>There are many other ways to express this conditional statement in English. Among the most natural of these are:</a:t>
            </a:r>
          </a:p>
          <a:p>
            <a:endParaRPr lang="en-US" dirty="0"/>
          </a:p>
          <a:p>
            <a:pPr marL="457200" indent="-457200">
              <a:buFont typeface="+mj-lt"/>
              <a:buAutoNum type="arabicPeriod"/>
            </a:pPr>
            <a:r>
              <a:rPr lang="en-US" dirty="0"/>
              <a:t>“Maria will find a good job when she learns discrete mathematics.”</a:t>
            </a:r>
          </a:p>
          <a:p>
            <a:pPr marL="457200" indent="-457200">
              <a:buFont typeface="+mj-lt"/>
              <a:buAutoNum type="arabicPeriod"/>
            </a:pPr>
            <a:endParaRPr lang="en-US" dirty="0"/>
          </a:p>
          <a:p>
            <a:pPr marL="457200" indent="-457200">
              <a:buFont typeface="+mj-lt"/>
              <a:buAutoNum type="arabicPeriod"/>
            </a:pPr>
            <a:r>
              <a:rPr lang="en-US" dirty="0"/>
              <a:t>“For Maria to get a good job, it is sufficient for her to learn discrete mathematics.” and</a:t>
            </a:r>
          </a:p>
          <a:p>
            <a:pPr marL="457200" indent="-457200">
              <a:buFont typeface="+mj-lt"/>
              <a:buAutoNum type="arabicPeriod"/>
            </a:pPr>
            <a:endParaRPr lang="en-US" dirty="0"/>
          </a:p>
          <a:p>
            <a:pPr marL="457200" indent="-457200">
              <a:buFont typeface="+mj-lt"/>
              <a:buAutoNum type="arabicPeriod"/>
            </a:pPr>
            <a:r>
              <a:rPr lang="en-US" dirty="0"/>
              <a:t>“Maria will find a good job unless she does not learn discrete mathematics.”</a:t>
            </a:r>
          </a:p>
        </p:txBody>
      </p:sp>
      <p:sp>
        <p:nvSpPr>
          <p:cNvPr id="5" name="Slide Number Placeholder 4"/>
          <p:cNvSpPr>
            <a:spLocks noGrp="1"/>
          </p:cNvSpPr>
          <p:nvPr>
            <p:ph type="sldNum" sz="quarter" idx="15"/>
          </p:nvPr>
        </p:nvSpPr>
        <p:spPr/>
        <p:txBody>
          <a:bodyPr/>
          <a:lstStyle/>
          <a:p>
            <a:fld id="{2B5E18CA-EFC1-4ED8-A974-4BD9A10BFFAB}" type="slidenum">
              <a:rPr lang="en-US" smtClean="0"/>
              <a:t>24</a:t>
            </a:fld>
            <a:endParaRPr lang="en-US" dirty="0"/>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559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Effect transition="in" filter="fade">
                                      <p:cBhvr>
                                        <p:cTn id="11" dur="500"/>
                                        <p:tgtEl>
                                          <p:spTgt spid="3">
                                            <p:txEl>
                                              <p:pRg st="4" end="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 calcmode="lin" valueType="num">
                                      <p:cBhvr additive="base">
                                        <p:cTn id="1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ln>
            <a:solidFill>
              <a:schemeClr val="bg1"/>
            </a:solidFill>
          </a:ln>
        </p:spPr>
        <p:style>
          <a:lnRef idx="2">
            <a:schemeClr val="dk1"/>
          </a:lnRef>
          <a:fillRef idx="1">
            <a:schemeClr val="lt1"/>
          </a:fillRef>
          <a:effectRef idx="0">
            <a:schemeClr val="dk1"/>
          </a:effectRef>
          <a:fontRef idx="minor">
            <a:schemeClr val="dk1"/>
          </a:fontRef>
        </p:style>
        <p:txBody>
          <a:bodyPr>
            <a:normAutofit fontScale="92500" lnSpcReduction="20000"/>
          </a:bodyPr>
          <a:lstStyle/>
          <a:p>
            <a:pPr marL="0" indent="0">
              <a:buNone/>
            </a:pPr>
            <a:r>
              <a:rPr lang="en-US" b="1" u="sng" dirty="0"/>
              <a:t>Converse, Contrapositive and Inverse</a:t>
            </a:r>
          </a:p>
          <a:p>
            <a:r>
              <a:rPr lang="en-US" dirty="0"/>
              <a:t>We can form some new conditional statements starting with a conditional statement </a:t>
            </a:r>
            <a:r>
              <a:rPr lang="en-US" i="1" dirty="0"/>
              <a:t>p </a:t>
            </a:r>
            <a:r>
              <a:rPr lang="en-US" dirty="0"/>
              <a:t>→ </a:t>
            </a:r>
            <a:r>
              <a:rPr lang="en-US" i="1" dirty="0"/>
              <a:t>q</a:t>
            </a:r>
            <a:r>
              <a:rPr lang="en-US" dirty="0"/>
              <a:t>. </a:t>
            </a:r>
          </a:p>
          <a:p>
            <a:r>
              <a:rPr lang="en-US" dirty="0"/>
              <a:t>In particular, there are three related conditional statements that occur so often that they have special names. </a:t>
            </a:r>
          </a:p>
          <a:p>
            <a:pPr marL="457200" indent="-457200">
              <a:buFont typeface="+mj-lt"/>
              <a:buAutoNum type="arabicPeriod"/>
            </a:pPr>
            <a:r>
              <a:rPr lang="en-US" dirty="0"/>
              <a:t>The proposition </a:t>
            </a:r>
            <a:r>
              <a:rPr lang="en-US" i="1" dirty="0"/>
              <a:t>q </a:t>
            </a:r>
            <a:r>
              <a:rPr lang="en-US" dirty="0"/>
              <a:t>→ </a:t>
            </a:r>
            <a:r>
              <a:rPr lang="en-US" i="1" dirty="0"/>
              <a:t>p </a:t>
            </a:r>
            <a:r>
              <a:rPr lang="en-US" dirty="0"/>
              <a:t>is called the </a:t>
            </a:r>
            <a:r>
              <a:rPr lang="en-US" b="1" dirty="0"/>
              <a:t>converse </a:t>
            </a:r>
            <a:r>
              <a:rPr lang="en-US" dirty="0"/>
              <a:t>of 	</a:t>
            </a:r>
            <a:r>
              <a:rPr lang="en-US" i="1" dirty="0"/>
              <a:t>p </a:t>
            </a:r>
            <a:r>
              <a:rPr lang="en-US" dirty="0"/>
              <a:t>→ </a:t>
            </a:r>
            <a:r>
              <a:rPr lang="en-US" i="1" dirty="0"/>
              <a:t>q</a:t>
            </a:r>
            <a:r>
              <a:rPr lang="en-US" dirty="0"/>
              <a:t>. </a:t>
            </a:r>
          </a:p>
          <a:p>
            <a:pPr marL="457200" indent="-457200">
              <a:buFont typeface="+mj-lt"/>
              <a:buAutoNum type="arabicPeriod"/>
            </a:pPr>
            <a:r>
              <a:rPr lang="en-US" dirty="0"/>
              <a:t>The </a:t>
            </a:r>
            <a:r>
              <a:rPr lang="en-US" b="1" dirty="0"/>
              <a:t>contrapositive </a:t>
            </a:r>
            <a:r>
              <a:rPr lang="en-US" dirty="0"/>
              <a:t>of </a:t>
            </a:r>
            <a:r>
              <a:rPr lang="en-US" i="1" dirty="0"/>
              <a:t>p </a:t>
            </a:r>
            <a:r>
              <a:rPr lang="en-US" dirty="0"/>
              <a:t>→ </a:t>
            </a:r>
            <a:r>
              <a:rPr lang="en-US" i="1" dirty="0"/>
              <a:t>q </a:t>
            </a:r>
            <a:r>
              <a:rPr lang="en-US" dirty="0"/>
              <a:t>is the proposition 	~</a:t>
            </a:r>
            <a:r>
              <a:rPr lang="en-US" i="1" dirty="0"/>
              <a:t>q </a:t>
            </a:r>
            <a:r>
              <a:rPr lang="en-US" dirty="0"/>
              <a:t>→~</a:t>
            </a:r>
            <a:r>
              <a:rPr lang="en-US" i="1" dirty="0"/>
              <a:t>p</a:t>
            </a:r>
            <a:r>
              <a:rPr lang="en-US" dirty="0"/>
              <a:t>.</a:t>
            </a:r>
          </a:p>
          <a:p>
            <a:pPr marL="457200" indent="-457200">
              <a:buFont typeface="+mj-lt"/>
              <a:buAutoNum type="arabicPeriod"/>
            </a:pPr>
            <a:r>
              <a:rPr lang="en-US" dirty="0"/>
              <a:t>The proposition ~</a:t>
            </a:r>
            <a:r>
              <a:rPr lang="en-US" i="1" dirty="0"/>
              <a:t>p </a:t>
            </a:r>
            <a:r>
              <a:rPr lang="en-US" dirty="0"/>
              <a:t>→~</a:t>
            </a:r>
            <a:r>
              <a:rPr lang="en-US" i="1" dirty="0"/>
              <a:t>q </a:t>
            </a:r>
            <a:r>
              <a:rPr lang="en-US" dirty="0"/>
              <a:t>is called the </a:t>
            </a:r>
            <a:r>
              <a:rPr lang="en-US" b="1" dirty="0"/>
              <a:t>inverse </a:t>
            </a:r>
            <a:r>
              <a:rPr lang="en-US" dirty="0"/>
              <a:t>of 	</a:t>
            </a:r>
            <a:r>
              <a:rPr lang="en-US" i="1" dirty="0"/>
              <a:t>p </a:t>
            </a:r>
            <a:r>
              <a:rPr lang="en-US" dirty="0"/>
              <a:t>→ </a:t>
            </a:r>
            <a:r>
              <a:rPr lang="en-US" i="1" dirty="0"/>
              <a:t>q</a:t>
            </a:r>
            <a:r>
              <a:rPr lang="en-US" dirty="0"/>
              <a:t>. </a:t>
            </a:r>
          </a:p>
          <a:p>
            <a:r>
              <a:rPr lang="en-US" dirty="0"/>
              <a:t>We will see that of these three conditional statements formed from </a:t>
            </a:r>
            <a:r>
              <a:rPr lang="en-US" i="1" dirty="0"/>
              <a:t>p </a:t>
            </a:r>
            <a:r>
              <a:rPr lang="en-US" dirty="0"/>
              <a:t>→ </a:t>
            </a:r>
            <a:r>
              <a:rPr lang="en-US" i="1" dirty="0"/>
              <a:t>q</a:t>
            </a:r>
            <a:r>
              <a:rPr lang="en-US" dirty="0"/>
              <a:t>, only the contrapositive always has the same truth value as </a:t>
            </a:r>
            <a:r>
              <a:rPr lang="en-US" i="1" dirty="0"/>
              <a:t>p </a:t>
            </a:r>
            <a:r>
              <a:rPr lang="en-US" dirty="0"/>
              <a:t>→ </a:t>
            </a:r>
            <a:r>
              <a:rPr lang="en-US" i="1" dirty="0"/>
              <a:t>q</a:t>
            </a:r>
            <a:r>
              <a:rPr lang="en-US" dirty="0"/>
              <a:t>.</a:t>
            </a:r>
          </a:p>
        </p:txBody>
      </p:sp>
      <p:sp>
        <p:nvSpPr>
          <p:cNvPr id="5" name="Slide Number Placeholder 4"/>
          <p:cNvSpPr>
            <a:spLocks noGrp="1"/>
          </p:cNvSpPr>
          <p:nvPr>
            <p:ph type="sldNum" sz="quarter" idx="15"/>
          </p:nvPr>
        </p:nvSpPr>
        <p:spPr/>
        <p:txBody>
          <a:bodyPr/>
          <a:lstStyle/>
          <a:p>
            <a:fld id="{2B5E18CA-EFC1-4ED8-A974-4BD9A10BFFAB}" type="slidenum">
              <a:rPr lang="en-US" smtClean="0"/>
              <a:t>25</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2744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80">
                                          <p:stCondLst>
                                            <p:cond delay="0"/>
                                          </p:stCondLst>
                                        </p:cTn>
                                        <p:tgtEl>
                                          <p:spTgt spid="3">
                                            <p:txEl>
                                              <p:pRg st="3" end="3"/>
                                            </p:txEl>
                                          </p:spTgt>
                                        </p:tgtEl>
                                      </p:cBhvr>
                                    </p:animEffect>
                                    <p:anim calcmode="lin" valueType="num">
                                      <p:cBhvr>
                                        <p:cTn id="14"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3" end="3"/>
                                            </p:txEl>
                                          </p:spTgt>
                                        </p:tgtEl>
                                      </p:cBhvr>
                                      <p:to x="100000" y="60000"/>
                                    </p:animScale>
                                    <p:animScale>
                                      <p:cBhvr>
                                        <p:cTn id="20" dur="166" decel="50000">
                                          <p:stCondLst>
                                            <p:cond delay="676"/>
                                          </p:stCondLst>
                                        </p:cTn>
                                        <p:tgtEl>
                                          <p:spTgt spid="3">
                                            <p:txEl>
                                              <p:pRg st="3" end="3"/>
                                            </p:txEl>
                                          </p:spTgt>
                                        </p:tgtEl>
                                      </p:cBhvr>
                                      <p:to x="100000" y="100000"/>
                                    </p:animScale>
                                    <p:animScale>
                                      <p:cBhvr>
                                        <p:cTn id="21" dur="26">
                                          <p:stCondLst>
                                            <p:cond delay="1312"/>
                                          </p:stCondLst>
                                        </p:cTn>
                                        <p:tgtEl>
                                          <p:spTgt spid="3">
                                            <p:txEl>
                                              <p:pRg st="3" end="3"/>
                                            </p:txEl>
                                          </p:spTgt>
                                        </p:tgtEl>
                                      </p:cBhvr>
                                      <p:to x="100000" y="80000"/>
                                    </p:animScale>
                                    <p:animScale>
                                      <p:cBhvr>
                                        <p:cTn id="22" dur="166" decel="50000">
                                          <p:stCondLst>
                                            <p:cond delay="1338"/>
                                          </p:stCondLst>
                                        </p:cTn>
                                        <p:tgtEl>
                                          <p:spTgt spid="3">
                                            <p:txEl>
                                              <p:pRg st="3" end="3"/>
                                            </p:txEl>
                                          </p:spTgt>
                                        </p:tgtEl>
                                      </p:cBhvr>
                                      <p:to x="100000" y="100000"/>
                                    </p:animScale>
                                    <p:animScale>
                                      <p:cBhvr>
                                        <p:cTn id="23" dur="26">
                                          <p:stCondLst>
                                            <p:cond delay="1642"/>
                                          </p:stCondLst>
                                        </p:cTn>
                                        <p:tgtEl>
                                          <p:spTgt spid="3">
                                            <p:txEl>
                                              <p:pRg st="3" end="3"/>
                                            </p:txEl>
                                          </p:spTgt>
                                        </p:tgtEl>
                                      </p:cBhvr>
                                      <p:to x="100000" y="90000"/>
                                    </p:animScale>
                                    <p:animScale>
                                      <p:cBhvr>
                                        <p:cTn id="24" dur="166" decel="50000">
                                          <p:stCondLst>
                                            <p:cond delay="1668"/>
                                          </p:stCondLst>
                                        </p:cTn>
                                        <p:tgtEl>
                                          <p:spTgt spid="3">
                                            <p:txEl>
                                              <p:pRg st="3" end="3"/>
                                            </p:txEl>
                                          </p:spTgt>
                                        </p:tgtEl>
                                      </p:cBhvr>
                                      <p:to x="100000" y="100000"/>
                                    </p:animScale>
                                    <p:animScale>
                                      <p:cBhvr>
                                        <p:cTn id="25" dur="26">
                                          <p:stCondLst>
                                            <p:cond delay="1808"/>
                                          </p:stCondLst>
                                        </p:cTn>
                                        <p:tgtEl>
                                          <p:spTgt spid="3">
                                            <p:txEl>
                                              <p:pRg st="3" end="3"/>
                                            </p:txEl>
                                          </p:spTgt>
                                        </p:tgtEl>
                                      </p:cBhvr>
                                      <p:to x="100000" y="95000"/>
                                    </p:animScale>
                                    <p:animScale>
                                      <p:cBhvr>
                                        <p:cTn id="26" dur="166" decel="50000">
                                          <p:stCondLst>
                                            <p:cond delay="1834"/>
                                          </p:stCondLst>
                                        </p:cTn>
                                        <p:tgtEl>
                                          <p:spTgt spid="3">
                                            <p:txEl>
                                              <p:pRg st="3" end="3"/>
                                            </p:txEl>
                                          </p:spTgt>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6"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wipe(down)">
                                      <p:cBhvr>
                                        <p:cTn id="31" dur="580">
                                          <p:stCondLst>
                                            <p:cond delay="0"/>
                                          </p:stCondLst>
                                        </p:cTn>
                                        <p:tgtEl>
                                          <p:spTgt spid="3">
                                            <p:txEl>
                                              <p:pRg st="4" end="4"/>
                                            </p:txEl>
                                          </p:spTgt>
                                        </p:tgtEl>
                                      </p:cBhvr>
                                    </p:animEffect>
                                    <p:anim calcmode="lin" valueType="num">
                                      <p:cBhvr>
                                        <p:cTn id="3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37" dur="26">
                                          <p:stCondLst>
                                            <p:cond delay="650"/>
                                          </p:stCondLst>
                                        </p:cTn>
                                        <p:tgtEl>
                                          <p:spTgt spid="3">
                                            <p:txEl>
                                              <p:pRg st="4" end="4"/>
                                            </p:txEl>
                                          </p:spTgt>
                                        </p:tgtEl>
                                      </p:cBhvr>
                                      <p:to x="100000" y="60000"/>
                                    </p:animScale>
                                    <p:animScale>
                                      <p:cBhvr>
                                        <p:cTn id="38" dur="166" decel="50000">
                                          <p:stCondLst>
                                            <p:cond delay="676"/>
                                          </p:stCondLst>
                                        </p:cTn>
                                        <p:tgtEl>
                                          <p:spTgt spid="3">
                                            <p:txEl>
                                              <p:pRg st="4" end="4"/>
                                            </p:txEl>
                                          </p:spTgt>
                                        </p:tgtEl>
                                      </p:cBhvr>
                                      <p:to x="100000" y="100000"/>
                                    </p:animScale>
                                    <p:animScale>
                                      <p:cBhvr>
                                        <p:cTn id="39" dur="26">
                                          <p:stCondLst>
                                            <p:cond delay="1312"/>
                                          </p:stCondLst>
                                        </p:cTn>
                                        <p:tgtEl>
                                          <p:spTgt spid="3">
                                            <p:txEl>
                                              <p:pRg st="4" end="4"/>
                                            </p:txEl>
                                          </p:spTgt>
                                        </p:tgtEl>
                                      </p:cBhvr>
                                      <p:to x="100000" y="80000"/>
                                    </p:animScale>
                                    <p:animScale>
                                      <p:cBhvr>
                                        <p:cTn id="40" dur="166" decel="50000">
                                          <p:stCondLst>
                                            <p:cond delay="1338"/>
                                          </p:stCondLst>
                                        </p:cTn>
                                        <p:tgtEl>
                                          <p:spTgt spid="3">
                                            <p:txEl>
                                              <p:pRg st="4" end="4"/>
                                            </p:txEl>
                                          </p:spTgt>
                                        </p:tgtEl>
                                      </p:cBhvr>
                                      <p:to x="100000" y="100000"/>
                                    </p:animScale>
                                    <p:animScale>
                                      <p:cBhvr>
                                        <p:cTn id="41" dur="26">
                                          <p:stCondLst>
                                            <p:cond delay="1642"/>
                                          </p:stCondLst>
                                        </p:cTn>
                                        <p:tgtEl>
                                          <p:spTgt spid="3">
                                            <p:txEl>
                                              <p:pRg st="4" end="4"/>
                                            </p:txEl>
                                          </p:spTgt>
                                        </p:tgtEl>
                                      </p:cBhvr>
                                      <p:to x="100000" y="90000"/>
                                    </p:animScale>
                                    <p:animScale>
                                      <p:cBhvr>
                                        <p:cTn id="42" dur="166" decel="50000">
                                          <p:stCondLst>
                                            <p:cond delay="1668"/>
                                          </p:stCondLst>
                                        </p:cTn>
                                        <p:tgtEl>
                                          <p:spTgt spid="3">
                                            <p:txEl>
                                              <p:pRg st="4" end="4"/>
                                            </p:txEl>
                                          </p:spTgt>
                                        </p:tgtEl>
                                      </p:cBhvr>
                                      <p:to x="100000" y="100000"/>
                                    </p:animScale>
                                    <p:animScale>
                                      <p:cBhvr>
                                        <p:cTn id="43" dur="26">
                                          <p:stCondLst>
                                            <p:cond delay="1808"/>
                                          </p:stCondLst>
                                        </p:cTn>
                                        <p:tgtEl>
                                          <p:spTgt spid="3">
                                            <p:txEl>
                                              <p:pRg st="4" end="4"/>
                                            </p:txEl>
                                          </p:spTgt>
                                        </p:tgtEl>
                                      </p:cBhvr>
                                      <p:to x="100000" y="95000"/>
                                    </p:animScale>
                                    <p:animScale>
                                      <p:cBhvr>
                                        <p:cTn id="44" dur="166" decel="50000">
                                          <p:stCondLst>
                                            <p:cond delay="1834"/>
                                          </p:stCondLst>
                                        </p:cTn>
                                        <p:tgtEl>
                                          <p:spTgt spid="3">
                                            <p:txEl>
                                              <p:pRg st="4" end="4"/>
                                            </p:txEl>
                                          </p:spTgt>
                                        </p:tgtEl>
                                      </p:cBhvr>
                                      <p:to x="100000" y="100000"/>
                                    </p:animScale>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wipe(down)">
                                      <p:cBhvr>
                                        <p:cTn id="49" dur="580">
                                          <p:stCondLst>
                                            <p:cond delay="0"/>
                                          </p:stCondLst>
                                        </p:cTn>
                                        <p:tgtEl>
                                          <p:spTgt spid="3">
                                            <p:txEl>
                                              <p:pRg st="5" end="5"/>
                                            </p:txEl>
                                          </p:spTgt>
                                        </p:tgtEl>
                                      </p:cBhvr>
                                    </p:animEffect>
                                    <p:anim calcmode="lin" valueType="num">
                                      <p:cBhvr>
                                        <p:cTn id="50"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55" dur="26">
                                          <p:stCondLst>
                                            <p:cond delay="650"/>
                                          </p:stCondLst>
                                        </p:cTn>
                                        <p:tgtEl>
                                          <p:spTgt spid="3">
                                            <p:txEl>
                                              <p:pRg st="5" end="5"/>
                                            </p:txEl>
                                          </p:spTgt>
                                        </p:tgtEl>
                                      </p:cBhvr>
                                      <p:to x="100000" y="60000"/>
                                    </p:animScale>
                                    <p:animScale>
                                      <p:cBhvr>
                                        <p:cTn id="56" dur="166" decel="50000">
                                          <p:stCondLst>
                                            <p:cond delay="676"/>
                                          </p:stCondLst>
                                        </p:cTn>
                                        <p:tgtEl>
                                          <p:spTgt spid="3">
                                            <p:txEl>
                                              <p:pRg st="5" end="5"/>
                                            </p:txEl>
                                          </p:spTgt>
                                        </p:tgtEl>
                                      </p:cBhvr>
                                      <p:to x="100000" y="100000"/>
                                    </p:animScale>
                                    <p:animScale>
                                      <p:cBhvr>
                                        <p:cTn id="57" dur="26">
                                          <p:stCondLst>
                                            <p:cond delay="1312"/>
                                          </p:stCondLst>
                                        </p:cTn>
                                        <p:tgtEl>
                                          <p:spTgt spid="3">
                                            <p:txEl>
                                              <p:pRg st="5" end="5"/>
                                            </p:txEl>
                                          </p:spTgt>
                                        </p:tgtEl>
                                      </p:cBhvr>
                                      <p:to x="100000" y="80000"/>
                                    </p:animScale>
                                    <p:animScale>
                                      <p:cBhvr>
                                        <p:cTn id="58" dur="166" decel="50000">
                                          <p:stCondLst>
                                            <p:cond delay="1338"/>
                                          </p:stCondLst>
                                        </p:cTn>
                                        <p:tgtEl>
                                          <p:spTgt spid="3">
                                            <p:txEl>
                                              <p:pRg st="5" end="5"/>
                                            </p:txEl>
                                          </p:spTgt>
                                        </p:tgtEl>
                                      </p:cBhvr>
                                      <p:to x="100000" y="100000"/>
                                    </p:animScale>
                                    <p:animScale>
                                      <p:cBhvr>
                                        <p:cTn id="59" dur="26">
                                          <p:stCondLst>
                                            <p:cond delay="1642"/>
                                          </p:stCondLst>
                                        </p:cTn>
                                        <p:tgtEl>
                                          <p:spTgt spid="3">
                                            <p:txEl>
                                              <p:pRg st="5" end="5"/>
                                            </p:txEl>
                                          </p:spTgt>
                                        </p:tgtEl>
                                      </p:cBhvr>
                                      <p:to x="100000" y="90000"/>
                                    </p:animScale>
                                    <p:animScale>
                                      <p:cBhvr>
                                        <p:cTn id="60" dur="166" decel="50000">
                                          <p:stCondLst>
                                            <p:cond delay="1668"/>
                                          </p:stCondLst>
                                        </p:cTn>
                                        <p:tgtEl>
                                          <p:spTgt spid="3">
                                            <p:txEl>
                                              <p:pRg st="5" end="5"/>
                                            </p:txEl>
                                          </p:spTgt>
                                        </p:tgtEl>
                                      </p:cBhvr>
                                      <p:to x="100000" y="100000"/>
                                    </p:animScale>
                                    <p:animScale>
                                      <p:cBhvr>
                                        <p:cTn id="61" dur="26">
                                          <p:stCondLst>
                                            <p:cond delay="1808"/>
                                          </p:stCondLst>
                                        </p:cTn>
                                        <p:tgtEl>
                                          <p:spTgt spid="3">
                                            <p:txEl>
                                              <p:pRg st="5" end="5"/>
                                            </p:txEl>
                                          </p:spTgt>
                                        </p:tgtEl>
                                      </p:cBhvr>
                                      <p:to x="100000" y="95000"/>
                                    </p:animScale>
                                    <p:animScale>
                                      <p:cBhvr>
                                        <p:cTn id="62" dur="166" decel="50000">
                                          <p:stCondLst>
                                            <p:cond delay="1834"/>
                                          </p:stCondLst>
                                        </p:cTn>
                                        <p:tgtEl>
                                          <p:spTgt spid="3">
                                            <p:txEl>
                                              <p:pRg st="5" end="5"/>
                                            </p:txEl>
                                          </p:spTgt>
                                        </p:tgtEl>
                                      </p:cBhvr>
                                      <p:to x="100000" y="100000"/>
                                    </p:animScale>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nodeType="clickEffect">
                                  <p:stCondLst>
                                    <p:cond delay="0"/>
                                  </p:stCondLst>
                                  <p:childTnLst>
                                    <p:set>
                                      <p:cBhvr>
                                        <p:cTn id="66" dur="1" fill="hold">
                                          <p:stCondLst>
                                            <p:cond delay="0"/>
                                          </p:stCondLst>
                                        </p:cTn>
                                        <p:tgtEl>
                                          <p:spTgt spid="3">
                                            <p:txEl>
                                              <p:pRg st="6" end="6"/>
                                            </p:txEl>
                                          </p:spTgt>
                                        </p:tgtEl>
                                        <p:attrNameLst>
                                          <p:attrName>style.visibility</p:attrName>
                                        </p:attrNameLst>
                                      </p:cBhvr>
                                      <p:to>
                                        <p:strVal val="visible"/>
                                      </p:to>
                                    </p:set>
                                    <p:animEffect transition="in" filter="circle(in)">
                                      <p:cBhvr>
                                        <p:cTn id="6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ln>
            <a:solidFill>
              <a:schemeClr val="bg1"/>
            </a:solidFill>
          </a:ln>
        </p:spPr>
        <p:style>
          <a:lnRef idx="2">
            <a:schemeClr val="dk1"/>
          </a:lnRef>
          <a:fillRef idx="1">
            <a:schemeClr val="lt1"/>
          </a:fillRef>
          <a:effectRef idx="0">
            <a:schemeClr val="dk1"/>
          </a:effectRef>
          <a:fontRef idx="minor">
            <a:schemeClr val="dk1"/>
          </a:fontRef>
        </p:style>
        <p:txBody>
          <a:bodyPr>
            <a:normAutofit fontScale="77500" lnSpcReduction="20000"/>
          </a:bodyPr>
          <a:lstStyle/>
          <a:p>
            <a:pPr marL="0" indent="0">
              <a:buNone/>
            </a:pPr>
            <a:r>
              <a:rPr lang="en-US" b="1" u="sng" dirty="0"/>
              <a:t>Example 9</a:t>
            </a:r>
          </a:p>
          <a:p>
            <a:pPr marL="0" indent="0">
              <a:buNone/>
            </a:pPr>
            <a:r>
              <a:rPr lang="en-US" dirty="0"/>
              <a:t>What are the contrapositive, the converse, and the inverse of the conditional statement</a:t>
            </a:r>
          </a:p>
          <a:p>
            <a:pPr marL="0" indent="0" algn="ctr">
              <a:buNone/>
            </a:pPr>
            <a:r>
              <a:rPr lang="en-US" dirty="0"/>
              <a:t>“</a:t>
            </a:r>
            <a:r>
              <a:rPr lang="en-US" dirty="0">
                <a:solidFill>
                  <a:srgbClr val="FF0000"/>
                </a:solidFill>
              </a:rPr>
              <a:t>The home team wins whenever it is raining</a:t>
            </a:r>
            <a:r>
              <a:rPr lang="en-US" dirty="0"/>
              <a:t>?”</a:t>
            </a:r>
          </a:p>
          <a:p>
            <a:pPr marL="0" indent="0">
              <a:buNone/>
            </a:pPr>
            <a:endParaRPr lang="en-US" dirty="0"/>
          </a:p>
          <a:p>
            <a:pPr marL="0" indent="0">
              <a:buNone/>
            </a:pPr>
            <a:r>
              <a:rPr lang="en-US" b="1" u="sng" dirty="0"/>
              <a:t>Solution 9</a:t>
            </a:r>
          </a:p>
          <a:p>
            <a:pPr marL="0" indent="0">
              <a:buNone/>
            </a:pPr>
            <a:r>
              <a:rPr lang="en-US" dirty="0"/>
              <a:t>Because “</a:t>
            </a:r>
            <a:r>
              <a:rPr lang="en-US" i="1" dirty="0"/>
              <a:t>q </a:t>
            </a:r>
            <a:r>
              <a:rPr lang="en-US" dirty="0"/>
              <a:t>whenever </a:t>
            </a:r>
            <a:r>
              <a:rPr lang="en-US" i="1" dirty="0"/>
              <a:t>p</a:t>
            </a:r>
            <a:r>
              <a:rPr lang="en-US" dirty="0"/>
              <a:t>” is one of the ways to express the conditional statement </a:t>
            </a:r>
            <a:r>
              <a:rPr lang="en-US" i="1" dirty="0"/>
              <a:t>p </a:t>
            </a:r>
            <a:r>
              <a:rPr lang="en-US" dirty="0"/>
              <a:t>→ </a:t>
            </a:r>
            <a:r>
              <a:rPr lang="en-US" i="1" dirty="0"/>
              <a:t>q</a:t>
            </a:r>
            <a:r>
              <a:rPr lang="en-US" dirty="0"/>
              <a:t>, the original statement can be rewritten as </a:t>
            </a:r>
            <a:r>
              <a:rPr lang="en-US" dirty="0">
                <a:solidFill>
                  <a:srgbClr val="FF0000"/>
                </a:solidFill>
              </a:rPr>
              <a:t>“If it is raining, then the home team wins.</a:t>
            </a:r>
            <a:r>
              <a:rPr lang="en-US" dirty="0"/>
              <a:t>”</a:t>
            </a:r>
          </a:p>
          <a:p>
            <a:r>
              <a:rPr lang="en-US" dirty="0"/>
              <a:t>Consequently, the contrapositive of this conditional statement is “</a:t>
            </a:r>
            <a:r>
              <a:rPr lang="en-US" dirty="0">
                <a:solidFill>
                  <a:srgbClr val="00B0F0"/>
                </a:solidFill>
              </a:rPr>
              <a:t>If the home team does not win, then it is not raining.</a:t>
            </a:r>
            <a:r>
              <a:rPr lang="en-US" dirty="0"/>
              <a:t>”</a:t>
            </a:r>
          </a:p>
          <a:p>
            <a:r>
              <a:rPr lang="en-US" dirty="0"/>
              <a:t>The converse is “</a:t>
            </a:r>
            <a:r>
              <a:rPr lang="en-US" dirty="0">
                <a:solidFill>
                  <a:srgbClr val="00B0F0"/>
                </a:solidFill>
              </a:rPr>
              <a:t>If the home team wins, then it is raining.”</a:t>
            </a:r>
          </a:p>
          <a:p>
            <a:r>
              <a:rPr lang="en-US" dirty="0"/>
              <a:t>The inverse is “</a:t>
            </a:r>
            <a:r>
              <a:rPr lang="en-US" dirty="0">
                <a:solidFill>
                  <a:srgbClr val="00B0F0"/>
                </a:solidFill>
              </a:rPr>
              <a:t>If it is not raining, then the home team does not win</a:t>
            </a:r>
            <a:r>
              <a:rPr lang="en-US" dirty="0"/>
              <a:t>.”</a:t>
            </a:r>
          </a:p>
          <a:p>
            <a:r>
              <a:rPr lang="en-US" dirty="0"/>
              <a:t>Only the contrapositive is equivalent to the original statement.</a:t>
            </a:r>
          </a:p>
        </p:txBody>
      </p:sp>
      <p:sp>
        <p:nvSpPr>
          <p:cNvPr id="5" name="Slide Number Placeholder 4"/>
          <p:cNvSpPr>
            <a:spLocks noGrp="1"/>
          </p:cNvSpPr>
          <p:nvPr>
            <p:ph type="sldNum" sz="quarter" idx="15"/>
          </p:nvPr>
        </p:nvSpPr>
        <p:spPr/>
        <p:txBody>
          <a:bodyPr/>
          <a:lstStyle/>
          <a:p>
            <a:fld id="{2B5E18CA-EFC1-4ED8-A974-4BD9A10BFFAB}" type="slidenum">
              <a:rPr lang="en-US" smtClean="0"/>
              <a:t>26</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3617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80">
                                          <p:stCondLst>
                                            <p:cond delay="0"/>
                                          </p:stCondLst>
                                        </p:cTn>
                                        <p:tgtEl>
                                          <p:spTgt spid="3">
                                            <p:txEl>
                                              <p:pRg st="4" end="4"/>
                                            </p:txEl>
                                          </p:spTgt>
                                        </p:tgtEl>
                                      </p:cBhvr>
                                    </p:animEffect>
                                    <p:anim calcmode="lin" valueType="num">
                                      <p:cBhvr>
                                        <p:cTn id="8"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4" end="4"/>
                                            </p:txEl>
                                          </p:spTgt>
                                        </p:tgtEl>
                                      </p:cBhvr>
                                      <p:to x="100000" y="60000"/>
                                    </p:animScale>
                                    <p:animScale>
                                      <p:cBhvr>
                                        <p:cTn id="14" dur="166" decel="50000">
                                          <p:stCondLst>
                                            <p:cond delay="676"/>
                                          </p:stCondLst>
                                        </p:cTn>
                                        <p:tgtEl>
                                          <p:spTgt spid="3">
                                            <p:txEl>
                                              <p:pRg st="4" end="4"/>
                                            </p:txEl>
                                          </p:spTgt>
                                        </p:tgtEl>
                                      </p:cBhvr>
                                      <p:to x="100000" y="100000"/>
                                    </p:animScale>
                                    <p:animScale>
                                      <p:cBhvr>
                                        <p:cTn id="15" dur="26">
                                          <p:stCondLst>
                                            <p:cond delay="1312"/>
                                          </p:stCondLst>
                                        </p:cTn>
                                        <p:tgtEl>
                                          <p:spTgt spid="3">
                                            <p:txEl>
                                              <p:pRg st="4" end="4"/>
                                            </p:txEl>
                                          </p:spTgt>
                                        </p:tgtEl>
                                      </p:cBhvr>
                                      <p:to x="100000" y="80000"/>
                                    </p:animScale>
                                    <p:animScale>
                                      <p:cBhvr>
                                        <p:cTn id="16" dur="166" decel="50000">
                                          <p:stCondLst>
                                            <p:cond delay="1338"/>
                                          </p:stCondLst>
                                        </p:cTn>
                                        <p:tgtEl>
                                          <p:spTgt spid="3">
                                            <p:txEl>
                                              <p:pRg st="4" end="4"/>
                                            </p:txEl>
                                          </p:spTgt>
                                        </p:tgtEl>
                                      </p:cBhvr>
                                      <p:to x="100000" y="100000"/>
                                    </p:animScale>
                                    <p:animScale>
                                      <p:cBhvr>
                                        <p:cTn id="17" dur="26">
                                          <p:stCondLst>
                                            <p:cond delay="1642"/>
                                          </p:stCondLst>
                                        </p:cTn>
                                        <p:tgtEl>
                                          <p:spTgt spid="3">
                                            <p:txEl>
                                              <p:pRg st="4" end="4"/>
                                            </p:txEl>
                                          </p:spTgt>
                                        </p:tgtEl>
                                      </p:cBhvr>
                                      <p:to x="100000" y="90000"/>
                                    </p:animScale>
                                    <p:animScale>
                                      <p:cBhvr>
                                        <p:cTn id="18" dur="166" decel="50000">
                                          <p:stCondLst>
                                            <p:cond delay="1668"/>
                                          </p:stCondLst>
                                        </p:cTn>
                                        <p:tgtEl>
                                          <p:spTgt spid="3">
                                            <p:txEl>
                                              <p:pRg st="4" end="4"/>
                                            </p:txEl>
                                          </p:spTgt>
                                        </p:tgtEl>
                                      </p:cBhvr>
                                      <p:to x="100000" y="100000"/>
                                    </p:animScale>
                                    <p:animScale>
                                      <p:cBhvr>
                                        <p:cTn id="19" dur="26">
                                          <p:stCondLst>
                                            <p:cond delay="1808"/>
                                          </p:stCondLst>
                                        </p:cTn>
                                        <p:tgtEl>
                                          <p:spTgt spid="3">
                                            <p:txEl>
                                              <p:pRg st="4" end="4"/>
                                            </p:txEl>
                                          </p:spTgt>
                                        </p:tgtEl>
                                      </p:cBhvr>
                                      <p:to x="100000" y="95000"/>
                                    </p:animScale>
                                    <p:animScale>
                                      <p:cBhvr>
                                        <p:cTn id="20" dur="166" decel="50000">
                                          <p:stCondLst>
                                            <p:cond delay="1834"/>
                                          </p:stCondLst>
                                        </p:cTn>
                                        <p:tgtEl>
                                          <p:spTgt spid="3">
                                            <p:txEl>
                                              <p:pRg st="4" end="4"/>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6"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down)">
                                      <p:cBhvr>
                                        <p:cTn id="31" dur="580">
                                          <p:stCondLst>
                                            <p:cond delay="0"/>
                                          </p:stCondLst>
                                        </p:cTn>
                                        <p:tgtEl>
                                          <p:spTgt spid="3">
                                            <p:txEl>
                                              <p:pRg st="6" end="6"/>
                                            </p:txEl>
                                          </p:spTgt>
                                        </p:tgtEl>
                                      </p:cBhvr>
                                    </p:animEffect>
                                    <p:anim calcmode="lin" valueType="num">
                                      <p:cBhvr>
                                        <p:cTn id="32"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37" dur="26">
                                          <p:stCondLst>
                                            <p:cond delay="650"/>
                                          </p:stCondLst>
                                        </p:cTn>
                                        <p:tgtEl>
                                          <p:spTgt spid="3">
                                            <p:txEl>
                                              <p:pRg st="6" end="6"/>
                                            </p:txEl>
                                          </p:spTgt>
                                        </p:tgtEl>
                                      </p:cBhvr>
                                      <p:to x="100000" y="60000"/>
                                    </p:animScale>
                                    <p:animScale>
                                      <p:cBhvr>
                                        <p:cTn id="38" dur="166" decel="50000">
                                          <p:stCondLst>
                                            <p:cond delay="676"/>
                                          </p:stCondLst>
                                        </p:cTn>
                                        <p:tgtEl>
                                          <p:spTgt spid="3">
                                            <p:txEl>
                                              <p:pRg st="6" end="6"/>
                                            </p:txEl>
                                          </p:spTgt>
                                        </p:tgtEl>
                                      </p:cBhvr>
                                      <p:to x="100000" y="100000"/>
                                    </p:animScale>
                                    <p:animScale>
                                      <p:cBhvr>
                                        <p:cTn id="39" dur="26">
                                          <p:stCondLst>
                                            <p:cond delay="1312"/>
                                          </p:stCondLst>
                                        </p:cTn>
                                        <p:tgtEl>
                                          <p:spTgt spid="3">
                                            <p:txEl>
                                              <p:pRg st="6" end="6"/>
                                            </p:txEl>
                                          </p:spTgt>
                                        </p:tgtEl>
                                      </p:cBhvr>
                                      <p:to x="100000" y="80000"/>
                                    </p:animScale>
                                    <p:animScale>
                                      <p:cBhvr>
                                        <p:cTn id="40" dur="166" decel="50000">
                                          <p:stCondLst>
                                            <p:cond delay="1338"/>
                                          </p:stCondLst>
                                        </p:cTn>
                                        <p:tgtEl>
                                          <p:spTgt spid="3">
                                            <p:txEl>
                                              <p:pRg st="6" end="6"/>
                                            </p:txEl>
                                          </p:spTgt>
                                        </p:tgtEl>
                                      </p:cBhvr>
                                      <p:to x="100000" y="100000"/>
                                    </p:animScale>
                                    <p:animScale>
                                      <p:cBhvr>
                                        <p:cTn id="41" dur="26">
                                          <p:stCondLst>
                                            <p:cond delay="1642"/>
                                          </p:stCondLst>
                                        </p:cTn>
                                        <p:tgtEl>
                                          <p:spTgt spid="3">
                                            <p:txEl>
                                              <p:pRg st="6" end="6"/>
                                            </p:txEl>
                                          </p:spTgt>
                                        </p:tgtEl>
                                      </p:cBhvr>
                                      <p:to x="100000" y="90000"/>
                                    </p:animScale>
                                    <p:animScale>
                                      <p:cBhvr>
                                        <p:cTn id="42" dur="166" decel="50000">
                                          <p:stCondLst>
                                            <p:cond delay="1668"/>
                                          </p:stCondLst>
                                        </p:cTn>
                                        <p:tgtEl>
                                          <p:spTgt spid="3">
                                            <p:txEl>
                                              <p:pRg st="6" end="6"/>
                                            </p:txEl>
                                          </p:spTgt>
                                        </p:tgtEl>
                                      </p:cBhvr>
                                      <p:to x="100000" y="100000"/>
                                    </p:animScale>
                                    <p:animScale>
                                      <p:cBhvr>
                                        <p:cTn id="43" dur="26">
                                          <p:stCondLst>
                                            <p:cond delay="1808"/>
                                          </p:stCondLst>
                                        </p:cTn>
                                        <p:tgtEl>
                                          <p:spTgt spid="3">
                                            <p:txEl>
                                              <p:pRg st="6" end="6"/>
                                            </p:txEl>
                                          </p:spTgt>
                                        </p:tgtEl>
                                      </p:cBhvr>
                                      <p:to x="100000" y="95000"/>
                                    </p:animScale>
                                    <p:animScale>
                                      <p:cBhvr>
                                        <p:cTn id="44" dur="166" decel="50000">
                                          <p:stCondLst>
                                            <p:cond delay="1834"/>
                                          </p:stCondLst>
                                        </p:cTn>
                                        <p:tgtEl>
                                          <p:spTgt spid="3">
                                            <p:txEl>
                                              <p:pRg st="6" end="6"/>
                                            </p:txEl>
                                          </p:spTgt>
                                        </p:tgtEl>
                                      </p:cBhvr>
                                      <p:to x="100000" y="100000"/>
                                    </p:animScale>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wipe(down)">
                                      <p:cBhvr>
                                        <p:cTn id="49" dur="580">
                                          <p:stCondLst>
                                            <p:cond delay="0"/>
                                          </p:stCondLst>
                                        </p:cTn>
                                        <p:tgtEl>
                                          <p:spTgt spid="3">
                                            <p:txEl>
                                              <p:pRg st="7" end="7"/>
                                            </p:txEl>
                                          </p:spTgt>
                                        </p:tgtEl>
                                      </p:cBhvr>
                                    </p:animEffect>
                                    <p:anim calcmode="lin" valueType="num">
                                      <p:cBhvr>
                                        <p:cTn id="50"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55" dur="26">
                                          <p:stCondLst>
                                            <p:cond delay="650"/>
                                          </p:stCondLst>
                                        </p:cTn>
                                        <p:tgtEl>
                                          <p:spTgt spid="3">
                                            <p:txEl>
                                              <p:pRg st="7" end="7"/>
                                            </p:txEl>
                                          </p:spTgt>
                                        </p:tgtEl>
                                      </p:cBhvr>
                                      <p:to x="100000" y="60000"/>
                                    </p:animScale>
                                    <p:animScale>
                                      <p:cBhvr>
                                        <p:cTn id="56" dur="166" decel="50000">
                                          <p:stCondLst>
                                            <p:cond delay="676"/>
                                          </p:stCondLst>
                                        </p:cTn>
                                        <p:tgtEl>
                                          <p:spTgt spid="3">
                                            <p:txEl>
                                              <p:pRg st="7" end="7"/>
                                            </p:txEl>
                                          </p:spTgt>
                                        </p:tgtEl>
                                      </p:cBhvr>
                                      <p:to x="100000" y="100000"/>
                                    </p:animScale>
                                    <p:animScale>
                                      <p:cBhvr>
                                        <p:cTn id="57" dur="26">
                                          <p:stCondLst>
                                            <p:cond delay="1312"/>
                                          </p:stCondLst>
                                        </p:cTn>
                                        <p:tgtEl>
                                          <p:spTgt spid="3">
                                            <p:txEl>
                                              <p:pRg st="7" end="7"/>
                                            </p:txEl>
                                          </p:spTgt>
                                        </p:tgtEl>
                                      </p:cBhvr>
                                      <p:to x="100000" y="80000"/>
                                    </p:animScale>
                                    <p:animScale>
                                      <p:cBhvr>
                                        <p:cTn id="58" dur="166" decel="50000">
                                          <p:stCondLst>
                                            <p:cond delay="1338"/>
                                          </p:stCondLst>
                                        </p:cTn>
                                        <p:tgtEl>
                                          <p:spTgt spid="3">
                                            <p:txEl>
                                              <p:pRg st="7" end="7"/>
                                            </p:txEl>
                                          </p:spTgt>
                                        </p:tgtEl>
                                      </p:cBhvr>
                                      <p:to x="100000" y="100000"/>
                                    </p:animScale>
                                    <p:animScale>
                                      <p:cBhvr>
                                        <p:cTn id="59" dur="26">
                                          <p:stCondLst>
                                            <p:cond delay="1642"/>
                                          </p:stCondLst>
                                        </p:cTn>
                                        <p:tgtEl>
                                          <p:spTgt spid="3">
                                            <p:txEl>
                                              <p:pRg st="7" end="7"/>
                                            </p:txEl>
                                          </p:spTgt>
                                        </p:tgtEl>
                                      </p:cBhvr>
                                      <p:to x="100000" y="90000"/>
                                    </p:animScale>
                                    <p:animScale>
                                      <p:cBhvr>
                                        <p:cTn id="60" dur="166" decel="50000">
                                          <p:stCondLst>
                                            <p:cond delay="1668"/>
                                          </p:stCondLst>
                                        </p:cTn>
                                        <p:tgtEl>
                                          <p:spTgt spid="3">
                                            <p:txEl>
                                              <p:pRg st="7" end="7"/>
                                            </p:txEl>
                                          </p:spTgt>
                                        </p:tgtEl>
                                      </p:cBhvr>
                                      <p:to x="100000" y="100000"/>
                                    </p:animScale>
                                    <p:animScale>
                                      <p:cBhvr>
                                        <p:cTn id="61" dur="26">
                                          <p:stCondLst>
                                            <p:cond delay="1808"/>
                                          </p:stCondLst>
                                        </p:cTn>
                                        <p:tgtEl>
                                          <p:spTgt spid="3">
                                            <p:txEl>
                                              <p:pRg st="7" end="7"/>
                                            </p:txEl>
                                          </p:spTgt>
                                        </p:tgtEl>
                                      </p:cBhvr>
                                      <p:to x="100000" y="95000"/>
                                    </p:animScale>
                                    <p:animScale>
                                      <p:cBhvr>
                                        <p:cTn id="62" dur="166" decel="50000">
                                          <p:stCondLst>
                                            <p:cond delay="1834"/>
                                          </p:stCondLst>
                                        </p:cTn>
                                        <p:tgtEl>
                                          <p:spTgt spid="3">
                                            <p:txEl>
                                              <p:pRg st="7" end="7"/>
                                            </p:txEl>
                                          </p:spTgt>
                                        </p:tgtEl>
                                      </p:cBhvr>
                                      <p:to x="100000" y="100000"/>
                                    </p:animScale>
                                  </p:childTnLst>
                                </p:cTn>
                              </p:par>
                            </p:childTnLst>
                          </p:cTn>
                        </p:par>
                      </p:childTnLst>
                    </p:cTn>
                  </p:par>
                  <p:par>
                    <p:cTn id="63" fill="hold">
                      <p:stCondLst>
                        <p:cond delay="indefinite"/>
                      </p:stCondLst>
                      <p:childTnLst>
                        <p:par>
                          <p:cTn id="64" fill="hold">
                            <p:stCondLst>
                              <p:cond delay="0"/>
                            </p:stCondLst>
                            <p:childTnLst>
                              <p:par>
                                <p:cTn id="65" presetID="26" presetClass="entr" presetSubtype="0" fill="hold"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Effect transition="in" filter="wipe(down)">
                                      <p:cBhvr>
                                        <p:cTn id="67" dur="580">
                                          <p:stCondLst>
                                            <p:cond delay="0"/>
                                          </p:stCondLst>
                                        </p:cTn>
                                        <p:tgtEl>
                                          <p:spTgt spid="3">
                                            <p:txEl>
                                              <p:pRg st="8" end="8"/>
                                            </p:txEl>
                                          </p:spTgt>
                                        </p:tgtEl>
                                      </p:cBhvr>
                                    </p:animEffect>
                                    <p:anim calcmode="lin" valueType="num">
                                      <p:cBhvr>
                                        <p:cTn id="68" dur="1822" tmFilter="0,0; 0.14,0.36; 0.43,0.73; 0.71,0.91; 1.0,1.0">
                                          <p:stCondLst>
                                            <p:cond delay="0"/>
                                          </p:stCondLst>
                                        </p:cTn>
                                        <p:tgtEl>
                                          <p:spTgt spid="3">
                                            <p:txEl>
                                              <p:pRg st="8" end="8"/>
                                            </p:txEl>
                                          </p:spTgt>
                                        </p:tgtEl>
                                        <p:attrNameLst>
                                          <p:attrName>ppt_x</p:attrName>
                                        </p:attrNameLst>
                                      </p:cBhvr>
                                      <p:tavLst>
                                        <p:tav tm="0">
                                          <p:val>
                                            <p:strVal val="#ppt_x-0.25"/>
                                          </p:val>
                                        </p:tav>
                                        <p:tav tm="100000">
                                          <p:val>
                                            <p:strVal val="#ppt_x"/>
                                          </p:val>
                                        </p:tav>
                                      </p:tavLst>
                                    </p:anim>
                                    <p:anim calcmode="lin" valueType="num">
                                      <p:cBhvr>
                                        <p:cTn id="69" dur="664" tmFilter="0.0,0.0; 0.25,0.07; 0.50,0.2; 0.75,0.467; 1.0,1.0">
                                          <p:stCondLst>
                                            <p:cond delay="0"/>
                                          </p:stCondLst>
                                        </p:cTn>
                                        <p:tgtEl>
                                          <p:spTgt spid="3">
                                            <p:txEl>
                                              <p:pRg st="8" end="8"/>
                                            </p:txEl>
                                          </p:spTgt>
                                        </p:tgtEl>
                                        <p:attrNameLst>
                                          <p:attrName>ppt_y</p:attrName>
                                        </p:attrNameLst>
                                      </p:cBhvr>
                                      <p:tavLst>
                                        <p:tav tm="0" fmla="#ppt_y-sin(pi*$)/3">
                                          <p:val>
                                            <p:fltVal val="0.5"/>
                                          </p:val>
                                        </p:tav>
                                        <p:tav tm="100000">
                                          <p:val>
                                            <p:fltVal val="1"/>
                                          </p:val>
                                        </p:tav>
                                      </p:tavLst>
                                    </p:anim>
                                    <p:anim calcmode="lin" valueType="num">
                                      <p:cBhvr>
                                        <p:cTn id="70" dur="664" tmFilter="0, 0; 0.125,0.2665; 0.25,0.4; 0.375,0.465; 0.5,0.5;  0.625,0.535; 0.75,0.6; 0.875,0.7335; 1,1">
                                          <p:stCondLst>
                                            <p:cond delay="664"/>
                                          </p:stCondLst>
                                        </p:cTn>
                                        <p:tgtEl>
                                          <p:spTgt spid="3">
                                            <p:txEl>
                                              <p:pRg st="8" end="8"/>
                                            </p:txEl>
                                          </p:spTgt>
                                        </p:tgtEl>
                                        <p:attrNameLst>
                                          <p:attrName>ppt_y</p:attrName>
                                        </p:attrNameLst>
                                      </p:cBhvr>
                                      <p:tavLst>
                                        <p:tav tm="0" fmla="#ppt_y-sin(pi*$)/9">
                                          <p:val>
                                            <p:fltVal val="0"/>
                                          </p:val>
                                        </p:tav>
                                        <p:tav tm="100000">
                                          <p:val>
                                            <p:fltVal val="1"/>
                                          </p:val>
                                        </p:tav>
                                      </p:tavLst>
                                    </p:anim>
                                    <p:anim calcmode="lin" valueType="num">
                                      <p:cBhvr>
                                        <p:cTn id="71" dur="332" tmFilter="0, 0; 0.125,0.2665; 0.25,0.4; 0.375,0.465; 0.5,0.5;  0.625,0.535; 0.75,0.6; 0.875,0.7335; 1,1">
                                          <p:stCondLst>
                                            <p:cond delay="1324"/>
                                          </p:stCondLst>
                                        </p:cTn>
                                        <p:tgtEl>
                                          <p:spTgt spid="3">
                                            <p:txEl>
                                              <p:pRg st="8" end="8"/>
                                            </p:txEl>
                                          </p:spTgt>
                                        </p:tgtEl>
                                        <p:attrNameLst>
                                          <p:attrName>ppt_y</p:attrName>
                                        </p:attrNameLst>
                                      </p:cBhvr>
                                      <p:tavLst>
                                        <p:tav tm="0" fmla="#ppt_y-sin(pi*$)/27">
                                          <p:val>
                                            <p:fltVal val="0"/>
                                          </p:val>
                                        </p:tav>
                                        <p:tav tm="100000">
                                          <p:val>
                                            <p:fltVal val="1"/>
                                          </p:val>
                                        </p:tav>
                                      </p:tavLst>
                                    </p:anim>
                                    <p:anim calcmode="lin" valueType="num">
                                      <p:cBhvr>
                                        <p:cTn id="72" dur="164" tmFilter="0, 0; 0.125,0.2665; 0.25,0.4; 0.375,0.465; 0.5,0.5;  0.625,0.535; 0.75,0.6; 0.875,0.7335; 1,1">
                                          <p:stCondLst>
                                            <p:cond delay="1656"/>
                                          </p:stCondLst>
                                        </p:cTn>
                                        <p:tgtEl>
                                          <p:spTgt spid="3">
                                            <p:txEl>
                                              <p:pRg st="8" end="8"/>
                                            </p:txEl>
                                          </p:spTgt>
                                        </p:tgtEl>
                                        <p:attrNameLst>
                                          <p:attrName>ppt_y</p:attrName>
                                        </p:attrNameLst>
                                      </p:cBhvr>
                                      <p:tavLst>
                                        <p:tav tm="0" fmla="#ppt_y-sin(pi*$)/81">
                                          <p:val>
                                            <p:fltVal val="0"/>
                                          </p:val>
                                        </p:tav>
                                        <p:tav tm="100000">
                                          <p:val>
                                            <p:fltVal val="1"/>
                                          </p:val>
                                        </p:tav>
                                      </p:tavLst>
                                    </p:anim>
                                    <p:animScale>
                                      <p:cBhvr>
                                        <p:cTn id="73" dur="26">
                                          <p:stCondLst>
                                            <p:cond delay="650"/>
                                          </p:stCondLst>
                                        </p:cTn>
                                        <p:tgtEl>
                                          <p:spTgt spid="3">
                                            <p:txEl>
                                              <p:pRg st="8" end="8"/>
                                            </p:txEl>
                                          </p:spTgt>
                                        </p:tgtEl>
                                      </p:cBhvr>
                                      <p:to x="100000" y="60000"/>
                                    </p:animScale>
                                    <p:animScale>
                                      <p:cBhvr>
                                        <p:cTn id="74" dur="166" decel="50000">
                                          <p:stCondLst>
                                            <p:cond delay="676"/>
                                          </p:stCondLst>
                                        </p:cTn>
                                        <p:tgtEl>
                                          <p:spTgt spid="3">
                                            <p:txEl>
                                              <p:pRg st="8" end="8"/>
                                            </p:txEl>
                                          </p:spTgt>
                                        </p:tgtEl>
                                      </p:cBhvr>
                                      <p:to x="100000" y="100000"/>
                                    </p:animScale>
                                    <p:animScale>
                                      <p:cBhvr>
                                        <p:cTn id="75" dur="26">
                                          <p:stCondLst>
                                            <p:cond delay="1312"/>
                                          </p:stCondLst>
                                        </p:cTn>
                                        <p:tgtEl>
                                          <p:spTgt spid="3">
                                            <p:txEl>
                                              <p:pRg st="8" end="8"/>
                                            </p:txEl>
                                          </p:spTgt>
                                        </p:tgtEl>
                                      </p:cBhvr>
                                      <p:to x="100000" y="80000"/>
                                    </p:animScale>
                                    <p:animScale>
                                      <p:cBhvr>
                                        <p:cTn id="76" dur="166" decel="50000">
                                          <p:stCondLst>
                                            <p:cond delay="1338"/>
                                          </p:stCondLst>
                                        </p:cTn>
                                        <p:tgtEl>
                                          <p:spTgt spid="3">
                                            <p:txEl>
                                              <p:pRg st="8" end="8"/>
                                            </p:txEl>
                                          </p:spTgt>
                                        </p:tgtEl>
                                      </p:cBhvr>
                                      <p:to x="100000" y="100000"/>
                                    </p:animScale>
                                    <p:animScale>
                                      <p:cBhvr>
                                        <p:cTn id="77" dur="26">
                                          <p:stCondLst>
                                            <p:cond delay="1642"/>
                                          </p:stCondLst>
                                        </p:cTn>
                                        <p:tgtEl>
                                          <p:spTgt spid="3">
                                            <p:txEl>
                                              <p:pRg st="8" end="8"/>
                                            </p:txEl>
                                          </p:spTgt>
                                        </p:tgtEl>
                                      </p:cBhvr>
                                      <p:to x="100000" y="90000"/>
                                    </p:animScale>
                                    <p:animScale>
                                      <p:cBhvr>
                                        <p:cTn id="78" dur="166" decel="50000">
                                          <p:stCondLst>
                                            <p:cond delay="1668"/>
                                          </p:stCondLst>
                                        </p:cTn>
                                        <p:tgtEl>
                                          <p:spTgt spid="3">
                                            <p:txEl>
                                              <p:pRg st="8" end="8"/>
                                            </p:txEl>
                                          </p:spTgt>
                                        </p:tgtEl>
                                      </p:cBhvr>
                                      <p:to x="100000" y="100000"/>
                                    </p:animScale>
                                    <p:animScale>
                                      <p:cBhvr>
                                        <p:cTn id="79" dur="26">
                                          <p:stCondLst>
                                            <p:cond delay="1808"/>
                                          </p:stCondLst>
                                        </p:cTn>
                                        <p:tgtEl>
                                          <p:spTgt spid="3">
                                            <p:txEl>
                                              <p:pRg st="8" end="8"/>
                                            </p:txEl>
                                          </p:spTgt>
                                        </p:tgtEl>
                                      </p:cBhvr>
                                      <p:to x="100000" y="95000"/>
                                    </p:animScale>
                                    <p:animScale>
                                      <p:cBhvr>
                                        <p:cTn id="80" dur="166" decel="50000">
                                          <p:stCondLst>
                                            <p:cond delay="1834"/>
                                          </p:stCondLst>
                                        </p:cTn>
                                        <p:tgtEl>
                                          <p:spTgt spid="3">
                                            <p:txEl>
                                              <p:pRg st="8" end="8"/>
                                            </p:txEl>
                                          </p:spTgt>
                                        </p:tgtEl>
                                      </p:cBhvr>
                                      <p:to x="100000" y="100000"/>
                                    </p:animScale>
                                  </p:childTnLst>
                                </p:cTn>
                              </p:par>
                            </p:childTnLst>
                          </p:cTn>
                        </p:par>
                      </p:childTnLst>
                    </p:cTn>
                  </p:par>
                  <p:par>
                    <p:cTn id="81" fill="hold">
                      <p:stCondLst>
                        <p:cond delay="indefinite"/>
                      </p:stCondLst>
                      <p:childTnLst>
                        <p:par>
                          <p:cTn id="82" fill="hold">
                            <p:stCondLst>
                              <p:cond delay="0"/>
                            </p:stCondLst>
                            <p:childTnLst>
                              <p:par>
                                <p:cTn id="83" presetID="26" presetClass="entr" presetSubtype="0" fill="hold" nodeType="clickEffect">
                                  <p:stCondLst>
                                    <p:cond delay="0"/>
                                  </p:stCondLst>
                                  <p:childTnLst>
                                    <p:set>
                                      <p:cBhvr>
                                        <p:cTn id="84" dur="1" fill="hold">
                                          <p:stCondLst>
                                            <p:cond delay="0"/>
                                          </p:stCondLst>
                                        </p:cTn>
                                        <p:tgtEl>
                                          <p:spTgt spid="3">
                                            <p:txEl>
                                              <p:pRg st="9" end="9"/>
                                            </p:txEl>
                                          </p:spTgt>
                                        </p:tgtEl>
                                        <p:attrNameLst>
                                          <p:attrName>style.visibility</p:attrName>
                                        </p:attrNameLst>
                                      </p:cBhvr>
                                      <p:to>
                                        <p:strVal val="visible"/>
                                      </p:to>
                                    </p:set>
                                    <p:animEffect transition="in" filter="wipe(down)">
                                      <p:cBhvr>
                                        <p:cTn id="85" dur="580">
                                          <p:stCondLst>
                                            <p:cond delay="0"/>
                                          </p:stCondLst>
                                        </p:cTn>
                                        <p:tgtEl>
                                          <p:spTgt spid="3">
                                            <p:txEl>
                                              <p:pRg st="9" end="9"/>
                                            </p:txEl>
                                          </p:spTgt>
                                        </p:tgtEl>
                                      </p:cBhvr>
                                    </p:animEffect>
                                    <p:anim calcmode="lin" valueType="num">
                                      <p:cBhvr>
                                        <p:cTn id="86" dur="1822" tmFilter="0,0; 0.14,0.36; 0.43,0.73; 0.71,0.91; 1.0,1.0">
                                          <p:stCondLst>
                                            <p:cond delay="0"/>
                                          </p:stCondLst>
                                        </p:cTn>
                                        <p:tgtEl>
                                          <p:spTgt spid="3">
                                            <p:txEl>
                                              <p:pRg st="9" end="9"/>
                                            </p:txEl>
                                          </p:spTgt>
                                        </p:tgtEl>
                                        <p:attrNameLst>
                                          <p:attrName>ppt_x</p:attrName>
                                        </p:attrNameLst>
                                      </p:cBhvr>
                                      <p:tavLst>
                                        <p:tav tm="0">
                                          <p:val>
                                            <p:strVal val="#ppt_x-0.25"/>
                                          </p:val>
                                        </p:tav>
                                        <p:tav tm="100000">
                                          <p:val>
                                            <p:strVal val="#ppt_x"/>
                                          </p:val>
                                        </p:tav>
                                      </p:tavLst>
                                    </p:anim>
                                    <p:anim calcmode="lin" valueType="num">
                                      <p:cBhvr>
                                        <p:cTn id="87" dur="664" tmFilter="0.0,0.0; 0.25,0.07; 0.50,0.2; 0.75,0.467; 1.0,1.0">
                                          <p:stCondLst>
                                            <p:cond delay="0"/>
                                          </p:stCondLst>
                                        </p:cTn>
                                        <p:tgtEl>
                                          <p:spTgt spid="3">
                                            <p:txEl>
                                              <p:pRg st="9" end="9"/>
                                            </p:txEl>
                                          </p:spTgt>
                                        </p:tgtEl>
                                        <p:attrNameLst>
                                          <p:attrName>ppt_y</p:attrName>
                                        </p:attrNameLst>
                                      </p:cBhvr>
                                      <p:tavLst>
                                        <p:tav tm="0" fmla="#ppt_y-sin(pi*$)/3">
                                          <p:val>
                                            <p:fltVal val="0.5"/>
                                          </p:val>
                                        </p:tav>
                                        <p:tav tm="100000">
                                          <p:val>
                                            <p:fltVal val="1"/>
                                          </p:val>
                                        </p:tav>
                                      </p:tavLst>
                                    </p:anim>
                                    <p:anim calcmode="lin" valueType="num">
                                      <p:cBhvr>
                                        <p:cTn id="88" dur="664" tmFilter="0, 0; 0.125,0.2665; 0.25,0.4; 0.375,0.465; 0.5,0.5;  0.625,0.535; 0.75,0.6; 0.875,0.7335; 1,1">
                                          <p:stCondLst>
                                            <p:cond delay="664"/>
                                          </p:stCondLst>
                                        </p:cTn>
                                        <p:tgtEl>
                                          <p:spTgt spid="3">
                                            <p:txEl>
                                              <p:pRg st="9" end="9"/>
                                            </p:txEl>
                                          </p:spTgt>
                                        </p:tgtEl>
                                        <p:attrNameLst>
                                          <p:attrName>ppt_y</p:attrName>
                                        </p:attrNameLst>
                                      </p:cBhvr>
                                      <p:tavLst>
                                        <p:tav tm="0" fmla="#ppt_y-sin(pi*$)/9">
                                          <p:val>
                                            <p:fltVal val="0"/>
                                          </p:val>
                                        </p:tav>
                                        <p:tav tm="100000">
                                          <p:val>
                                            <p:fltVal val="1"/>
                                          </p:val>
                                        </p:tav>
                                      </p:tavLst>
                                    </p:anim>
                                    <p:anim calcmode="lin" valueType="num">
                                      <p:cBhvr>
                                        <p:cTn id="89" dur="332" tmFilter="0, 0; 0.125,0.2665; 0.25,0.4; 0.375,0.465; 0.5,0.5;  0.625,0.535; 0.75,0.6; 0.875,0.7335; 1,1">
                                          <p:stCondLst>
                                            <p:cond delay="1324"/>
                                          </p:stCondLst>
                                        </p:cTn>
                                        <p:tgtEl>
                                          <p:spTgt spid="3">
                                            <p:txEl>
                                              <p:pRg st="9" end="9"/>
                                            </p:txEl>
                                          </p:spTgt>
                                        </p:tgtEl>
                                        <p:attrNameLst>
                                          <p:attrName>ppt_y</p:attrName>
                                        </p:attrNameLst>
                                      </p:cBhvr>
                                      <p:tavLst>
                                        <p:tav tm="0" fmla="#ppt_y-sin(pi*$)/27">
                                          <p:val>
                                            <p:fltVal val="0"/>
                                          </p:val>
                                        </p:tav>
                                        <p:tav tm="100000">
                                          <p:val>
                                            <p:fltVal val="1"/>
                                          </p:val>
                                        </p:tav>
                                      </p:tavLst>
                                    </p:anim>
                                    <p:anim calcmode="lin" valueType="num">
                                      <p:cBhvr>
                                        <p:cTn id="90" dur="164" tmFilter="0, 0; 0.125,0.2665; 0.25,0.4; 0.375,0.465; 0.5,0.5;  0.625,0.535; 0.75,0.6; 0.875,0.7335; 1,1">
                                          <p:stCondLst>
                                            <p:cond delay="1656"/>
                                          </p:stCondLst>
                                        </p:cTn>
                                        <p:tgtEl>
                                          <p:spTgt spid="3">
                                            <p:txEl>
                                              <p:pRg st="9" end="9"/>
                                            </p:txEl>
                                          </p:spTgt>
                                        </p:tgtEl>
                                        <p:attrNameLst>
                                          <p:attrName>ppt_y</p:attrName>
                                        </p:attrNameLst>
                                      </p:cBhvr>
                                      <p:tavLst>
                                        <p:tav tm="0" fmla="#ppt_y-sin(pi*$)/81">
                                          <p:val>
                                            <p:fltVal val="0"/>
                                          </p:val>
                                        </p:tav>
                                        <p:tav tm="100000">
                                          <p:val>
                                            <p:fltVal val="1"/>
                                          </p:val>
                                        </p:tav>
                                      </p:tavLst>
                                    </p:anim>
                                    <p:animScale>
                                      <p:cBhvr>
                                        <p:cTn id="91" dur="26">
                                          <p:stCondLst>
                                            <p:cond delay="650"/>
                                          </p:stCondLst>
                                        </p:cTn>
                                        <p:tgtEl>
                                          <p:spTgt spid="3">
                                            <p:txEl>
                                              <p:pRg st="9" end="9"/>
                                            </p:txEl>
                                          </p:spTgt>
                                        </p:tgtEl>
                                      </p:cBhvr>
                                      <p:to x="100000" y="60000"/>
                                    </p:animScale>
                                    <p:animScale>
                                      <p:cBhvr>
                                        <p:cTn id="92" dur="166" decel="50000">
                                          <p:stCondLst>
                                            <p:cond delay="676"/>
                                          </p:stCondLst>
                                        </p:cTn>
                                        <p:tgtEl>
                                          <p:spTgt spid="3">
                                            <p:txEl>
                                              <p:pRg st="9" end="9"/>
                                            </p:txEl>
                                          </p:spTgt>
                                        </p:tgtEl>
                                      </p:cBhvr>
                                      <p:to x="100000" y="100000"/>
                                    </p:animScale>
                                    <p:animScale>
                                      <p:cBhvr>
                                        <p:cTn id="93" dur="26">
                                          <p:stCondLst>
                                            <p:cond delay="1312"/>
                                          </p:stCondLst>
                                        </p:cTn>
                                        <p:tgtEl>
                                          <p:spTgt spid="3">
                                            <p:txEl>
                                              <p:pRg st="9" end="9"/>
                                            </p:txEl>
                                          </p:spTgt>
                                        </p:tgtEl>
                                      </p:cBhvr>
                                      <p:to x="100000" y="80000"/>
                                    </p:animScale>
                                    <p:animScale>
                                      <p:cBhvr>
                                        <p:cTn id="94" dur="166" decel="50000">
                                          <p:stCondLst>
                                            <p:cond delay="1338"/>
                                          </p:stCondLst>
                                        </p:cTn>
                                        <p:tgtEl>
                                          <p:spTgt spid="3">
                                            <p:txEl>
                                              <p:pRg st="9" end="9"/>
                                            </p:txEl>
                                          </p:spTgt>
                                        </p:tgtEl>
                                      </p:cBhvr>
                                      <p:to x="100000" y="100000"/>
                                    </p:animScale>
                                    <p:animScale>
                                      <p:cBhvr>
                                        <p:cTn id="95" dur="26">
                                          <p:stCondLst>
                                            <p:cond delay="1642"/>
                                          </p:stCondLst>
                                        </p:cTn>
                                        <p:tgtEl>
                                          <p:spTgt spid="3">
                                            <p:txEl>
                                              <p:pRg st="9" end="9"/>
                                            </p:txEl>
                                          </p:spTgt>
                                        </p:tgtEl>
                                      </p:cBhvr>
                                      <p:to x="100000" y="90000"/>
                                    </p:animScale>
                                    <p:animScale>
                                      <p:cBhvr>
                                        <p:cTn id="96" dur="166" decel="50000">
                                          <p:stCondLst>
                                            <p:cond delay="1668"/>
                                          </p:stCondLst>
                                        </p:cTn>
                                        <p:tgtEl>
                                          <p:spTgt spid="3">
                                            <p:txEl>
                                              <p:pRg st="9" end="9"/>
                                            </p:txEl>
                                          </p:spTgt>
                                        </p:tgtEl>
                                      </p:cBhvr>
                                      <p:to x="100000" y="100000"/>
                                    </p:animScale>
                                    <p:animScale>
                                      <p:cBhvr>
                                        <p:cTn id="97" dur="26">
                                          <p:stCondLst>
                                            <p:cond delay="1808"/>
                                          </p:stCondLst>
                                        </p:cTn>
                                        <p:tgtEl>
                                          <p:spTgt spid="3">
                                            <p:txEl>
                                              <p:pRg st="9" end="9"/>
                                            </p:txEl>
                                          </p:spTgt>
                                        </p:tgtEl>
                                      </p:cBhvr>
                                      <p:to x="100000" y="95000"/>
                                    </p:animScale>
                                    <p:animScale>
                                      <p:cBhvr>
                                        <p:cTn id="98" dur="166" decel="50000">
                                          <p:stCondLst>
                                            <p:cond delay="1834"/>
                                          </p:stCondLst>
                                        </p:cTn>
                                        <p:tgtEl>
                                          <p:spTgt spid="3">
                                            <p:txEl>
                                              <p:pRg st="9" end="9"/>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xfrm>
            <a:off x="457200" y="1524000"/>
            <a:ext cx="7467600" cy="1447800"/>
          </a:xfrm>
          <a:ln>
            <a:solidFill>
              <a:schemeClr val="bg1"/>
            </a:solidFill>
          </a:ln>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0" indent="0">
              <a:buNone/>
            </a:pPr>
            <a:r>
              <a:rPr lang="en-US" b="1" u="sng" dirty="0" err="1"/>
              <a:t>Biconditionals</a:t>
            </a:r>
            <a:endParaRPr lang="en-US" b="1" u="sng" dirty="0"/>
          </a:p>
          <a:p>
            <a:r>
              <a:rPr lang="en-US" dirty="0"/>
              <a:t>We now introduce another way to combine propositions that expresses that two propositions have the same truth value.</a:t>
            </a:r>
          </a:p>
        </p:txBody>
      </p:sp>
      <p:sp>
        <p:nvSpPr>
          <p:cNvPr id="5" name="TextBox 4"/>
          <p:cNvSpPr txBox="1"/>
          <p:nvPr/>
        </p:nvSpPr>
        <p:spPr>
          <a:xfrm>
            <a:off x="457200" y="3276600"/>
            <a:ext cx="7467600" cy="175432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u="sng" dirty="0"/>
              <a:t>Definition 6</a:t>
            </a:r>
          </a:p>
          <a:p>
            <a:endParaRPr lang="en-US" dirty="0"/>
          </a:p>
          <a:p>
            <a:r>
              <a:rPr lang="en-US" dirty="0"/>
              <a:t>Let </a:t>
            </a:r>
            <a:r>
              <a:rPr lang="en-US" i="1" dirty="0"/>
              <a:t>p </a:t>
            </a:r>
            <a:r>
              <a:rPr lang="en-US" dirty="0"/>
              <a:t>and </a:t>
            </a:r>
            <a:r>
              <a:rPr lang="en-US" i="1" dirty="0"/>
              <a:t>q </a:t>
            </a:r>
            <a:r>
              <a:rPr lang="en-US" dirty="0"/>
              <a:t>be propositions. The </a:t>
            </a:r>
            <a:r>
              <a:rPr lang="en-US" i="1" dirty="0" err="1"/>
              <a:t>biconditional</a:t>
            </a:r>
            <a:r>
              <a:rPr lang="en-US" i="1" dirty="0"/>
              <a:t> statement p </a:t>
            </a:r>
            <a:r>
              <a:rPr lang="en-US" dirty="0"/>
              <a:t>↔ </a:t>
            </a:r>
            <a:r>
              <a:rPr lang="en-US" i="1" dirty="0"/>
              <a:t>q </a:t>
            </a:r>
            <a:r>
              <a:rPr lang="en-US" dirty="0"/>
              <a:t>is the proposition “</a:t>
            </a:r>
            <a:r>
              <a:rPr lang="en-US" i="1" dirty="0"/>
              <a:t>p </a:t>
            </a:r>
            <a:r>
              <a:rPr lang="en-US" dirty="0"/>
              <a:t>if and only if </a:t>
            </a:r>
            <a:r>
              <a:rPr lang="en-US" i="1" dirty="0"/>
              <a:t>q</a:t>
            </a:r>
            <a:r>
              <a:rPr lang="en-US" dirty="0"/>
              <a:t>.” The </a:t>
            </a:r>
            <a:r>
              <a:rPr lang="en-US" dirty="0" err="1"/>
              <a:t>biconditional</a:t>
            </a:r>
            <a:r>
              <a:rPr lang="en-US" dirty="0"/>
              <a:t> statement </a:t>
            </a:r>
            <a:r>
              <a:rPr lang="en-US" i="1" dirty="0"/>
              <a:t>p </a:t>
            </a:r>
            <a:r>
              <a:rPr lang="en-US" dirty="0"/>
              <a:t>↔ </a:t>
            </a:r>
            <a:r>
              <a:rPr lang="en-US" i="1" dirty="0"/>
              <a:t>q </a:t>
            </a:r>
            <a:r>
              <a:rPr lang="en-US" dirty="0"/>
              <a:t>is TRUE when </a:t>
            </a:r>
            <a:r>
              <a:rPr lang="en-US" i="1" dirty="0"/>
              <a:t>p </a:t>
            </a:r>
            <a:r>
              <a:rPr lang="en-US" dirty="0"/>
              <a:t>and </a:t>
            </a:r>
            <a:r>
              <a:rPr lang="en-US" i="1" dirty="0"/>
              <a:t>q </a:t>
            </a:r>
            <a:r>
              <a:rPr lang="en-US" dirty="0"/>
              <a:t>have the same truth values, and is FALSE otherwise. </a:t>
            </a:r>
            <a:r>
              <a:rPr lang="en-US" dirty="0" err="1"/>
              <a:t>Biconditional</a:t>
            </a:r>
            <a:r>
              <a:rPr lang="en-US" dirty="0"/>
              <a:t> statements are also called </a:t>
            </a:r>
            <a:r>
              <a:rPr lang="en-US" i="1" dirty="0"/>
              <a:t>bi-implications</a:t>
            </a:r>
            <a:r>
              <a:rPr lang="en-US" dirty="0"/>
              <a:t>.</a:t>
            </a:r>
          </a:p>
        </p:txBody>
      </p:sp>
      <p:sp>
        <p:nvSpPr>
          <p:cNvPr id="6" name="Slide Number Placeholder 5"/>
          <p:cNvSpPr>
            <a:spLocks noGrp="1"/>
          </p:cNvSpPr>
          <p:nvPr>
            <p:ph type="sldNum" sz="quarter" idx="15"/>
          </p:nvPr>
        </p:nvSpPr>
        <p:spPr/>
        <p:txBody>
          <a:bodyPr/>
          <a:lstStyle/>
          <a:p>
            <a:fld id="{2B5E18CA-EFC1-4ED8-A974-4BD9A10BFFAB}" type="slidenum">
              <a:rPr lang="en-US" smtClean="0"/>
              <a:t>27</a:t>
            </a:fld>
            <a:endParaRPr lang="en-US"/>
          </a:p>
        </p:txBody>
      </p:sp>
      <p:pic>
        <p:nvPicPr>
          <p:cNvPr id="8"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9051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xfrm>
            <a:off x="457200" y="1523999"/>
            <a:ext cx="7467600" cy="4497141"/>
          </a:xfrm>
          <a:ln>
            <a:solidFill>
              <a:schemeClr val="bg1"/>
            </a:solidFill>
          </a:ln>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b="1" u="sng" dirty="0" err="1"/>
              <a:t>Biconditionals</a:t>
            </a:r>
            <a:endParaRPr lang="en-US" b="1" u="sng" dirty="0"/>
          </a:p>
          <a:p>
            <a:r>
              <a:rPr lang="en-US" dirty="0"/>
              <a:t>The statement </a:t>
            </a:r>
            <a:r>
              <a:rPr lang="en-US" i="1" dirty="0"/>
              <a:t>p </a:t>
            </a:r>
            <a:r>
              <a:rPr lang="en-US" dirty="0"/>
              <a:t>↔ </a:t>
            </a:r>
            <a:r>
              <a:rPr lang="en-US" i="1" dirty="0"/>
              <a:t>q </a:t>
            </a:r>
            <a:r>
              <a:rPr lang="en-US" dirty="0"/>
              <a:t>is true when both the conditional statements </a:t>
            </a:r>
            <a:r>
              <a:rPr lang="en-US" i="1" dirty="0"/>
              <a:t>p </a:t>
            </a:r>
            <a:r>
              <a:rPr lang="en-US" dirty="0"/>
              <a:t>→ </a:t>
            </a:r>
            <a:r>
              <a:rPr lang="en-US" i="1" dirty="0"/>
              <a:t>q </a:t>
            </a:r>
            <a:r>
              <a:rPr lang="en-US" dirty="0"/>
              <a:t>and </a:t>
            </a:r>
            <a:r>
              <a:rPr lang="en-US" i="1" dirty="0"/>
              <a:t>q </a:t>
            </a:r>
            <a:r>
              <a:rPr lang="en-US" dirty="0"/>
              <a:t>→ </a:t>
            </a:r>
            <a:r>
              <a:rPr lang="en-US" i="1" dirty="0"/>
              <a:t>p </a:t>
            </a:r>
            <a:r>
              <a:rPr lang="en-US" dirty="0"/>
              <a:t>are true and is false otherwise. </a:t>
            </a:r>
          </a:p>
          <a:p>
            <a:r>
              <a:rPr lang="en-US" dirty="0"/>
              <a:t>That is why we use the words “if and only if” to express this logical connective and why it is symbolically written by combining the symbols → and ←.</a:t>
            </a:r>
          </a:p>
        </p:txBody>
      </p:sp>
      <p:sp>
        <p:nvSpPr>
          <p:cNvPr id="5" name="Slide Number Placeholder 4"/>
          <p:cNvSpPr>
            <a:spLocks noGrp="1"/>
          </p:cNvSpPr>
          <p:nvPr>
            <p:ph type="sldNum" sz="quarter" idx="15"/>
          </p:nvPr>
        </p:nvSpPr>
        <p:spPr/>
        <p:txBody>
          <a:bodyPr/>
          <a:lstStyle/>
          <a:p>
            <a:fld id="{2B5E18CA-EFC1-4ED8-A974-4BD9A10BFFAB}" type="slidenum">
              <a:rPr lang="en-US" smtClean="0"/>
              <a:t>28</a:t>
            </a:fld>
            <a:endParaRPr lang="en-US"/>
          </a:p>
        </p:txBody>
      </p:sp>
      <p:pic>
        <p:nvPicPr>
          <p:cNvPr id="8"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4142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xfrm>
            <a:off x="457200" y="1523999"/>
            <a:ext cx="7467600" cy="4497141"/>
          </a:xfrm>
          <a:ln>
            <a:solidFill>
              <a:schemeClr val="bg1"/>
            </a:solidFill>
          </a:ln>
        </p:spPr>
        <p:style>
          <a:lnRef idx="2">
            <a:schemeClr val="dk1"/>
          </a:lnRef>
          <a:fillRef idx="1">
            <a:schemeClr val="lt1"/>
          </a:fillRef>
          <a:effectRef idx="0">
            <a:schemeClr val="dk1"/>
          </a:effectRef>
          <a:fontRef idx="minor">
            <a:schemeClr val="dk1"/>
          </a:fontRef>
        </p:style>
        <p:txBody>
          <a:bodyPr>
            <a:normAutofit lnSpcReduction="10000"/>
          </a:bodyPr>
          <a:lstStyle/>
          <a:p>
            <a:pPr marL="0" indent="0">
              <a:buNone/>
            </a:pPr>
            <a:r>
              <a:rPr lang="en-US" b="1" u="sng" dirty="0" err="1"/>
              <a:t>Biconditionals</a:t>
            </a:r>
            <a:endParaRPr lang="en-US" b="1" u="sng" dirty="0"/>
          </a:p>
          <a:p>
            <a:r>
              <a:rPr lang="en-US" dirty="0"/>
              <a:t>There are some other common ways to express 	</a:t>
            </a:r>
            <a:r>
              <a:rPr lang="en-US" i="1" dirty="0"/>
              <a:t>p </a:t>
            </a:r>
            <a:r>
              <a:rPr lang="en-US" dirty="0"/>
              <a:t>↔ </a:t>
            </a:r>
            <a:r>
              <a:rPr lang="en-US" i="1" dirty="0"/>
              <a:t>q</a:t>
            </a:r>
            <a:endParaRPr lang="en-US" dirty="0"/>
          </a:p>
          <a:p>
            <a:pPr>
              <a:buFont typeface="Wingdings" panose="05000000000000000000" pitchFamily="2" charset="2"/>
              <a:buChar char="ü"/>
            </a:pPr>
            <a:r>
              <a:rPr lang="en-US" dirty="0"/>
              <a:t>“</a:t>
            </a:r>
            <a:r>
              <a:rPr lang="en-US" i="1" dirty="0"/>
              <a:t>p </a:t>
            </a:r>
            <a:r>
              <a:rPr lang="en-US" dirty="0"/>
              <a:t>is necessary and sufficient for </a:t>
            </a:r>
            <a:r>
              <a:rPr lang="en-US" i="1" dirty="0"/>
              <a:t>q</a:t>
            </a:r>
            <a:r>
              <a:rPr lang="en-US" dirty="0"/>
              <a:t>”</a:t>
            </a:r>
          </a:p>
          <a:p>
            <a:pPr>
              <a:buFont typeface="Wingdings" panose="05000000000000000000" pitchFamily="2" charset="2"/>
              <a:buChar char="ü"/>
            </a:pPr>
            <a:r>
              <a:rPr lang="en-US" dirty="0"/>
              <a:t>“if </a:t>
            </a:r>
            <a:r>
              <a:rPr lang="en-US" i="1" dirty="0"/>
              <a:t>p </a:t>
            </a:r>
            <a:r>
              <a:rPr lang="en-US" dirty="0"/>
              <a:t>then </a:t>
            </a:r>
            <a:r>
              <a:rPr lang="en-US" i="1" dirty="0"/>
              <a:t>q</a:t>
            </a:r>
            <a:r>
              <a:rPr lang="en-US" dirty="0"/>
              <a:t>, and conversely”</a:t>
            </a:r>
          </a:p>
          <a:p>
            <a:pPr>
              <a:buFont typeface="Wingdings" panose="05000000000000000000" pitchFamily="2" charset="2"/>
              <a:buChar char="ü"/>
            </a:pPr>
            <a:r>
              <a:rPr lang="en-US" dirty="0"/>
              <a:t>“</a:t>
            </a:r>
            <a:r>
              <a:rPr lang="en-US" i="1" dirty="0"/>
              <a:t>p </a:t>
            </a:r>
            <a:r>
              <a:rPr lang="en-US" dirty="0" err="1"/>
              <a:t>iff</a:t>
            </a:r>
            <a:r>
              <a:rPr lang="en-US" dirty="0"/>
              <a:t> </a:t>
            </a:r>
            <a:r>
              <a:rPr lang="en-US" i="1" dirty="0"/>
              <a:t>q</a:t>
            </a:r>
            <a:r>
              <a:rPr lang="en-US" dirty="0"/>
              <a:t>.”</a:t>
            </a:r>
          </a:p>
          <a:p>
            <a:r>
              <a:rPr lang="en-US" dirty="0"/>
              <a:t>The last way of expressing the </a:t>
            </a:r>
            <a:r>
              <a:rPr lang="en-US" dirty="0" err="1"/>
              <a:t>biconditional</a:t>
            </a:r>
            <a:r>
              <a:rPr lang="en-US" dirty="0"/>
              <a:t> statement </a:t>
            </a:r>
            <a:r>
              <a:rPr lang="en-US" i="1" dirty="0"/>
              <a:t>p </a:t>
            </a:r>
            <a:r>
              <a:rPr lang="en-US" dirty="0"/>
              <a:t>↔ </a:t>
            </a:r>
            <a:r>
              <a:rPr lang="en-US" i="1" dirty="0"/>
              <a:t>q </a:t>
            </a:r>
            <a:r>
              <a:rPr lang="en-US" dirty="0"/>
              <a:t>uses the abbreviation “</a:t>
            </a:r>
            <a:r>
              <a:rPr lang="en-US" dirty="0" err="1"/>
              <a:t>iff</a:t>
            </a:r>
            <a:r>
              <a:rPr lang="en-US" dirty="0"/>
              <a:t>” for “if and only if.” </a:t>
            </a:r>
          </a:p>
          <a:p>
            <a:r>
              <a:rPr lang="en-US" dirty="0"/>
              <a:t>Note that </a:t>
            </a:r>
            <a:r>
              <a:rPr lang="en-US" i="1" dirty="0"/>
              <a:t>p </a:t>
            </a:r>
            <a:r>
              <a:rPr lang="en-US" dirty="0"/>
              <a:t>↔ </a:t>
            </a:r>
            <a:r>
              <a:rPr lang="en-US" i="1" dirty="0"/>
              <a:t>q </a:t>
            </a:r>
            <a:r>
              <a:rPr lang="en-US" dirty="0"/>
              <a:t>has exactly the same truth value as </a:t>
            </a:r>
            <a:r>
              <a:rPr lang="en-US" i="1" dirty="0"/>
              <a:t>(p </a:t>
            </a:r>
            <a:r>
              <a:rPr lang="en-US" dirty="0"/>
              <a:t>→ </a:t>
            </a:r>
            <a:r>
              <a:rPr lang="en-US" i="1" dirty="0"/>
              <a:t>q) </a:t>
            </a:r>
            <a:r>
              <a:rPr lang="en-US" dirty="0"/>
              <a:t>∧ </a:t>
            </a:r>
            <a:r>
              <a:rPr lang="en-US" i="1" dirty="0"/>
              <a:t>(q </a:t>
            </a:r>
            <a:r>
              <a:rPr lang="en-US" dirty="0"/>
              <a:t>→ </a:t>
            </a:r>
            <a:r>
              <a:rPr lang="en-US" i="1" dirty="0"/>
              <a:t>p)</a:t>
            </a:r>
            <a:r>
              <a:rPr lang="en-US" dirty="0"/>
              <a:t>.</a:t>
            </a:r>
          </a:p>
        </p:txBody>
      </p:sp>
      <p:sp>
        <p:nvSpPr>
          <p:cNvPr id="5" name="Slide Number Placeholder 4"/>
          <p:cNvSpPr>
            <a:spLocks noGrp="1"/>
          </p:cNvSpPr>
          <p:nvPr>
            <p:ph type="sldNum" sz="quarter" idx="15"/>
          </p:nvPr>
        </p:nvSpPr>
        <p:spPr/>
        <p:txBody>
          <a:bodyPr/>
          <a:lstStyle/>
          <a:p>
            <a:fld id="{2B5E18CA-EFC1-4ED8-A974-4BD9A10BFFAB}" type="slidenum">
              <a:rPr lang="en-US" smtClean="0"/>
              <a:t>29</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708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circle(in)">
                                      <p:cBhvr>
                                        <p:cTn id="25" dur="20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 calcmode="lin" valueType="num">
                                      <p:cBhvr additive="base">
                                        <p:cTn id="3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934200" cy="11430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en-US" dirty="0"/>
              <a:t>The Foundations: Logic and Proofs</a:t>
            </a:r>
          </a:p>
        </p:txBody>
      </p:sp>
      <p:pic>
        <p:nvPicPr>
          <p:cNvPr id="4098"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6934200" cy="5103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5"/>
          </p:nvPr>
        </p:nvSpPr>
        <p:spPr/>
        <p:txBody>
          <a:bodyPr/>
          <a:lstStyle/>
          <a:p>
            <a:fld id="{2B5E18CA-EFC1-4ED8-A974-4BD9A10BFFAB}" type="slidenum">
              <a:rPr lang="en-US" smtClean="0"/>
              <a:t>30</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2665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sz="quarter" idx="1"/>
          </p:nvPr>
        </p:nvPicPr>
        <p:blipFill>
          <a:blip r:embed="rId2"/>
          <a:stretch>
            <a:fillRect/>
          </a:stretch>
        </p:blipFill>
        <p:spPr>
          <a:xfrm>
            <a:off x="228600" y="152400"/>
            <a:ext cx="8178906" cy="6324600"/>
          </a:xfrm>
          <a:prstGeom prst="rect">
            <a:avLst/>
          </a:prstGeom>
        </p:spPr>
      </p:pic>
      <p:sp>
        <p:nvSpPr>
          <p:cNvPr id="4" name="Slide Number Placeholder 3"/>
          <p:cNvSpPr>
            <a:spLocks noGrp="1"/>
          </p:cNvSpPr>
          <p:nvPr>
            <p:ph type="sldNum" sz="quarter" idx="15"/>
          </p:nvPr>
        </p:nvSpPr>
        <p:spPr/>
        <p:txBody>
          <a:bodyPr/>
          <a:lstStyle/>
          <a:p>
            <a:fld id="{2B5E18CA-EFC1-4ED8-A974-4BD9A10BFFAB}" type="slidenum">
              <a:rPr lang="en-US" smtClean="0"/>
              <a:t>31</a:t>
            </a:fld>
            <a:endParaRPr lang="en-US"/>
          </a:p>
        </p:txBody>
      </p:sp>
    </p:spTree>
    <p:extLst>
      <p:ext uri="{BB962C8B-B14F-4D97-AF65-F5344CB8AC3E}">
        <p14:creationId xmlns:p14="http://schemas.microsoft.com/office/powerpoint/2010/main" val="20453614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p:txBody>
          <a:bodyPr>
            <a:normAutofit fontScale="85000" lnSpcReduction="10000"/>
          </a:bodyPr>
          <a:lstStyle/>
          <a:p>
            <a:pPr marL="0" indent="0">
              <a:buNone/>
            </a:pPr>
            <a:r>
              <a:rPr lang="en-US" b="1" u="sng" dirty="0"/>
              <a:t>Example 10</a:t>
            </a:r>
          </a:p>
          <a:p>
            <a:pPr marL="0" indent="0">
              <a:buNone/>
            </a:pPr>
            <a:r>
              <a:rPr lang="en-US" dirty="0"/>
              <a:t>Let </a:t>
            </a:r>
            <a:r>
              <a:rPr lang="en-US" i="1" dirty="0"/>
              <a:t>p </a:t>
            </a:r>
            <a:r>
              <a:rPr lang="en-US" dirty="0"/>
              <a:t>be the statement “</a:t>
            </a:r>
            <a:r>
              <a:rPr lang="en-US" dirty="0">
                <a:solidFill>
                  <a:srgbClr val="FF0000"/>
                </a:solidFill>
              </a:rPr>
              <a:t>You can take the flight</a:t>
            </a:r>
            <a:r>
              <a:rPr lang="en-US" dirty="0"/>
              <a:t>,” and let </a:t>
            </a:r>
            <a:r>
              <a:rPr lang="en-US" i="1" dirty="0"/>
              <a:t>q </a:t>
            </a:r>
            <a:r>
              <a:rPr lang="en-US" dirty="0"/>
              <a:t>be the statement “</a:t>
            </a:r>
            <a:r>
              <a:rPr lang="en-US" dirty="0">
                <a:solidFill>
                  <a:srgbClr val="00B0F0"/>
                </a:solidFill>
              </a:rPr>
              <a:t>You buy a ticket</a:t>
            </a:r>
            <a:r>
              <a:rPr lang="en-US" dirty="0"/>
              <a:t>.”</a:t>
            </a:r>
          </a:p>
          <a:p>
            <a:pPr marL="0" indent="0">
              <a:buNone/>
            </a:pPr>
            <a:endParaRPr lang="en-US" dirty="0"/>
          </a:p>
          <a:p>
            <a:pPr marL="0" indent="0">
              <a:buNone/>
            </a:pPr>
            <a:r>
              <a:rPr lang="en-US" dirty="0"/>
              <a:t>Then </a:t>
            </a:r>
            <a:r>
              <a:rPr lang="en-US" i="1" dirty="0"/>
              <a:t>p </a:t>
            </a:r>
            <a:r>
              <a:rPr lang="en-US" dirty="0"/>
              <a:t>↔ </a:t>
            </a:r>
            <a:r>
              <a:rPr lang="en-US" i="1" dirty="0"/>
              <a:t>q </a:t>
            </a:r>
            <a:r>
              <a:rPr lang="en-US" dirty="0"/>
              <a:t>is the statement </a:t>
            </a:r>
          </a:p>
          <a:p>
            <a:pPr marL="0" indent="0" algn="ctr">
              <a:buNone/>
            </a:pPr>
            <a:r>
              <a:rPr lang="en-US" dirty="0"/>
              <a:t>“</a:t>
            </a:r>
            <a:r>
              <a:rPr lang="en-US" dirty="0">
                <a:solidFill>
                  <a:srgbClr val="00B0F0"/>
                </a:solidFill>
              </a:rPr>
              <a:t>You can take the flight if and only if you buy a ticket.</a:t>
            </a:r>
            <a:r>
              <a:rPr lang="en-US" dirty="0"/>
              <a:t>”</a:t>
            </a:r>
          </a:p>
          <a:p>
            <a:r>
              <a:rPr lang="en-US" dirty="0"/>
              <a:t>This statement is true if </a:t>
            </a:r>
            <a:r>
              <a:rPr lang="en-US" i="1" dirty="0"/>
              <a:t>p </a:t>
            </a:r>
            <a:r>
              <a:rPr lang="en-US" dirty="0"/>
              <a:t>and </a:t>
            </a:r>
            <a:r>
              <a:rPr lang="en-US" i="1" dirty="0"/>
              <a:t>q </a:t>
            </a:r>
            <a:r>
              <a:rPr lang="en-US" dirty="0"/>
              <a:t>are either both true or both false, that is, if you buy a ticket and can take the flight or if you do not buy a ticket and you cannot take the flight. </a:t>
            </a:r>
          </a:p>
          <a:p>
            <a:r>
              <a:rPr lang="en-US" dirty="0"/>
              <a:t>It is false when </a:t>
            </a:r>
            <a:r>
              <a:rPr lang="en-US" i="1" dirty="0"/>
              <a:t>p </a:t>
            </a:r>
            <a:r>
              <a:rPr lang="en-US" dirty="0"/>
              <a:t>and </a:t>
            </a:r>
            <a:r>
              <a:rPr lang="en-US" i="1" dirty="0"/>
              <a:t>q </a:t>
            </a:r>
            <a:r>
              <a:rPr lang="en-US" dirty="0"/>
              <a:t>have opposite truth values, that is, when you do not buy a ticket, but you can take the flight and when you buy a ticket but you cannot take the flight.</a:t>
            </a:r>
          </a:p>
          <a:p>
            <a:r>
              <a:rPr lang="en-US" dirty="0">
                <a:solidFill>
                  <a:srgbClr val="FF0000"/>
                </a:solidFill>
              </a:rPr>
              <a:t>The truth table for </a:t>
            </a:r>
            <a:r>
              <a:rPr lang="en-US" dirty="0" err="1">
                <a:solidFill>
                  <a:srgbClr val="FF0000"/>
                </a:solidFill>
              </a:rPr>
              <a:t>biconditionals</a:t>
            </a:r>
            <a:r>
              <a:rPr lang="en-US" dirty="0">
                <a:solidFill>
                  <a:srgbClr val="FF0000"/>
                </a:solidFill>
              </a:rPr>
              <a:t> is left for your practice</a:t>
            </a:r>
          </a:p>
        </p:txBody>
      </p:sp>
      <p:sp>
        <p:nvSpPr>
          <p:cNvPr id="5" name="Slide Number Placeholder 4"/>
          <p:cNvSpPr>
            <a:spLocks noGrp="1"/>
          </p:cNvSpPr>
          <p:nvPr>
            <p:ph type="sldNum" sz="quarter" idx="15"/>
          </p:nvPr>
        </p:nvSpPr>
        <p:spPr/>
        <p:txBody>
          <a:bodyPr/>
          <a:lstStyle/>
          <a:p>
            <a:fld id="{2B5E18CA-EFC1-4ED8-A974-4BD9A10BFFAB}" type="slidenum">
              <a:rPr lang="en-US" smtClean="0"/>
              <a:t>32</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615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80">
                                          <p:stCondLst>
                                            <p:cond delay="0"/>
                                          </p:stCondLst>
                                        </p:cTn>
                                        <p:tgtEl>
                                          <p:spTgt spid="3">
                                            <p:txEl>
                                              <p:pRg st="4" end="4"/>
                                            </p:txEl>
                                          </p:spTgt>
                                        </p:tgtEl>
                                      </p:cBhvr>
                                    </p:animEffect>
                                    <p:anim calcmode="lin" valueType="num">
                                      <p:cBhvr>
                                        <p:cTn id="8"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4" end="4"/>
                                            </p:txEl>
                                          </p:spTgt>
                                        </p:tgtEl>
                                      </p:cBhvr>
                                      <p:to x="100000" y="60000"/>
                                    </p:animScale>
                                    <p:animScale>
                                      <p:cBhvr>
                                        <p:cTn id="14" dur="166" decel="50000">
                                          <p:stCondLst>
                                            <p:cond delay="676"/>
                                          </p:stCondLst>
                                        </p:cTn>
                                        <p:tgtEl>
                                          <p:spTgt spid="3">
                                            <p:txEl>
                                              <p:pRg st="4" end="4"/>
                                            </p:txEl>
                                          </p:spTgt>
                                        </p:tgtEl>
                                      </p:cBhvr>
                                      <p:to x="100000" y="100000"/>
                                    </p:animScale>
                                    <p:animScale>
                                      <p:cBhvr>
                                        <p:cTn id="15" dur="26">
                                          <p:stCondLst>
                                            <p:cond delay="1312"/>
                                          </p:stCondLst>
                                        </p:cTn>
                                        <p:tgtEl>
                                          <p:spTgt spid="3">
                                            <p:txEl>
                                              <p:pRg st="4" end="4"/>
                                            </p:txEl>
                                          </p:spTgt>
                                        </p:tgtEl>
                                      </p:cBhvr>
                                      <p:to x="100000" y="80000"/>
                                    </p:animScale>
                                    <p:animScale>
                                      <p:cBhvr>
                                        <p:cTn id="16" dur="166" decel="50000">
                                          <p:stCondLst>
                                            <p:cond delay="1338"/>
                                          </p:stCondLst>
                                        </p:cTn>
                                        <p:tgtEl>
                                          <p:spTgt spid="3">
                                            <p:txEl>
                                              <p:pRg st="4" end="4"/>
                                            </p:txEl>
                                          </p:spTgt>
                                        </p:tgtEl>
                                      </p:cBhvr>
                                      <p:to x="100000" y="100000"/>
                                    </p:animScale>
                                    <p:animScale>
                                      <p:cBhvr>
                                        <p:cTn id="17" dur="26">
                                          <p:stCondLst>
                                            <p:cond delay="1642"/>
                                          </p:stCondLst>
                                        </p:cTn>
                                        <p:tgtEl>
                                          <p:spTgt spid="3">
                                            <p:txEl>
                                              <p:pRg st="4" end="4"/>
                                            </p:txEl>
                                          </p:spTgt>
                                        </p:tgtEl>
                                      </p:cBhvr>
                                      <p:to x="100000" y="90000"/>
                                    </p:animScale>
                                    <p:animScale>
                                      <p:cBhvr>
                                        <p:cTn id="18" dur="166" decel="50000">
                                          <p:stCondLst>
                                            <p:cond delay="1668"/>
                                          </p:stCondLst>
                                        </p:cTn>
                                        <p:tgtEl>
                                          <p:spTgt spid="3">
                                            <p:txEl>
                                              <p:pRg st="4" end="4"/>
                                            </p:txEl>
                                          </p:spTgt>
                                        </p:tgtEl>
                                      </p:cBhvr>
                                      <p:to x="100000" y="100000"/>
                                    </p:animScale>
                                    <p:animScale>
                                      <p:cBhvr>
                                        <p:cTn id="19" dur="26">
                                          <p:stCondLst>
                                            <p:cond delay="1808"/>
                                          </p:stCondLst>
                                        </p:cTn>
                                        <p:tgtEl>
                                          <p:spTgt spid="3">
                                            <p:txEl>
                                              <p:pRg st="4" end="4"/>
                                            </p:txEl>
                                          </p:spTgt>
                                        </p:tgtEl>
                                      </p:cBhvr>
                                      <p:to x="100000" y="95000"/>
                                    </p:animScale>
                                    <p:animScale>
                                      <p:cBhvr>
                                        <p:cTn id="20" dur="166" decel="50000">
                                          <p:stCondLst>
                                            <p:cond delay="1834"/>
                                          </p:stCondLst>
                                        </p:cTn>
                                        <p:tgtEl>
                                          <p:spTgt spid="3">
                                            <p:txEl>
                                              <p:pRg st="4" end="4"/>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wipe(down)">
                                      <p:cBhvr>
                                        <p:cTn id="25" dur="580">
                                          <p:stCondLst>
                                            <p:cond delay="0"/>
                                          </p:stCondLst>
                                        </p:cTn>
                                        <p:tgtEl>
                                          <p:spTgt spid="3">
                                            <p:txEl>
                                              <p:pRg st="5" end="5"/>
                                            </p:txEl>
                                          </p:spTgt>
                                        </p:tgtEl>
                                      </p:cBhvr>
                                    </p:animEffect>
                                    <p:anim calcmode="lin" valueType="num">
                                      <p:cBhvr>
                                        <p:cTn id="26"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5" end="5"/>
                                            </p:txEl>
                                          </p:spTgt>
                                        </p:tgtEl>
                                      </p:cBhvr>
                                      <p:to x="100000" y="60000"/>
                                    </p:animScale>
                                    <p:animScale>
                                      <p:cBhvr>
                                        <p:cTn id="32" dur="166" decel="50000">
                                          <p:stCondLst>
                                            <p:cond delay="676"/>
                                          </p:stCondLst>
                                        </p:cTn>
                                        <p:tgtEl>
                                          <p:spTgt spid="3">
                                            <p:txEl>
                                              <p:pRg st="5" end="5"/>
                                            </p:txEl>
                                          </p:spTgt>
                                        </p:tgtEl>
                                      </p:cBhvr>
                                      <p:to x="100000" y="100000"/>
                                    </p:animScale>
                                    <p:animScale>
                                      <p:cBhvr>
                                        <p:cTn id="33" dur="26">
                                          <p:stCondLst>
                                            <p:cond delay="1312"/>
                                          </p:stCondLst>
                                        </p:cTn>
                                        <p:tgtEl>
                                          <p:spTgt spid="3">
                                            <p:txEl>
                                              <p:pRg st="5" end="5"/>
                                            </p:txEl>
                                          </p:spTgt>
                                        </p:tgtEl>
                                      </p:cBhvr>
                                      <p:to x="100000" y="80000"/>
                                    </p:animScale>
                                    <p:animScale>
                                      <p:cBhvr>
                                        <p:cTn id="34" dur="166" decel="50000">
                                          <p:stCondLst>
                                            <p:cond delay="1338"/>
                                          </p:stCondLst>
                                        </p:cTn>
                                        <p:tgtEl>
                                          <p:spTgt spid="3">
                                            <p:txEl>
                                              <p:pRg st="5" end="5"/>
                                            </p:txEl>
                                          </p:spTgt>
                                        </p:tgtEl>
                                      </p:cBhvr>
                                      <p:to x="100000" y="100000"/>
                                    </p:animScale>
                                    <p:animScale>
                                      <p:cBhvr>
                                        <p:cTn id="35" dur="26">
                                          <p:stCondLst>
                                            <p:cond delay="1642"/>
                                          </p:stCondLst>
                                        </p:cTn>
                                        <p:tgtEl>
                                          <p:spTgt spid="3">
                                            <p:txEl>
                                              <p:pRg st="5" end="5"/>
                                            </p:txEl>
                                          </p:spTgt>
                                        </p:tgtEl>
                                      </p:cBhvr>
                                      <p:to x="100000" y="90000"/>
                                    </p:animScale>
                                    <p:animScale>
                                      <p:cBhvr>
                                        <p:cTn id="36" dur="166" decel="50000">
                                          <p:stCondLst>
                                            <p:cond delay="1668"/>
                                          </p:stCondLst>
                                        </p:cTn>
                                        <p:tgtEl>
                                          <p:spTgt spid="3">
                                            <p:txEl>
                                              <p:pRg st="5" end="5"/>
                                            </p:txEl>
                                          </p:spTgt>
                                        </p:tgtEl>
                                      </p:cBhvr>
                                      <p:to x="100000" y="100000"/>
                                    </p:animScale>
                                    <p:animScale>
                                      <p:cBhvr>
                                        <p:cTn id="37" dur="26">
                                          <p:stCondLst>
                                            <p:cond delay="1808"/>
                                          </p:stCondLst>
                                        </p:cTn>
                                        <p:tgtEl>
                                          <p:spTgt spid="3">
                                            <p:txEl>
                                              <p:pRg st="5" end="5"/>
                                            </p:txEl>
                                          </p:spTgt>
                                        </p:tgtEl>
                                      </p:cBhvr>
                                      <p:to x="100000" y="95000"/>
                                    </p:animScale>
                                    <p:animScale>
                                      <p:cBhvr>
                                        <p:cTn id="38" dur="166" decel="50000">
                                          <p:stCondLst>
                                            <p:cond delay="1834"/>
                                          </p:stCondLst>
                                        </p:cTn>
                                        <p:tgtEl>
                                          <p:spTgt spid="3">
                                            <p:txEl>
                                              <p:pRg st="5" end="5"/>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wipe(down)">
                                      <p:cBhvr>
                                        <p:cTn id="43" dur="580">
                                          <p:stCondLst>
                                            <p:cond delay="0"/>
                                          </p:stCondLst>
                                        </p:cTn>
                                        <p:tgtEl>
                                          <p:spTgt spid="3">
                                            <p:txEl>
                                              <p:pRg st="6" end="6"/>
                                            </p:txEl>
                                          </p:spTgt>
                                        </p:tgtEl>
                                      </p:cBhvr>
                                    </p:animEffect>
                                    <p:anim calcmode="lin" valueType="num">
                                      <p:cBhvr>
                                        <p:cTn id="44"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6" end="6"/>
                                            </p:txEl>
                                          </p:spTgt>
                                        </p:tgtEl>
                                      </p:cBhvr>
                                      <p:to x="100000" y="60000"/>
                                    </p:animScale>
                                    <p:animScale>
                                      <p:cBhvr>
                                        <p:cTn id="50" dur="166" decel="50000">
                                          <p:stCondLst>
                                            <p:cond delay="676"/>
                                          </p:stCondLst>
                                        </p:cTn>
                                        <p:tgtEl>
                                          <p:spTgt spid="3">
                                            <p:txEl>
                                              <p:pRg st="6" end="6"/>
                                            </p:txEl>
                                          </p:spTgt>
                                        </p:tgtEl>
                                      </p:cBhvr>
                                      <p:to x="100000" y="100000"/>
                                    </p:animScale>
                                    <p:animScale>
                                      <p:cBhvr>
                                        <p:cTn id="51" dur="26">
                                          <p:stCondLst>
                                            <p:cond delay="1312"/>
                                          </p:stCondLst>
                                        </p:cTn>
                                        <p:tgtEl>
                                          <p:spTgt spid="3">
                                            <p:txEl>
                                              <p:pRg st="6" end="6"/>
                                            </p:txEl>
                                          </p:spTgt>
                                        </p:tgtEl>
                                      </p:cBhvr>
                                      <p:to x="100000" y="80000"/>
                                    </p:animScale>
                                    <p:animScale>
                                      <p:cBhvr>
                                        <p:cTn id="52" dur="166" decel="50000">
                                          <p:stCondLst>
                                            <p:cond delay="1338"/>
                                          </p:stCondLst>
                                        </p:cTn>
                                        <p:tgtEl>
                                          <p:spTgt spid="3">
                                            <p:txEl>
                                              <p:pRg st="6" end="6"/>
                                            </p:txEl>
                                          </p:spTgt>
                                        </p:tgtEl>
                                      </p:cBhvr>
                                      <p:to x="100000" y="100000"/>
                                    </p:animScale>
                                    <p:animScale>
                                      <p:cBhvr>
                                        <p:cTn id="53" dur="26">
                                          <p:stCondLst>
                                            <p:cond delay="1642"/>
                                          </p:stCondLst>
                                        </p:cTn>
                                        <p:tgtEl>
                                          <p:spTgt spid="3">
                                            <p:txEl>
                                              <p:pRg st="6" end="6"/>
                                            </p:txEl>
                                          </p:spTgt>
                                        </p:tgtEl>
                                      </p:cBhvr>
                                      <p:to x="100000" y="90000"/>
                                    </p:animScale>
                                    <p:animScale>
                                      <p:cBhvr>
                                        <p:cTn id="54" dur="166" decel="50000">
                                          <p:stCondLst>
                                            <p:cond delay="1668"/>
                                          </p:stCondLst>
                                        </p:cTn>
                                        <p:tgtEl>
                                          <p:spTgt spid="3">
                                            <p:txEl>
                                              <p:pRg st="6" end="6"/>
                                            </p:txEl>
                                          </p:spTgt>
                                        </p:tgtEl>
                                      </p:cBhvr>
                                      <p:to x="100000" y="100000"/>
                                    </p:animScale>
                                    <p:animScale>
                                      <p:cBhvr>
                                        <p:cTn id="55" dur="26">
                                          <p:stCondLst>
                                            <p:cond delay="1808"/>
                                          </p:stCondLst>
                                        </p:cTn>
                                        <p:tgtEl>
                                          <p:spTgt spid="3">
                                            <p:txEl>
                                              <p:pRg st="6" end="6"/>
                                            </p:txEl>
                                          </p:spTgt>
                                        </p:tgtEl>
                                      </p:cBhvr>
                                      <p:to x="100000" y="95000"/>
                                    </p:animScale>
                                    <p:animScale>
                                      <p:cBhvr>
                                        <p:cTn id="56" dur="166" decel="50000">
                                          <p:stCondLst>
                                            <p:cond delay="1834"/>
                                          </p:stCondLst>
                                        </p:cTn>
                                        <p:tgtEl>
                                          <p:spTgt spid="3">
                                            <p:txEl>
                                              <p:pRg st="6" end="6"/>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animEffect transition="in" filter="wipe(down)">
                                      <p:cBhvr>
                                        <p:cTn id="61" dur="580">
                                          <p:stCondLst>
                                            <p:cond delay="0"/>
                                          </p:stCondLst>
                                        </p:cTn>
                                        <p:tgtEl>
                                          <p:spTgt spid="3">
                                            <p:txEl>
                                              <p:pRg st="7" end="7"/>
                                            </p:txEl>
                                          </p:spTgt>
                                        </p:tgtEl>
                                      </p:cBhvr>
                                    </p:animEffect>
                                    <p:anim calcmode="lin" valueType="num">
                                      <p:cBhvr>
                                        <p:cTn id="62"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7" end="7"/>
                                            </p:txEl>
                                          </p:spTgt>
                                        </p:tgtEl>
                                      </p:cBhvr>
                                      <p:to x="100000" y="60000"/>
                                    </p:animScale>
                                    <p:animScale>
                                      <p:cBhvr>
                                        <p:cTn id="68" dur="166" decel="50000">
                                          <p:stCondLst>
                                            <p:cond delay="676"/>
                                          </p:stCondLst>
                                        </p:cTn>
                                        <p:tgtEl>
                                          <p:spTgt spid="3">
                                            <p:txEl>
                                              <p:pRg st="7" end="7"/>
                                            </p:txEl>
                                          </p:spTgt>
                                        </p:tgtEl>
                                      </p:cBhvr>
                                      <p:to x="100000" y="100000"/>
                                    </p:animScale>
                                    <p:animScale>
                                      <p:cBhvr>
                                        <p:cTn id="69" dur="26">
                                          <p:stCondLst>
                                            <p:cond delay="1312"/>
                                          </p:stCondLst>
                                        </p:cTn>
                                        <p:tgtEl>
                                          <p:spTgt spid="3">
                                            <p:txEl>
                                              <p:pRg st="7" end="7"/>
                                            </p:txEl>
                                          </p:spTgt>
                                        </p:tgtEl>
                                      </p:cBhvr>
                                      <p:to x="100000" y="80000"/>
                                    </p:animScale>
                                    <p:animScale>
                                      <p:cBhvr>
                                        <p:cTn id="70" dur="166" decel="50000">
                                          <p:stCondLst>
                                            <p:cond delay="1338"/>
                                          </p:stCondLst>
                                        </p:cTn>
                                        <p:tgtEl>
                                          <p:spTgt spid="3">
                                            <p:txEl>
                                              <p:pRg st="7" end="7"/>
                                            </p:txEl>
                                          </p:spTgt>
                                        </p:tgtEl>
                                      </p:cBhvr>
                                      <p:to x="100000" y="100000"/>
                                    </p:animScale>
                                    <p:animScale>
                                      <p:cBhvr>
                                        <p:cTn id="71" dur="26">
                                          <p:stCondLst>
                                            <p:cond delay="1642"/>
                                          </p:stCondLst>
                                        </p:cTn>
                                        <p:tgtEl>
                                          <p:spTgt spid="3">
                                            <p:txEl>
                                              <p:pRg st="7" end="7"/>
                                            </p:txEl>
                                          </p:spTgt>
                                        </p:tgtEl>
                                      </p:cBhvr>
                                      <p:to x="100000" y="90000"/>
                                    </p:animScale>
                                    <p:animScale>
                                      <p:cBhvr>
                                        <p:cTn id="72" dur="166" decel="50000">
                                          <p:stCondLst>
                                            <p:cond delay="1668"/>
                                          </p:stCondLst>
                                        </p:cTn>
                                        <p:tgtEl>
                                          <p:spTgt spid="3">
                                            <p:txEl>
                                              <p:pRg st="7" end="7"/>
                                            </p:txEl>
                                          </p:spTgt>
                                        </p:tgtEl>
                                      </p:cBhvr>
                                      <p:to x="100000" y="100000"/>
                                    </p:animScale>
                                    <p:animScale>
                                      <p:cBhvr>
                                        <p:cTn id="73" dur="26">
                                          <p:stCondLst>
                                            <p:cond delay="1808"/>
                                          </p:stCondLst>
                                        </p:cTn>
                                        <p:tgtEl>
                                          <p:spTgt spid="3">
                                            <p:txEl>
                                              <p:pRg st="7" end="7"/>
                                            </p:txEl>
                                          </p:spTgt>
                                        </p:tgtEl>
                                      </p:cBhvr>
                                      <p:to x="100000" y="95000"/>
                                    </p:animScale>
                                    <p:animScale>
                                      <p:cBhvr>
                                        <p:cTn id="74"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xfrm>
            <a:off x="457200" y="1523999"/>
            <a:ext cx="7467600" cy="4497141"/>
          </a:xfrm>
          <a:ln>
            <a:solidFill>
              <a:schemeClr val="bg1"/>
            </a:solidFill>
          </a:ln>
        </p:spPr>
        <p:style>
          <a:lnRef idx="2">
            <a:schemeClr val="dk1"/>
          </a:lnRef>
          <a:fillRef idx="1">
            <a:schemeClr val="lt1"/>
          </a:fillRef>
          <a:effectRef idx="0">
            <a:schemeClr val="dk1"/>
          </a:effectRef>
          <a:fontRef idx="minor">
            <a:schemeClr val="dk1"/>
          </a:fontRef>
        </p:style>
        <p:txBody>
          <a:bodyPr>
            <a:normAutofit fontScale="85000" lnSpcReduction="10000"/>
          </a:bodyPr>
          <a:lstStyle/>
          <a:p>
            <a:pPr marL="0" indent="0">
              <a:buNone/>
            </a:pPr>
            <a:r>
              <a:rPr lang="en-US" b="1" u="sng" dirty="0"/>
              <a:t>Implicit Use of </a:t>
            </a:r>
            <a:r>
              <a:rPr lang="en-US" b="1" u="sng" dirty="0" err="1"/>
              <a:t>Biconditionals</a:t>
            </a:r>
            <a:endParaRPr lang="en-US" b="1" u="sng" dirty="0"/>
          </a:p>
          <a:p>
            <a:r>
              <a:rPr lang="en-US" dirty="0"/>
              <a:t>You should be aware that </a:t>
            </a:r>
            <a:r>
              <a:rPr lang="en-US" dirty="0" err="1"/>
              <a:t>biconditionals</a:t>
            </a:r>
            <a:r>
              <a:rPr lang="en-US" dirty="0"/>
              <a:t> are not always explicit in natural language. In particular, the “if and only if” construction used in </a:t>
            </a:r>
            <a:r>
              <a:rPr lang="en-US" dirty="0" err="1"/>
              <a:t>biconditionals</a:t>
            </a:r>
            <a:r>
              <a:rPr lang="en-US" dirty="0"/>
              <a:t> is rarely used in common language. Instead, </a:t>
            </a:r>
            <a:r>
              <a:rPr lang="en-US" dirty="0" err="1"/>
              <a:t>biconditionals</a:t>
            </a:r>
            <a:r>
              <a:rPr lang="en-US" dirty="0"/>
              <a:t> are often expressed using an “if, then” or an “only if” construction. </a:t>
            </a:r>
          </a:p>
          <a:p>
            <a:r>
              <a:rPr lang="en-US" dirty="0"/>
              <a:t>The other part of the “if and only if” is implicit. That is, the converse is implied, but not stated. For example, consider the statement in English “If you finish your meal, then you can have dessert.” </a:t>
            </a:r>
          </a:p>
          <a:p>
            <a:r>
              <a:rPr lang="en-US" dirty="0"/>
              <a:t>What is really meant is “You can have dessert if and only if you finish your meal.” This last statement is logically equivalent to the two statements “If you finish your meal, then you can have dessert” and “You can have dessert only if you finish your meal.” </a:t>
            </a:r>
          </a:p>
        </p:txBody>
      </p:sp>
      <p:sp>
        <p:nvSpPr>
          <p:cNvPr id="5" name="Slide Number Placeholder 4"/>
          <p:cNvSpPr>
            <a:spLocks noGrp="1"/>
          </p:cNvSpPr>
          <p:nvPr>
            <p:ph type="sldNum" sz="quarter" idx="15"/>
          </p:nvPr>
        </p:nvSpPr>
        <p:spPr/>
        <p:txBody>
          <a:bodyPr/>
          <a:lstStyle/>
          <a:p>
            <a:fld id="{2B5E18CA-EFC1-4ED8-A974-4BD9A10BFFAB}" type="slidenum">
              <a:rPr lang="en-US" smtClean="0"/>
              <a:t>33</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1028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xfrm>
            <a:off x="457200" y="1523999"/>
            <a:ext cx="7467600" cy="4497141"/>
          </a:xfrm>
          <a:ln>
            <a:solidFill>
              <a:schemeClr val="bg1"/>
            </a:solidFill>
          </a:ln>
        </p:spPr>
        <p:style>
          <a:lnRef idx="2">
            <a:schemeClr val="dk1"/>
          </a:lnRef>
          <a:fillRef idx="1">
            <a:schemeClr val="lt1"/>
          </a:fillRef>
          <a:effectRef idx="0">
            <a:schemeClr val="dk1"/>
          </a:effectRef>
          <a:fontRef idx="minor">
            <a:schemeClr val="dk1"/>
          </a:fontRef>
        </p:style>
        <p:txBody>
          <a:bodyPr>
            <a:normAutofit fontScale="85000" lnSpcReduction="20000"/>
          </a:bodyPr>
          <a:lstStyle/>
          <a:p>
            <a:pPr marL="0" indent="0">
              <a:buNone/>
            </a:pPr>
            <a:r>
              <a:rPr lang="en-US" b="1" u="sng" dirty="0"/>
              <a:t>Truth Tables of Compound Propositions</a:t>
            </a:r>
          </a:p>
          <a:p>
            <a:r>
              <a:rPr lang="en-US" dirty="0"/>
              <a:t>We have now introduced four important logical connectives—conjunctions, disjunctions, conditional statements, and </a:t>
            </a:r>
            <a:r>
              <a:rPr lang="en-US" dirty="0" err="1"/>
              <a:t>biconditional</a:t>
            </a:r>
            <a:r>
              <a:rPr lang="en-US" dirty="0"/>
              <a:t> statements—as well as negations.</a:t>
            </a:r>
          </a:p>
          <a:p>
            <a:r>
              <a:rPr lang="en-US" dirty="0"/>
              <a:t>We can use these connectives to build up complicated compound propositions involving any number of propositional variables.</a:t>
            </a:r>
          </a:p>
          <a:p>
            <a:r>
              <a:rPr lang="en-US" dirty="0"/>
              <a:t>We can use truth tables to determine the truth values of these compound propositions. </a:t>
            </a:r>
          </a:p>
          <a:p>
            <a:r>
              <a:rPr lang="en-US" dirty="0"/>
              <a:t>We use a separate column to find the truth value of each compound expression that occurs in the compound proposition as it is built up. </a:t>
            </a:r>
          </a:p>
          <a:p>
            <a:r>
              <a:rPr lang="en-US" dirty="0"/>
              <a:t>The truth values of the compound proposition for each combination of truth values of the propositional variables in it is found in the final column of the table.</a:t>
            </a:r>
          </a:p>
        </p:txBody>
      </p:sp>
      <p:sp>
        <p:nvSpPr>
          <p:cNvPr id="5" name="Slide Number Placeholder 4"/>
          <p:cNvSpPr>
            <a:spLocks noGrp="1"/>
          </p:cNvSpPr>
          <p:nvPr>
            <p:ph type="sldNum" sz="quarter" idx="15"/>
          </p:nvPr>
        </p:nvSpPr>
        <p:spPr/>
        <p:txBody>
          <a:bodyPr/>
          <a:lstStyle/>
          <a:p>
            <a:fld id="{2B5E18CA-EFC1-4ED8-A974-4BD9A10BFFAB}" type="slidenum">
              <a:rPr lang="en-US" smtClean="0"/>
              <a:t>34</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5729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457200" y="1523999"/>
                <a:ext cx="7467600" cy="4497141"/>
              </a:xfrm>
              <a:ln>
                <a:solidFill>
                  <a:schemeClr val="bg1"/>
                </a:solidFill>
              </a:ln>
            </p:spPr>
            <p:style>
              <a:lnRef idx="2">
                <a:schemeClr val="dk1"/>
              </a:lnRef>
              <a:fillRef idx="1">
                <a:schemeClr val="lt1"/>
              </a:fillRef>
              <a:effectRef idx="0">
                <a:schemeClr val="dk1"/>
              </a:effectRef>
              <a:fontRef idx="minor">
                <a:schemeClr val="dk1"/>
              </a:fontRef>
            </p:style>
            <p:txBody>
              <a:bodyPr>
                <a:normAutofit fontScale="77500" lnSpcReduction="20000"/>
              </a:bodyPr>
              <a:lstStyle/>
              <a:p>
                <a:pPr marL="0" indent="0">
                  <a:buNone/>
                </a:pPr>
                <a:r>
                  <a:rPr lang="en-US" b="1" u="sng" dirty="0"/>
                  <a:t>Truth Tables of Compound Propositions</a:t>
                </a:r>
              </a:p>
              <a:p>
                <a:pPr marL="0" indent="0">
                  <a:buNone/>
                </a:pPr>
                <a:r>
                  <a:rPr lang="en-US" b="1" dirty="0"/>
                  <a:t>Example 11.</a:t>
                </a:r>
              </a:p>
              <a:p>
                <a:pPr marL="0" indent="0">
                  <a:buNone/>
                </a:pPr>
                <a:r>
                  <a:rPr lang="en-US" dirty="0"/>
                  <a:t>Construct the truth table of the compound proposition</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a:rPr>
                        <m:t>(</m:t>
                      </m:r>
                      <m:r>
                        <a:rPr lang="en-US" i="1" dirty="0" smtClean="0">
                          <a:latin typeface="Cambria Math"/>
                        </a:rPr>
                        <m:t>𝑝</m:t>
                      </m:r>
                      <m:r>
                        <a:rPr lang="en-US" i="1" dirty="0" smtClean="0">
                          <a:latin typeface="Cambria Math"/>
                        </a:rPr>
                        <m:t> ∨~</m:t>
                      </m:r>
                      <m:r>
                        <a:rPr lang="en-US" i="1" dirty="0" smtClean="0">
                          <a:latin typeface="Cambria Math"/>
                        </a:rPr>
                        <m:t>𝑞</m:t>
                      </m:r>
                      <m:r>
                        <a:rPr lang="en-US" i="1" dirty="0" smtClean="0">
                          <a:latin typeface="Cambria Math"/>
                        </a:rPr>
                        <m:t>) → (</m:t>
                      </m:r>
                      <m:r>
                        <a:rPr lang="en-US" i="1" dirty="0" smtClean="0">
                          <a:latin typeface="Cambria Math"/>
                        </a:rPr>
                        <m:t>𝑝</m:t>
                      </m:r>
                      <m:r>
                        <a:rPr lang="en-US" i="1" dirty="0" smtClean="0">
                          <a:latin typeface="Cambria Math"/>
                        </a:rPr>
                        <m:t> ∧ </m:t>
                      </m:r>
                      <m:r>
                        <a:rPr lang="en-US" i="1" dirty="0" smtClean="0">
                          <a:latin typeface="Cambria Math"/>
                        </a:rPr>
                        <m:t>𝑞</m:t>
                      </m:r>
                      <m:r>
                        <a:rPr lang="en-US" i="1" dirty="0" smtClean="0">
                          <a:latin typeface="Cambria Math"/>
                        </a:rPr>
                        <m:t>).</m:t>
                      </m:r>
                    </m:oMath>
                  </m:oMathPara>
                </a14:m>
                <a:endParaRPr lang="en-US" i="1" dirty="0"/>
              </a:p>
              <a:p>
                <a:pPr marL="0" indent="0">
                  <a:buNone/>
                </a:pPr>
                <a:r>
                  <a:rPr lang="en-US" b="1" i="1" dirty="0"/>
                  <a:t>Solution 11</a:t>
                </a:r>
                <a:r>
                  <a:rPr lang="en-US" i="1" dirty="0"/>
                  <a:t>: </a:t>
                </a:r>
              </a:p>
              <a:p>
                <a:r>
                  <a:rPr lang="en-US" dirty="0"/>
                  <a:t>Because this truth table involves two propositional variables </a:t>
                </a:r>
                <a:r>
                  <a:rPr lang="en-US" i="1" dirty="0"/>
                  <a:t>p </a:t>
                </a:r>
                <a:r>
                  <a:rPr lang="en-US" dirty="0"/>
                  <a:t>and </a:t>
                </a:r>
                <a:r>
                  <a:rPr lang="en-US" i="1" dirty="0"/>
                  <a:t>q</a:t>
                </a:r>
                <a:r>
                  <a:rPr lang="en-US" dirty="0"/>
                  <a:t>, there are four rows in this truth table, one for each of the pairs of truth values TT, TF, FT, and FF. </a:t>
                </a:r>
              </a:p>
              <a:p>
                <a:r>
                  <a:rPr lang="en-US" dirty="0"/>
                  <a:t>The first two columns are used for the truth values of </a:t>
                </a:r>
                <a:r>
                  <a:rPr lang="en-US" i="1" dirty="0"/>
                  <a:t>p </a:t>
                </a:r>
                <a:r>
                  <a:rPr lang="en-US" dirty="0"/>
                  <a:t>and </a:t>
                </a:r>
                <a:r>
                  <a:rPr lang="en-US" i="1" dirty="0"/>
                  <a:t>q</a:t>
                </a:r>
                <a:r>
                  <a:rPr lang="en-US" dirty="0"/>
                  <a:t>, respectively. </a:t>
                </a:r>
              </a:p>
              <a:p>
                <a:r>
                  <a:rPr lang="en-US" dirty="0"/>
                  <a:t>In the third column we find the truth value of ~</a:t>
                </a:r>
                <a:r>
                  <a:rPr lang="en-US" i="1" dirty="0"/>
                  <a:t>q</a:t>
                </a:r>
                <a:r>
                  <a:rPr lang="en-US" dirty="0"/>
                  <a:t>, needed to find the truth value of </a:t>
                </a:r>
                <a:r>
                  <a:rPr lang="en-US" i="1" dirty="0"/>
                  <a:t>p </a:t>
                </a:r>
                <a:r>
                  <a:rPr lang="en-US" dirty="0"/>
                  <a:t>∨~</a:t>
                </a:r>
                <a:r>
                  <a:rPr lang="en-US" i="1" dirty="0"/>
                  <a:t>q</a:t>
                </a:r>
                <a:r>
                  <a:rPr lang="en-US" dirty="0"/>
                  <a:t>, found in the fourth column. </a:t>
                </a:r>
              </a:p>
              <a:p>
                <a:r>
                  <a:rPr lang="en-US" dirty="0"/>
                  <a:t>The fifth column gives the truth value of </a:t>
                </a:r>
                <a:r>
                  <a:rPr lang="en-US" i="1" dirty="0"/>
                  <a:t>p </a:t>
                </a:r>
                <a:r>
                  <a:rPr lang="en-US" dirty="0"/>
                  <a:t>∧ </a:t>
                </a:r>
                <a:r>
                  <a:rPr lang="en-US" i="1" dirty="0"/>
                  <a:t>q</a:t>
                </a:r>
                <a:r>
                  <a:rPr lang="en-US" dirty="0"/>
                  <a:t>. </a:t>
                </a:r>
              </a:p>
              <a:p>
                <a:r>
                  <a:rPr lang="en-US" dirty="0"/>
                  <a:t>Finally, the truth value of </a:t>
                </a:r>
                <a:r>
                  <a:rPr lang="en-US" i="1" dirty="0"/>
                  <a:t>(p </a:t>
                </a:r>
                <a:r>
                  <a:rPr lang="en-US" dirty="0"/>
                  <a:t>∨~</a:t>
                </a:r>
                <a:r>
                  <a:rPr lang="en-US" i="1" dirty="0"/>
                  <a:t>q) </a:t>
                </a:r>
                <a:r>
                  <a:rPr lang="en-US" dirty="0"/>
                  <a:t>→ </a:t>
                </a:r>
                <a:r>
                  <a:rPr lang="en-US" i="1" dirty="0"/>
                  <a:t>(p </a:t>
                </a:r>
                <a:r>
                  <a:rPr lang="en-US" dirty="0"/>
                  <a:t>∧ </a:t>
                </a:r>
                <a:r>
                  <a:rPr lang="en-US" i="1" dirty="0"/>
                  <a:t>q) </a:t>
                </a:r>
                <a:r>
                  <a:rPr lang="en-US" dirty="0"/>
                  <a:t>is found in the last column. The resulting truth table is shown in Table 7.</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457200" y="1523999"/>
                <a:ext cx="7467600" cy="4497141"/>
              </a:xfrm>
              <a:blipFill rotWithShape="1">
                <a:blip r:embed="rId2"/>
                <a:stretch>
                  <a:fillRect l="-570" t="-1752" r="-1302"/>
                </a:stretch>
              </a:blipFill>
              <a:ln>
                <a:solidFill>
                  <a:schemeClr val="bg1"/>
                </a:solidFill>
              </a:ln>
            </p:spPr>
            <p:txBody>
              <a:bodyPr/>
              <a:lstStyle/>
              <a:p>
                <a:r>
                  <a:rPr lang="en-US">
                    <a:noFill/>
                  </a:rPr>
                  <a:t> </a:t>
                </a:r>
              </a:p>
            </p:txBody>
          </p:sp>
        </mc:Fallback>
      </mc:AlternateContent>
      <p:sp>
        <p:nvSpPr>
          <p:cNvPr id="5" name="Slide Number Placeholder 4"/>
          <p:cNvSpPr>
            <a:spLocks noGrp="1"/>
          </p:cNvSpPr>
          <p:nvPr>
            <p:ph type="sldNum" sz="quarter" idx="15"/>
          </p:nvPr>
        </p:nvSpPr>
        <p:spPr/>
        <p:txBody>
          <a:bodyPr/>
          <a:lstStyle/>
          <a:p>
            <a:fld id="{2B5E18CA-EFC1-4ED8-A974-4BD9A10BFFAB}" type="slidenum">
              <a:rPr lang="en-US" smtClean="0"/>
              <a:t>35</a:t>
            </a:fld>
            <a:endParaRPr lang="en-US"/>
          </a:p>
        </p:txBody>
      </p:sp>
      <p:pic>
        <p:nvPicPr>
          <p:cNvPr id="7" name="Picture 1"/>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41146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457200" y="1523999"/>
                <a:ext cx="7467600" cy="1524001"/>
              </a:xfrm>
              <a:ln>
                <a:solidFill>
                  <a:schemeClr val="bg1"/>
                </a:solidFill>
              </a:ln>
            </p:spPr>
            <p:style>
              <a:lnRef idx="2">
                <a:schemeClr val="dk1"/>
              </a:lnRef>
              <a:fillRef idx="1">
                <a:schemeClr val="lt1"/>
              </a:fillRef>
              <a:effectRef idx="0">
                <a:schemeClr val="dk1"/>
              </a:effectRef>
              <a:fontRef idx="minor">
                <a:schemeClr val="dk1"/>
              </a:fontRef>
            </p:style>
            <p:txBody>
              <a:bodyPr>
                <a:normAutofit fontScale="70000" lnSpcReduction="20000"/>
              </a:bodyPr>
              <a:lstStyle/>
              <a:p>
                <a:pPr marL="0" indent="0">
                  <a:buNone/>
                </a:pPr>
                <a:r>
                  <a:rPr lang="en-US" b="1" u="sng" dirty="0"/>
                  <a:t>Truth Tables of Compound Propositions</a:t>
                </a:r>
              </a:p>
              <a:p>
                <a:pPr marL="0" indent="0">
                  <a:buNone/>
                </a:pPr>
                <a:r>
                  <a:rPr lang="en-US" b="1" dirty="0"/>
                  <a:t>Example 11.</a:t>
                </a:r>
              </a:p>
              <a:p>
                <a:pPr marL="0" indent="0">
                  <a:buNone/>
                </a:pPr>
                <a:r>
                  <a:rPr lang="en-US" dirty="0"/>
                  <a:t>Construct the truth table of the compound proposition</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a:rPr>
                        <m:t>(</m:t>
                      </m:r>
                      <m:r>
                        <a:rPr lang="en-US" i="1" dirty="0" smtClean="0">
                          <a:latin typeface="Cambria Math"/>
                        </a:rPr>
                        <m:t>𝑝</m:t>
                      </m:r>
                      <m:r>
                        <a:rPr lang="en-US" i="1" dirty="0" smtClean="0">
                          <a:latin typeface="Cambria Math"/>
                        </a:rPr>
                        <m:t> ∨~</m:t>
                      </m:r>
                      <m:r>
                        <a:rPr lang="en-US" i="1" dirty="0" smtClean="0">
                          <a:latin typeface="Cambria Math"/>
                        </a:rPr>
                        <m:t>𝑞</m:t>
                      </m:r>
                      <m:r>
                        <a:rPr lang="en-US" i="1" dirty="0" smtClean="0">
                          <a:latin typeface="Cambria Math"/>
                        </a:rPr>
                        <m:t>) → (</m:t>
                      </m:r>
                      <m:r>
                        <a:rPr lang="en-US" i="1" dirty="0" smtClean="0">
                          <a:latin typeface="Cambria Math"/>
                        </a:rPr>
                        <m:t>𝑝</m:t>
                      </m:r>
                      <m:r>
                        <a:rPr lang="en-US" i="1" dirty="0" smtClean="0">
                          <a:latin typeface="Cambria Math"/>
                        </a:rPr>
                        <m:t> ∧ </m:t>
                      </m:r>
                      <m:r>
                        <a:rPr lang="en-US" i="1" dirty="0" smtClean="0">
                          <a:latin typeface="Cambria Math"/>
                        </a:rPr>
                        <m:t>𝑞</m:t>
                      </m:r>
                      <m:r>
                        <a:rPr lang="en-US" i="1" dirty="0" smtClean="0">
                          <a:latin typeface="Cambria Math"/>
                        </a:rPr>
                        <m:t>).</m:t>
                      </m:r>
                    </m:oMath>
                  </m:oMathPara>
                </a14:m>
                <a:endParaRPr lang="en-US" i="1" dirty="0"/>
              </a:p>
              <a:p>
                <a:pPr marL="0" indent="0">
                  <a:buNone/>
                </a:pPr>
                <a:r>
                  <a:rPr lang="en-US" b="1" i="1" dirty="0"/>
                  <a:t>Solution 11</a:t>
                </a:r>
                <a:r>
                  <a:rPr lang="en-US" i="1" dirty="0"/>
                  <a:t>: </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457200" y="1523999"/>
                <a:ext cx="7467600" cy="1524001"/>
              </a:xfrm>
              <a:blipFill rotWithShape="1">
                <a:blip r:embed="rId2"/>
                <a:stretch>
                  <a:fillRect l="-325" t="-3543"/>
                </a:stretch>
              </a:blipFill>
              <a:ln>
                <a:solidFill>
                  <a:schemeClr val="bg1"/>
                </a:solidFill>
              </a:ln>
            </p:spPr>
            <p:txBody>
              <a:bodyPr/>
              <a:lstStyle/>
              <a:p>
                <a:r>
                  <a:rPr lang="en-US">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3048000"/>
            <a:ext cx="7315201"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Slide Number Placeholder 4"/>
          <p:cNvSpPr>
            <a:spLocks noGrp="1"/>
          </p:cNvSpPr>
          <p:nvPr>
            <p:ph type="sldNum" sz="quarter" idx="15"/>
          </p:nvPr>
        </p:nvSpPr>
        <p:spPr/>
        <p:txBody>
          <a:bodyPr/>
          <a:lstStyle/>
          <a:p>
            <a:fld id="{2B5E18CA-EFC1-4ED8-A974-4BD9A10BFFAB}" type="slidenum">
              <a:rPr lang="en-US" smtClean="0"/>
              <a:t>36</a:t>
            </a:fld>
            <a:endParaRPr lang="en-US"/>
          </a:p>
        </p:txBody>
      </p:sp>
      <p:pic>
        <p:nvPicPr>
          <p:cNvPr id="8" name="Picture 1"/>
          <p:cNvPicPr>
            <a:picLocks noChangeAspect="1" noChangeArrowheads="1"/>
          </p:cNvPicPr>
          <p:nvPr/>
        </p:nvPicPr>
        <p:blipFill>
          <a:blip r:embed="rId4"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7221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xfrm>
            <a:off x="457200" y="1523999"/>
            <a:ext cx="7467600" cy="4497141"/>
          </a:xfrm>
          <a:ln>
            <a:solidFill>
              <a:schemeClr val="bg1"/>
            </a:solidFill>
          </a:ln>
        </p:spPr>
        <p:style>
          <a:lnRef idx="2">
            <a:schemeClr val="dk1"/>
          </a:lnRef>
          <a:fillRef idx="1">
            <a:schemeClr val="lt1"/>
          </a:fillRef>
          <a:effectRef idx="0">
            <a:schemeClr val="dk1"/>
          </a:effectRef>
          <a:fontRef idx="minor">
            <a:schemeClr val="dk1"/>
          </a:fontRef>
        </p:style>
        <p:txBody>
          <a:bodyPr>
            <a:normAutofit fontScale="70000" lnSpcReduction="20000"/>
          </a:bodyPr>
          <a:lstStyle/>
          <a:p>
            <a:pPr marL="0" indent="0" algn="just">
              <a:buNone/>
            </a:pPr>
            <a:r>
              <a:rPr lang="en-US" b="1" u="sng" dirty="0"/>
              <a:t>Precedence of Logical Operators</a:t>
            </a:r>
          </a:p>
          <a:p>
            <a:pPr algn="just"/>
            <a:r>
              <a:rPr lang="en-US" dirty="0"/>
              <a:t>We can construct compound propositions using the negation operator and the logical operators defined so far.</a:t>
            </a:r>
          </a:p>
          <a:p>
            <a:pPr algn="just"/>
            <a:r>
              <a:rPr lang="en-US" dirty="0"/>
              <a:t>We will generally use parentheses to specify the order in which logical operators in a compound proposition are to be applied. For instance, </a:t>
            </a:r>
            <a:r>
              <a:rPr lang="en-US" i="1" dirty="0"/>
              <a:t>(p </a:t>
            </a:r>
            <a:r>
              <a:rPr lang="en-US" dirty="0"/>
              <a:t>∨ </a:t>
            </a:r>
            <a:r>
              <a:rPr lang="en-US" i="1" dirty="0"/>
              <a:t>q) </a:t>
            </a:r>
            <a:r>
              <a:rPr lang="en-US" dirty="0"/>
              <a:t>∧ </a:t>
            </a:r>
            <a:r>
              <a:rPr lang="en-US" i="1" dirty="0"/>
              <a:t>(</a:t>
            </a:r>
            <a:r>
              <a:rPr lang="en-US" dirty="0"/>
              <a:t>~</a:t>
            </a:r>
            <a:r>
              <a:rPr lang="en-US" i="1" dirty="0"/>
              <a:t>r) </a:t>
            </a:r>
            <a:r>
              <a:rPr lang="en-US" dirty="0"/>
              <a:t>is the conjunction of </a:t>
            </a:r>
            <a:r>
              <a:rPr lang="en-US" i="1" dirty="0"/>
              <a:t>p </a:t>
            </a:r>
            <a:r>
              <a:rPr lang="en-US" dirty="0"/>
              <a:t>∨ </a:t>
            </a:r>
            <a:r>
              <a:rPr lang="en-US" i="1" dirty="0"/>
              <a:t>q </a:t>
            </a:r>
            <a:r>
              <a:rPr lang="en-US" dirty="0"/>
              <a:t>and ~</a:t>
            </a:r>
            <a:r>
              <a:rPr lang="en-US" i="1" dirty="0"/>
              <a:t>r</a:t>
            </a:r>
            <a:r>
              <a:rPr lang="en-US" dirty="0"/>
              <a:t>. </a:t>
            </a:r>
          </a:p>
          <a:p>
            <a:pPr algn="just"/>
            <a:r>
              <a:rPr lang="en-US" dirty="0"/>
              <a:t>However, to reduce the number of parentheses, we specify that the negation operator is applied before all other logical operators. </a:t>
            </a:r>
          </a:p>
          <a:p>
            <a:pPr algn="just"/>
            <a:r>
              <a:rPr lang="en-US" dirty="0"/>
              <a:t>This means that ~</a:t>
            </a:r>
            <a:r>
              <a:rPr lang="en-US" i="1" dirty="0"/>
              <a:t>p </a:t>
            </a:r>
            <a:r>
              <a:rPr lang="en-US" dirty="0"/>
              <a:t>∧ </a:t>
            </a:r>
            <a:r>
              <a:rPr lang="en-US" i="1" dirty="0"/>
              <a:t>q </a:t>
            </a:r>
            <a:r>
              <a:rPr lang="en-US" dirty="0"/>
              <a:t>is the conjunction of ~</a:t>
            </a:r>
            <a:r>
              <a:rPr lang="en-US" i="1" dirty="0"/>
              <a:t>p </a:t>
            </a:r>
            <a:r>
              <a:rPr lang="en-US" dirty="0"/>
              <a:t>and </a:t>
            </a:r>
            <a:r>
              <a:rPr lang="en-US" i="1" dirty="0"/>
              <a:t>q</a:t>
            </a:r>
            <a:r>
              <a:rPr lang="en-US" dirty="0"/>
              <a:t>, namely,       </a:t>
            </a:r>
            <a:r>
              <a:rPr lang="en-US" i="1" dirty="0"/>
              <a:t>(</a:t>
            </a:r>
            <a:r>
              <a:rPr lang="en-US" dirty="0"/>
              <a:t>~</a:t>
            </a:r>
            <a:r>
              <a:rPr lang="en-US" i="1" dirty="0"/>
              <a:t>p) </a:t>
            </a:r>
            <a:r>
              <a:rPr lang="en-US" dirty="0"/>
              <a:t>∧ </a:t>
            </a:r>
            <a:r>
              <a:rPr lang="en-US" i="1" dirty="0"/>
              <a:t>q</a:t>
            </a:r>
            <a:r>
              <a:rPr lang="en-US" dirty="0"/>
              <a:t>, not the negation of the conjunction of </a:t>
            </a:r>
            <a:r>
              <a:rPr lang="en-US" i="1" dirty="0"/>
              <a:t>p </a:t>
            </a:r>
            <a:r>
              <a:rPr lang="en-US" dirty="0"/>
              <a:t>and </a:t>
            </a:r>
            <a:r>
              <a:rPr lang="en-US" i="1" dirty="0"/>
              <a:t>q</a:t>
            </a:r>
            <a:r>
              <a:rPr lang="en-US" dirty="0"/>
              <a:t>, namely ~</a:t>
            </a:r>
            <a:r>
              <a:rPr lang="en-US" i="1" dirty="0"/>
              <a:t>(p </a:t>
            </a:r>
            <a:r>
              <a:rPr lang="en-US" dirty="0"/>
              <a:t>∧ </a:t>
            </a:r>
            <a:r>
              <a:rPr lang="en-US" i="1" dirty="0"/>
              <a:t>q)</a:t>
            </a:r>
            <a:r>
              <a:rPr lang="en-US" dirty="0"/>
              <a:t>.</a:t>
            </a:r>
          </a:p>
          <a:p>
            <a:pPr algn="just"/>
            <a:r>
              <a:rPr lang="en-US" dirty="0"/>
              <a:t>Another general rule of precedence is that the conjunction operator takes precedence over the disjunction operator, so that </a:t>
            </a:r>
            <a:r>
              <a:rPr lang="en-US" i="1" dirty="0"/>
              <a:t>p </a:t>
            </a:r>
            <a:r>
              <a:rPr lang="en-US" dirty="0"/>
              <a:t>∧ </a:t>
            </a:r>
            <a:r>
              <a:rPr lang="en-US" i="1" dirty="0"/>
              <a:t>q </a:t>
            </a:r>
            <a:r>
              <a:rPr lang="en-US" dirty="0"/>
              <a:t>∨ </a:t>
            </a:r>
            <a:r>
              <a:rPr lang="en-US" i="1" dirty="0"/>
              <a:t>r </a:t>
            </a:r>
            <a:r>
              <a:rPr lang="en-US" dirty="0"/>
              <a:t>means </a:t>
            </a:r>
            <a:r>
              <a:rPr lang="en-US" i="1" dirty="0"/>
              <a:t>(p </a:t>
            </a:r>
            <a:r>
              <a:rPr lang="en-US" dirty="0"/>
              <a:t>∧ </a:t>
            </a:r>
            <a:r>
              <a:rPr lang="en-US" i="1" dirty="0"/>
              <a:t>q) </a:t>
            </a:r>
            <a:r>
              <a:rPr lang="en-US" dirty="0"/>
              <a:t>∨ </a:t>
            </a:r>
            <a:r>
              <a:rPr lang="en-US" i="1" dirty="0"/>
              <a:t>r </a:t>
            </a:r>
            <a:r>
              <a:rPr lang="en-US" dirty="0"/>
              <a:t>rather than </a:t>
            </a:r>
            <a:r>
              <a:rPr lang="en-US" i="1" dirty="0"/>
              <a:t>p </a:t>
            </a:r>
            <a:r>
              <a:rPr lang="en-US" dirty="0"/>
              <a:t>∧ </a:t>
            </a:r>
            <a:r>
              <a:rPr lang="en-US" i="1" dirty="0"/>
              <a:t>(q </a:t>
            </a:r>
            <a:r>
              <a:rPr lang="en-US" dirty="0"/>
              <a:t>∨ </a:t>
            </a:r>
            <a:r>
              <a:rPr lang="en-US" i="1" dirty="0"/>
              <a:t>r)</a:t>
            </a:r>
            <a:r>
              <a:rPr lang="en-US" dirty="0"/>
              <a:t>. </a:t>
            </a:r>
          </a:p>
          <a:p>
            <a:pPr algn="just"/>
            <a:r>
              <a:rPr lang="en-US" dirty="0"/>
              <a:t>Because this rule may be difficult to remember, we will continue to use parentheses so that the order of the disjunction and conjunction operators is clear.</a:t>
            </a:r>
          </a:p>
        </p:txBody>
      </p:sp>
      <p:sp>
        <p:nvSpPr>
          <p:cNvPr id="5" name="Slide Number Placeholder 4"/>
          <p:cNvSpPr>
            <a:spLocks noGrp="1"/>
          </p:cNvSpPr>
          <p:nvPr>
            <p:ph type="sldNum" sz="quarter" idx="15"/>
          </p:nvPr>
        </p:nvSpPr>
        <p:spPr/>
        <p:txBody>
          <a:bodyPr/>
          <a:lstStyle/>
          <a:p>
            <a:fld id="{2B5E18CA-EFC1-4ED8-A974-4BD9A10BFFAB}" type="slidenum">
              <a:rPr lang="en-US" smtClean="0"/>
              <a:t>37</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3914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r>
              <a:rPr lang="en-US" dirty="0"/>
              <a:t>The Foundations: Logic and Proofs</a:t>
            </a:r>
          </a:p>
        </p:txBody>
      </p:sp>
      <p:sp>
        <p:nvSpPr>
          <p:cNvPr id="3" name="Content Placeholder 2"/>
          <p:cNvSpPr>
            <a:spLocks noGrp="1"/>
          </p:cNvSpPr>
          <p:nvPr>
            <p:ph sz="quarter" idx="1"/>
          </p:nvPr>
        </p:nvSpPr>
        <p:spPr>
          <a:xfrm>
            <a:off x="457200" y="1523999"/>
            <a:ext cx="7467600" cy="4497141"/>
          </a:xfrm>
          <a:ln>
            <a:solidFill>
              <a:schemeClr val="bg1"/>
            </a:solidFill>
          </a:ln>
        </p:spPr>
        <p:style>
          <a:lnRef idx="2">
            <a:schemeClr val="dk1"/>
          </a:lnRef>
          <a:fillRef idx="1">
            <a:schemeClr val="lt1"/>
          </a:fillRef>
          <a:effectRef idx="0">
            <a:schemeClr val="dk1"/>
          </a:effectRef>
          <a:fontRef idx="minor">
            <a:schemeClr val="dk1"/>
          </a:fontRef>
        </p:style>
        <p:txBody>
          <a:bodyPr>
            <a:normAutofit/>
          </a:bodyPr>
          <a:lstStyle/>
          <a:p>
            <a:pPr marL="0" indent="0" algn="just">
              <a:buNone/>
            </a:pPr>
            <a:r>
              <a:rPr lang="en-US" b="1" u="sng" dirty="0"/>
              <a:t>Precedence of Logical Operators</a:t>
            </a:r>
          </a:p>
          <a:p>
            <a:r>
              <a:rPr lang="en-US" dirty="0"/>
              <a:t>Finally, it is an accepted rule that the conditional and </a:t>
            </a:r>
            <a:r>
              <a:rPr lang="en-US" dirty="0" err="1"/>
              <a:t>biconditional</a:t>
            </a:r>
            <a:r>
              <a:rPr lang="en-US" dirty="0"/>
              <a:t> operators → and ↔ have lower precedence than the conjunction and disjunction operators, ∧ and ∨. </a:t>
            </a:r>
          </a:p>
          <a:p>
            <a:r>
              <a:rPr lang="en-US" dirty="0"/>
              <a:t>Consequently, </a:t>
            </a:r>
            <a:r>
              <a:rPr lang="en-US" i="1" dirty="0"/>
              <a:t>p </a:t>
            </a:r>
            <a:r>
              <a:rPr lang="en-US" dirty="0"/>
              <a:t>∨ </a:t>
            </a:r>
            <a:r>
              <a:rPr lang="en-US" i="1" dirty="0"/>
              <a:t>q </a:t>
            </a:r>
            <a:r>
              <a:rPr lang="en-US" dirty="0"/>
              <a:t>→ </a:t>
            </a:r>
            <a:r>
              <a:rPr lang="en-US" i="1" dirty="0"/>
              <a:t>r </a:t>
            </a:r>
            <a:r>
              <a:rPr lang="en-US" dirty="0"/>
              <a:t>is the same as </a:t>
            </a:r>
            <a:r>
              <a:rPr lang="en-US" i="1" dirty="0"/>
              <a:t>(p </a:t>
            </a:r>
            <a:r>
              <a:rPr lang="en-US" dirty="0"/>
              <a:t>∨ </a:t>
            </a:r>
            <a:r>
              <a:rPr lang="en-US" i="1" dirty="0"/>
              <a:t>q) </a:t>
            </a:r>
            <a:r>
              <a:rPr lang="en-US" dirty="0"/>
              <a:t>→ </a:t>
            </a:r>
            <a:r>
              <a:rPr lang="en-US" i="1" dirty="0"/>
              <a:t>r</a:t>
            </a:r>
            <a:r>
              <a:rPr lang="en-US" dirty="0"/>
              <a:t>. </a:t>
            </a:r>
          </a:p>
          <a:p>
            <a:r>
              <a:rPr lang="en-US" dirty="0"/>
              <a:t>We will use parentheses when the order of the conditional operator and </a:t>
            </a:r>
            <a:r>
              <a:rPr lang="en-US" dirty="0" err="1"/>
              <a:t>biconditional</a:t>
            </a:r>
            <a:r>
              <a:rPr lang="en-US" dirty="0"/>
              <a:t> operator is at issue, although the conditional operator has precedence over the </a:t>
            </a:r>
            <a:r>
              <a:rPr lang="en-US" dirty="0" err="1"/>
              <a:t>biconditional</a:t>
            </a:r>
            <a:r>
              <a:rPr lang="en-US" dirty="0"/>
              <a:t> operator.</a:t>
            </a:r>
          </a:p>
        </p:txBody>
      </p:sp>
      <p:sp>
        <p:nvSpPr>
          <p:cNvPr id="5" name="Slide Number Placeholder 4"/>
          <p:cNvSpPr>
            <a:spLocks noGrp="1"/>
          </p:cNvSpPr>
          <p:nvPr>
            <p:ph type="sldNum" sz="quarter" idx="15"/>
          </p:nvPr>
        </p:nvSpPr>
        <p:spPr/>
        <p:txBody>
          <a:bodyPr/>
          <a:lstStyle/>
          <a:p>
            <a:fld id="{2B5E18CA-EFC1-4ED8-A974-4BD9A10BFFAB}" type="slidenum">
              <a:rPr lang="en-US" smtClean="0"/>
              <a:t>38</a:t>
            </a:fld>
            <a:endParaRPr lang="en-US"/>
          </a:p>
        </p:txBody>
      </p:sp>
      <p:pic>
        <p:nvPicPr>
          <p:cNvPr id="7" name="Picture 1"/>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152400" y="76200"/>
            <a:ext cx="1447800" cy="136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76884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1925</TotalTime>
  <Words>2932</Words>
  <Application>Microsoft Office PowerPoint</Application>
  <PresentationFormat>On-screen Show (4:3)</PresentationFormat>
  <Paragraphs>314</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Calibri</vt:lpstr>
      <vt:lpstr>Cambria Math</vt:lpstr>
      <vt:lpstr>Century Schoolbook</vt:lpstr>
      <vt:lpstr>Wingdings</vt:lpstr>
      <vt:lpstr>Wingdings 2</vt:lpstr>
      <vt:lpstr>Oriel</vt:lpstr>
      <vt:lpstr>TN 111: Introduction to Discrete Mathematics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Truth table</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PowerPoint Presentation</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lpstr>The Foundations: Logic and Proofs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TN 110: Introduction to Discrete Mathematics</dc:title>
  <dc:creator>Mayengo, M. M</dc:creator>
  <cp:lastModifiedBy>Administration</cp:lastModifiedBy>
  <cp:revision>144</cp:revision>
  <dcterms:created xsi:type="dcterms:W3CDTF">2015-09-18T09:01:04Z</dcterms:created>
  <dcterms:modified xsi:type="dcterms:W3CDTF">2024-11-06T07:51:21Z</dcterms:modified>
</cp:coreProperties>
</file>