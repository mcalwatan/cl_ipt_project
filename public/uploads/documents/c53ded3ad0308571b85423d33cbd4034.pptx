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6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6F48"/>
                </a:solidFill>
              </a:defRPr>
            </a:pPr>
            <a:r>
              <a:t>Machine Learning Model for</a:t>
            </a:r>
          </a:p>
          <a:p>
            <a:pPr>
              <a:defRPr sz="3800" b="1">
                <a:solidFill>
                  <a:srgbClr val="1F2D26"/>
                </a:solidFill>
              </a:defRPr>
            </a:pPr>
            <a:r>
              <a:t>Wheat Health Crop Prediction</a:t>
            </a:r>
          </a:p>
          <a:p>
            <a:pPr>
              <a:defRPr sz="1900">
                <a:solidFill>
                  <a:srgbClr val="5A645F"/>
                </a:solidFill>
              </a:defRPr>
            </a:pPr>
            <a:r>
              <a:t>Project Presentation</a:t>
            </a:r>
          </a:p>
        </p:txBody>
      </p:sp>
      <p:sp>
        <p:nvSpPr>
          <p:cNvPr id="5" name="Oval 4"/>
          <p:cNvSpPr/>
          <p:nvPr/>
        </p:nvSpPr>
        <p:spPr>
          <a:xfrm>
            <a:off x="8961120" y="4572000"/>
            <a:ext cx="201168" cy="411480"/>
          </a:xfrm>
          <a:prstGeom prst="ellipse">
            <a:avLst/>
          </a:prstGeom>
          <a:solidFill>
            <a:srgbClr val="CD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17152" y="4389120"/>
            <a:ext cx="201168" cy="411480"/>
          </a:xfrm>
          <a:prstGeom prst="ellipse">
            <a:avLst/>
          </a:prstGeom>
          <a:solidFill>
            <a:srgbClr val="CD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73184" y="4572000"/>
            <a:ext cx="201168" cy="411480"/>
          </a:xfrm>
          <a:prstGeom prst="ellipse">
            <a:avLst/>
          </a:prstGeom>
          <a:solidFill>
            <a:srgbClr val="CD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29216" y="4389120"/>
            <a:ext cx="201168" cy="411480"/>
          </a:xfrm>
          <a:prstGeom prst="ellipse">
            <a:avLst/>
          </a:prstGeom>
          <a:solidFill>
            <a:srgbClr val="CD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85248" y="4572000"/>
            <a:ext cx="201168" cy="411480"/>
          </a:xfrm>
          <a:prstGeom prst="ellipse">
            <a:avLst/>
          </a:prstGeom>
          <a:solidFill>
            <a:srgbClr val="CD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0" y="4389120"/>
            <a:ext cx="201168" cy="411480"/>
          </a:xfrm>
          <a:prstGeom prst="ellipse">
            <a:avLst/>
          </a:prstGeom>
          <a:solidFill>
            <a:srgbClr val="CD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97312" y="4572000"/>
            <a:ext cx="201168" cy="411480"/>
          </a:xfrm>
          <a:prstGeom prst="ellipse">
            <a:avLst/>
          </a:prstGeom>
          <a:solidFill>
            <a:srgbClr val="CD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5F"/>
                </a:solidFill>
              </a:defRPr>
            </a:pPr>
            <a:r>
              <a:t>Wheat Health Crop Prediction  |  Slide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6F48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F2D26"/>
                </a:solidFill>
              </a:defRPr>
            </a:pPr>
            <a:r>
              <a:t>• The project focuses on predicting whether a wheat crop is Healthy or Unhealthy using numerical agricultural and environmental data.</a:t>
            </a:r>
          </a:p>
          <a:p>
            <a:pPr>
              <a:spcAft>
                <a:spcPts val="1200"/>
              </a:spcAft>
              <a:defRPr sz="1700">
                <a:solidFill>
                  <a:srgbClr val="1F2D26"/>
                </a:solidFill>
              </a:defRPr>
            </a:pPr>
            <a:r>
              <a:t>• The dataset was filtered to retain Wheat records only, then prepared for supervised binary classification.</a:t>
            </a:r>
          </a:p>
          <a:p>
            <a:pPr>
              <a:spcAft>
                <a:spcPts val="1200"/>
              </a:spcAft>
              <a:defRPr sz="1700">
                <a:solidFill>
                  <a:srgbClr val="1F2D26"/>
                </a:solidFill>
              </a:defRPr>
            </a:pPr>
            <a:r>
              <a:t>• 15 numerical features were used, including NDVI, SAVI, Chlorophyll Content, Leaf Area Index, soil, weather, pest, weed and yield-related variables.</a:t>
            </a:r>
          </a:p>
          <a:p>
            <a:pPr>
              <a:spcAft>
                <a:spcPts val="1200"/>
              </a:spcAft>
              <a:defRPr sz="1700">
                <a:solidFill>
                  <a:srgbClr val="1F2D26"/>
                </a:solidFill>
              </a:defRPr>
            </a:pPr>
            <a:r>
              <a:t>• The target variable is Crop_Health_Label: 0 = Unhealthy and 1 = Healthy.</a:t>
            </a:r>
          </a:p>
          <a:p>
            <a:pPr>
              <a:spcAft>
                <a:spcPts val="1200"/>
              </a:spcAft>
              <a:defRPr sz="1700">
                <a:solidFill>
                  <a:srgbClr val="1F2D26"/>
                </a:solidFill>
              </a:defRPr>
            </a:pPr>
            <a:r>
              <a:t>• The notebook compares four machine-learning algorithms before tuning the selected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5F"/>
                </a:solidFill>
              </a:defRPr>
            </a:pPr>
            <a:r>
              <a:t>Wheat Health Crop Prediction  |  Slide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6F48"/>
                </a:solidFill>
              </a:defRPr>
            </a:pPr>
            <a:r>
              <a:t>2. 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6F48"/>
                </a:solidFill>
              </a:defRPr>
            </a:pPr>
            <a:r>
              <a:t>Problem Statement</a:t>
            </a:r>
          </a:p>
          <a:p>
            <a:pPr>
              <a:spcAft>
                <a:spcPts val="1200"/>
              </a:spcAft>
              <a:defRPr sz="1600">
                <a:solidFill>
                  <a:srgbClr val="1F2D26"/>
                </a:solidFill>
              </a:defRPr>
            </a:pPr>
            <a:r>
              <a:t>• Wheat health can be affected by environmental conditions, soil properties, pests, weeds and crop-growth factors.</a:t>
            </a:r>
          </a:p>
          <a:p>
            <a:pPr>
              <a:spcAft>
                <a:spcPts val="1200"/>
              </a:spcAft>
              <a:defRPr sz="1600">
                <a:solidFill>
                  <a:srgbClr val="1F2D26"/>
                </a:solidFill>
              </a:defRPr>
            </a:pPr>
            <a:r>
              <a:t>• Manual assessment can be difficult when many numerical indicators must be considered together.</a:t>
            </a:r>
          </a:p>
          <a:p>
            <a:pPr>
              <a:spcAft>
                <a:spcPts val="1200"/>
              </a:spcAft>
              <a:defRPr sz="1600">
                <a:solidFill>
                  <a:srgbClr val="1F2D26"/>
                </a:solidFill>
              </a:defRPr>
            </a:pPr>
            <a:r>
              <a:t>• A data-driven model can learn patterns in these indicators and classify wheat crop health.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325880"/>
            <a:ext cx="53035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6F48"/>
                </a:solidFill>
              </a:defRPr>
            </a:pPr>
            <a:r>
              <a:t>Main Objective</a:t>
            </a:r>
          </a:p>
          <a:p>
            <a:pPr>
              <a:spcAft>
                <a:spcPts val="1800"/>
              </a:spcAft>
              <a:defRPr sz="1700" b="1">
                <a:solidFill>
                  <a:srgbClr val="1F2D26"/>
                </a:solidFill>
              </a:defRPr>
            </a:pPr>
            <a:r>
              <a:t>To develop a machine-learning model that predicts the health status of wheat crops as Healthy or Unhealthy.</a:t>
            </a:r>
          </a:p>
          <a:p>
            <a:pPr>
              <a:defRPr sz="2100" b="1">
                <a:solidFill>
                  <a:srgbClr val="1F6F48"/>
                </a:solidFill>
              </a:defRPr>
            </a:pPr>
            <a:r>
              <a:t>Specific Objectives</a:t>
            </a:r>
          </a:p>
          <a:p>
            <a:pPr>
              <a:spcAft>
                <a:spcPts val="700"/>
              </a:spcAft>
              <a:defRPr sz="1400">
                <a:solidFill>
                  <a:srgbClr val="1F2D26"/>
                </a:solidFill>
              </a:defRPr>
            </a:pPr>
            <a:r>
              <a:t>• Prepare and clean the wheat dataset.</a:t>
            </a:r>
          </a:p>
          <a:p>
            <a:pPr>
              <a:spcAft>
                <a:spcPts val="700"/>
              </a:spcAft>
              <a:defRPr sz="1400">
                <a:solidFill>
                  <a:srgbClr val="1F2D26"/>
                </a:solidFill>
              </a:defRPr>
            </a:pPr>
            <a:r>
              <a:t>• Select relevant numerical features and split data into training and testing sets.</a:t>
            </a:r>
          </a:p>
          <a:p>
            <a:pPr>
              <a:spcAft>
                <a:spcPts val="700"/>
              </a:spcAft>
              <a:defRPr sz="1400">
                <a:solidFill>
                  <a:srgbClr val="1F2D26"/>
                </a:solidFill>
              </a:defRPr>
            </a:pPr>
            <a:r>
              <a:t>• Train and compare Logistic Regression, Random Forest, XGBoost and LightGBM.</a:t>
            </a:r>
          </a:p>
          <a:p>
            <a:pPr>
              <a:spcAft>
                <a:spcPts val="700"/>
              </a:spcAft>
              <a:defRPr sz="1400">
                <a:solidFill>
                  <a:srgbClr val="1F2D26"/>
                </a:solidFill>
              </a:defRPr>
            </a:pPr>
            <a:r>
              <a:t>• Evaluate models using Accuracy, Precision, Recall, F1-score and ROC-AUC.</a:t>
            </a:r>
          </a:p>
          <a:p>
            <a:pPr>
              <a:spcAft>
                <a:spcPts val="700"/>
              </a:spcAft>
              <a:defRPr sz="1400">
                <a:solidFill>
                  <a:srgbClr val="1F2D26"/>
                </a:solidFill>
              </a:defRPr>
            </a:pPr>
            <a:r>
              <a:t>• Tune Logistic Regression using GridSearchCV and save the final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5F"/>
                </a:solidFill>
              </a:defRPr>
            </a:pPr>
            <a:r>
              <a:t>Wheat Health Crop Prediction  |  Slide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6F48"/>
                </a:solidFill>
              </a:defRPr>
            </a:pPr>
            <a:r>
              <a:t>3. Dataset &amp;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28600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A645F"/>
                </a:solidFill>
              </a:defRPr>
            </a:pPr>
            <a:r>
              <a:t>Original records</a:t>
            </a:r>
          </a:p>
          <a:p>
            <a:pPr algn="ctr">
              <a:defRPr sz="2400" b="1">
                <a:solidFill>
                  <a:srgbClr val="1F6F48"/>
                </a:solidFill>
              </a:defRPr>
            </a:pPr>
            <a:r>
              <a:t>212,019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325880"/>
            <a:ext cx="228600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A645F"/>
                </a:solidFill>
              </a:defRPr>
            </a:pPr>
            <a:r>
              <a:t>Wheat records</a:t>
            </a:r>
          </a:p>
          <a:p>
            <a:pPr algn="ctr">
              <a:defRPr sz="2400" b="1">
                <a:solidFill>
                  <a:srgbClr val="1F6F48"/>
                </a:solidFill>
              </a:defRPr>
            </a:pPr>
            <a:r>
              <a:t>126,991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25880"/>
            <a:ext cx="228600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A645F"/>
                </a:solidFill>
              </a:defRPr>
            </a:pPr>
            <a:r>
              <a:t>Input features</a:t>
            </a:r>
          </a:p>
          <a:p>
            <a:pPr algn="ctr">
              <a:defRPr sz="2400" b="1">
                <a:solidFill>
                  <a:srgbClr val="1F6F48"/>
                </a:solidFill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325880"/>
            <a:ext cx="228600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A645F"/>
                </a:solidFill>
              </a:defRPr>
            </a:pPr>
            <a:r>
              <a:t>Target classes</a:t>
            </a:r>
          </a:p>
          <a:p>
            <a:pPr algn="ctr">
              <a:defRPr sz="2400" b="1">
                <a:solidFill>
                  <a:srgbClr val="1F6F48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1F2D26"/>
                </a:solidFill>
              </a:defRPr>
            </a:pPr>
            <a:r>
              <a:t>• Wheat subset: 126,991 records.</a:t>
            </a:r>
          </a:p>
          <a:p>
            <a:pPr>
              <a:spcAft>
                <a:spcPts val="1200"/>
              </a:spcAft>
              <a:defRPr sz="1350">
                <a:solidFill>
                  <a:srgbClr val="1F2D26"/>
                </a:solidFill>
              </a:defRPr>
            </a:pPr>
            <a:r>
              <a:t>• Class distribution is almost perfectly balanced: 63,496 Unhealthy and 63,495 Healthy.</a:t>
            </a:r>
          </a:p>
          <a:p>
            <a:pPr>
              <a:spcAft>
                <a:spcPts val="1200"/>
              </a:spcAft>
              <a:defRPr sz="1350">
                <a:solidFill>
                  <a:srgbClr val="1F2D26"/>
                </a:solidFill>
              </a:defRPr>
            </a:pPr>
            <a:r>
              <a:t>• Train/test split: 80% training and 20% testing, with stratification and random_state = 42.</a:t>
            </a:r>
          </a:p>
          <a:p>
            <a:pPr>
              <a:spcAft>
                <a:spcPts val="1200"/>
              </a:spcAft>
              <a:defRPr sz="1350">
                <a:solidFill>
                  <a:srgbClr val="1F2D26"/>
                </a:solidFill>
              </a:defRPr>
            </a:pPr>
            <a:r>
              <a:t>• StandardScaler was applied to the numerical features before model training.</a:t>
            </a:r>
          </a:p>
          <a:p>
            <a:pPr>
              <a:spcAft>
                <a:spcPts val="1200"/>
              </a:spcAft>
              <a:defRPr sz="1350">
                <a:solidFill>
                  <a:srgbClr val="1F2D26"/>
                </a:solidFill>
              </a:defRPr>
            </a:pPr>
            <a:r>
              <a:t>• Features include NDVI, SAVI, Chlorophyll_Content, Leaf_Area_Index, Crop_Stress_Indicator, Temperature, Humidity, Rainfall, Soil_Moisture, Soil_pH, Organic_Matter, Pest_Damage, Weed_Coverage, Crop_Growth_Stage and Expected_Yield.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5F"/>
                </a:solidFill>
              </a:defRPr>
            </a:pPr>
            <a:r>
              <a:t>Wheat Health Crop Prediction  |  Slide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6F48"/>
                </a:solidFill>
              </a:defRPr>
            </a:pPr>
            <a:r>
              <a:t>4. Algorithms Used &amp; Why They Were Chosen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331720" cy="82296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6F48"/>
                </a:solidFill>
              </a:defRPr>
            </a:pPr>
            <a:r>
              <a:t>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307592"/>
            <a:ext cx="8046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F2D26"/>
                </a:solidFill>
              </a:defRPr>
            </a:pPr>
            <a:r>
              <a:t>Baseline and interpretable binary classifier. Suitable for Healthy vs Unhealthy prediction and works well after feature scaling.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2331720" cy="82296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6F48"/>
                </a:solidFill>
              </a:defRPr>
            </a:pPr>
            <a: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450592"/>
            <a:ext cx="8046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F2D26"/>
                </a:solidFill>
              </a:defRPr>
            </a:pPr>
            <a:r>
              <a:t>Ensemble of decision trees. Captures non-linear relationships and interactions and is relatively robust to noisy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11880"/>
            <a:ext cx="2331720" cy="82296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6F48"/>
                </a:solidFill>
              </a:defRPr>
            </a:pPr>
            <a:r>
              <a:t>XGBoost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593592"/>
            <a:ext cx="8046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F2D26"/>
                </a:solidFill>
              </a:defRPr>
            </a:pPr>
            <a:r>
              <a:t>Gradient-boosted trees designed for strong predictive performance and complex non-linear relationships.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754880"/>
            <a:ext cx="2331720" cy="82296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F6F48"/>
                </a:solidFill>
              </a:defRPr>
            </a:pPr>
            <a:r>
              <a:t>LightGBM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4736592"/>
            <a:ext cx="8046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F2D26"/>
                </a:solidFill>
              </a:defRPr>
            </a:pPr>
            <a:r>
              <a:t>Efficient gradient boosting implementation that can handle large tabular datasets with fast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5F"/>
                </a:solidFill>
              </a:defRPr>
            </a:pPr>
            <a:r>
              <a:t>Wheat Health Crop Prediction  |  Slide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6F48"/>
                </a:solidFill>
              </a:defRPr>
            </a:pPr>
            <a:r>
              <a:t>5. Model Metrics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5F"/>
                </a:solidFill>
              </a:defRPr>
            </a:pPr>
            <a:r>
              <a:t>Test-set results from the notebook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554480"/>
                <a:gridCol w="1554480"/>
                <a:gridCol w="1554480"/>
                <a:gridCol w="1554480"/>
                <a:gridCol w="18288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6F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F6F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F6F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F6F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F6F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F6F4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F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EF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0.831</a:t>
                      </a:r>
                    </a:p>
                  </a:txBody>
                  <a:tcPr>
                    <a:solidFill>
                      <a:srgbClr val="EF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0.835</a:t>
                      </a:r>
                    </a:p>
                  </a:txBody>
                  <a:tcPr>
                    <a:solidFill>
                      <a:srgbClr val="EF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EF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0.919</a:t>
                      </a:r>
                    </a:p>
                  </a:txBody>
                  <a:tcPr>
                    <a:solidFill>
                      <a:srgbClr val="EFF7F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0.911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0.913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D26"/>
                          </a:solidFill>
                        </a:defRPr>
                      </a:pPr>
                      <a:r>
                        <a:t>0.915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26280"/>
            <a:ext cx="107899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6F48"/>
                </a:solidFill>
              </a:defRPr>
            </a:pPr>
            <a:r>
              <a:t>Why Logistic Regression was selected in the notebook</a:t>
            </a:r>
          </a:p>
          <a:p>
            <a:pPr>
              <a:defRPr sz="1400">
                <a:solidFill>
                  <a:srgbClr val="1F2D26"/>
                </a:solidFill>
              </a:defRPr>
            </a:pPr>
            <a:r>
              <a:t>It was used as the final saved model because it provided a strong baseline, interpretable coefficients, fast training, and the highest test accuracy among the four initial models. GridSearchCV was then used to tune C, solver and class_weight.</a:t>
            </a:r>
          </a:p>
          <a:p>
            <a:pPr>
              <a:defRPr sz="1400">
                <a:solidFill>
                  <a:srgbClr val="1F2D26"/>
                </a:solidFill>
              </a:defRPr>
            </a:pPr>
            <a:r>
              <a:t>After tuning: best parameters = C=0.01, solver=lbfgs, class_weight=None; 5-fold CV accuracy ≈ 0.836.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5F"/>
                </a:solidFill>
              </a:defRPr>
            </a:pPr>
            <a:r>
              <a:t>Wheat Health Crop Prediction  |  Slide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6F48"/>
                </a:solidFill>
              </a:defRPr>
            </a:pPr>
            <a:r>
              <a:t>6. Final Model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10312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A645F"/>
                </a:solidFill>
              </a:defRPr>
            </a:pPr>
            <a:r>
              <a:t>Test Accuracy</a:t>
            </a:r>
          </a:p>
          <a:p>
            <a:pPr algn="ctr">
              <a:defRPr sz="2400" b="1">
                <a:solidFill>
                  <a:srgbClr val="1F6F48"/>
                </a:solidFill>
              </a:defRPr>
            </a:pPr>
            <a:r>
              <a:t>83.27%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325880"/>
            <a:ext cx="210312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A645F"/>
                </a:solidFill>
              </a:defRPr>
            </a:pPr>
            <a:r>
              <a:t>Precision</a:t>
            </a:r>
          </a:p>
          <a:p>
            <a:pPr algn="ctr">
              <a:defRPr sz="2400" b="1">
                <a:solidFill>
                  <a:srgbClr val="1F6F48"/>
                </a:solidFill>
              </a:defRPr>
            </a:pPr>
            <a:r>
              <a:t>83.14%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325880"/>
            <a:ext cx="210312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A645F"/>
                </a:solidFill>
              </a:defRPr>
            </a:pPr>
            <a:r>
              <a:t>Recall</a:t>
            </a:r>
          </a:p>
          <a:p>
            <a:pPr algn="ctr">
              <a:defRPr sz="2400" b="1">
                <a:solidFill>
                  <a:srgbClr val="1F6F48"/>
                </a:solidFill>
              </a:defRPr>
            </a:pPr>
            <a:r>
              <a:t>83.46%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325880"/>
            <a:ext cx="210312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A645F"/>
                </a:solidFill>
              </a:defRPr>
            </a:pPr>
            <a:r>
              <a:t>F1-score</a:t>
            </a:r>
          </a:p>
          <a:p>
            <a:pPr algn="ctr">
              <a:defRPr sz="2400" b="1">
                <a:solidFill>
                  <a:srgbClr val="1F6F48"/>
                </a:solidFill>
              </a:defRPr>
            </a:pPr>
            <a:r>
              <a:t>83.30%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325880"/>
            <a:ext cx="141732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1F6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A645F"/>
                </a:solidFill>
              </a:defRPr>
            </a:pPr>
            <a:r>
              <a:t>ROC-AUC</a:t>
            </a:r>
          </a:p>
          <a:p>
            <a:pPr algn="ctr">
              <a:defRPr sz="2400" b="1">
                <a:solidFill>
                  <a:srgbClr val="1F6F48"/>
                </a:solidFill>
              </a:defRPr>
            </a:pPr>
            <a:r>
              <a:t>0.919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F2D26"/>
                </a:solidFill>
              </a:defRPr>
            </a:pPr>
            <a:r>
              <a:t>• Final project model: Machine Learning Model for Wheat Health Crop Prediction.</a:t>
            </a:r>
          </a:p>
          <a:p>
            <a:pPr>
              <a:spcAft>
                <a:spcPts val="1200"/>
              </a:spcAft>
              <a:defRPr sz="1500">
                <a:solidFill>
                  <a:srgbClr val="1F2D26"/>
                </a:solidFill>
              </a:defRPr>
            </a:pPr>
            <a:r>
              <a:t>• The task is binary classification: Healthy (1) vs Unhealthy (0).</a:t>
            </a:r>
          </a:p>
          <a:p>
            <a:pPr>
              <a:spcAft>
                <a:spcPts val="1200"/>
              </a:spcAft>
              <a:defRPr sz="1500">
                <a:solidFill>
                  <a:srgbClr val="1F2D26"/>
                </a:solidFill>
              </a:defRPr>
            </a:pPr>
            <a:r>
              <a:t>• The notebook trained four algorithms and used GridSearchCV to tune Logistic Regression.</a:t>
            </a:r>
          </a:p>
          <a:p>
            <a:pPr>
              <a:spcAft>
                <a:spcPts val="1200"/>
              </a:spcAft>
              <a:defRPr sz="1500">
                <a:solidFill>
                  <a:srgbClr val="1F2D26"/>
                </a:solidFill>
              </a:defRPr>
            </a:pPr>
            <a:r>
              <a:t>• The tuned Logistic Regression model was saved together with the StandardScaler for use in the prediction application.</a:t>
            </a:r>
          </a:p>
          <a:p>
            <a:pPr>
              <a:spcAft>
                <a:spcPts val="1200"/>
              </a:spcAft>
              <a:defRPr sz="1500">
                <a:solidFill>
                  <a:srgbClr val="1F2D26"/>
                </a:solidFill>
              </a:defRPr>
            </a:pPr>
            <a:r>
              <a:t>• The model can support data-driven wheat health assessment from numerical agricultural and environmental indicators; it should be validated with independent/local field data before operational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5F"/>
                </a:solidFill>
              </a:defRPr>
            </a:pPr>
            <a:r>
              <a:t>Wheat Health Crop Prediction  |  Slide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