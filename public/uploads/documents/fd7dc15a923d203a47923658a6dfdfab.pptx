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2" r:id="rId2"/>
    <p:sldId id="305" r:id="rId3"/>
    <p:sldId id="306" r:id="rId4"/>
    <p:sldId id="307" r:id="rId5"/>
    <p:sldId id="308" r:id="rId6"/>
    <p:sldId id="309" r:id="rId7"/>
    <p:sldId id="310" r:id="rId8"/>
    <p:sldId id="314" r:id="rId9"/>
    <p:sldId id="311" r:id="rId10"/>
    <p:sldId id="312" r:id="rId11"/>
    <p:sldId id="31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B5A73-D998-4E50-BD3A-8A126678372C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46B5E-C43D-4A4E-9B5E-08032A1664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46B5E-C43D-4A4E-9B5E-08032A16645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4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6084B-3EED-479C-AD26-2D89206514A5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54898-DEB7-47B6-AB3A-39FAF0BAC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 Generating Function (MGF)</a:t>
                </a: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 random variable X is a function used to generate the moments (mean, variance, third central moment(skewness)) of the distribution.</a:t>
                </a:r>
              </a:p>
              <a:p>
                <a:pPr algn="just"/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random variable X, the moment generating function is defined as 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33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E(e</a:t>
                </a:r>
                <a:r>
                  <a:rPr lang="en-US" sz="33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tX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values of t where the expectation exists.</a:t>
                </a:r>
              </a:p>
              <a:p>
                <a:pPr algn="just"/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discrete random variable, 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33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</a:t>
                </a:r>
                <a14:m>
                  <m:oMath xmlns:m="http://schemas.openxmlformats.org/officeDocument/2006/math">
                    <m:r>
                      <a:rPr lang="en-US" sz="33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3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𝒕𝑿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sz="3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3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sz="3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P(x) is the PMF</a:t>
                </a:r>
              </a:p>
              <a:p>
                <a:pPr algn="just"/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continuous random variable, </a:t>
                </a:r>
              </a:p>
              <a:p>
                <a:pPr marL="0" indent="0" algn="just">
                  <a:buNone/>
                </a:pP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M</a:t>
                </a:r>
                <a:r>
                  <a:rPr lang="en-US" sz="33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33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33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3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3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33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𝒕𝑿</m:t>
                            </m:r>
                          </m:sup>
                        </m:sSup>
                        <m:r>
                          <a:rPr lang="en-US" sz="33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33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33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PDF.</a:t>
                </a:r>
              </a:p>
              <a:p>
                <a:pPr algn="just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333" t="-2987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407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are called Moment Generating Functions (MGFs) because they generate the moments of a random variable through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differentiation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reason the MGF is usually evaluated at t=0 is because the moments (mean, variance, etc.) are obtained from the derivatives of the MGF at that point.</a:t>
                </a:r>
              </a:p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derivatives of the MGF at t=0 give:</a:t>
                </a:r>
              </a:p>
              <a:p>
                <a:pPr marL="0" indent="0" algn="just"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M′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E(X) = First moment (Mean) </a:t>
                </a:r>
              </a:p>
              <a:p>
                <a:pPr marL="0" indent="0" algn="just"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M′′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Second moment</a:t>
                </a:r>
              </a:p>
              <a:p>
                <a:pPr marL="0" indent="0" algn="just"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M′′′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Third moment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nth moment</a:t>
                </a:r>
                <a:endPara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333" t="-2088" r="-1481" b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801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computing higher moments such as third moments, fourth moments, third central moments is complex, the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Cumulant Generating Function (CGF)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introduced to make mathematical computations easy.</a:t>
                </a:r>
              </a:p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Cumulant Generating Function (CGF) is called that because it generates quantities called cumulants, just like the MGF generates moments.</a:t>
                </a:r>
              </a:p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CGF of a random variable X is defined as 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𝒍𝒏</m:t>
                    </m:r>
                    <m:r>
                      <a:rPr lang="en-US" sz="28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(t))  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E(e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the MGF</a:t>
                </a:r>
              </a:p>
              <a:p>
                <a:pPr algn="just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derivatives of the CGF at t=0 give:</a:t>
                </a:r>
              </a:p>
              <a:p>
                <a:pPr marL="0" indent="0" algn="just"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K′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First cumulant = E(X) = Mean </a:t>
                </a:r>
              </a:p>
              <a:p>
                <a:pPr marL="0" indent="0" algn="just"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K′′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Second cumulant = 2nd central moment=Variance </a:t>
                </a:r>
              </a:p>
              <a:p>
                <a:pPr marL="0" indent="0" algn="just">
                  <a:buNone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K′′′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Third cumulant = Third central moment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(skewness information)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963" t="-2320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48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BERNOULLI DISTRIBUTION</a:t>
                </a:r>
              </a:p>
              <a:p>
                <a:pPr algn="just"/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smart sensor detects overheating with probability 0.95. Let X=1 if overheating is detected and X=0 otherwise. Find the MGF</a:t>
                </a:r>
                <a:endParaRPr lang="en-US" sz="3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wireless communication system, a transmitted packet is successfully received with probability p. The random variable X is defined as:</a:t>
                </a:r>
              </a:p>
              <a:p>
                <a:pPr marL="0" indent="0" algn="just">
                  <a:buNone/>
                </a:pPr>
                <a:r>
                  <a:rPr lang="en-US" sz="3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𝑝𝑎𝑐𝑘𝑒𝑡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𝑟𝑒𝑐𝑒𝑖𝑣𝑒𝑑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𝑠𝑢𝑐𝑐𝑒𝑠𝑠𝑓𝑢𝑙𝑙𝑦</m:t>
                            </m:r>
                          </m:e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0,                                     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𝑝𝑎𝑐𝑘𝑒𝑡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𝑙𝑜𝑠𝑡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</a:p>
              <a:p>
                <a:pPr marL="0" indent="0" algn="just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The MGF of X is given by M</a:t>
                </a:r>
                <a:r>
                  <a:rPr lang="en-US" sz="3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400" b="1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0.3+0.7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Find:</a:t>
                </a:r>
              </a:p>
              <a:p>
                <a:pPr marL="0" indent="0" algn="just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(a) The distribution type of X  (b) The value of p</a:t>
                </a:r>
              </a:p>
              <a:p>
                <a:pPr marL="0" indent="0" algn="just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(c) The mean number of successful transmissions </a:t>
                </a:r>
              </a:p>
              <a:p>
                <a:pPr marL="0" indent="0" algn="just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(d) The variance   (e) Coefficient of skewness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111" t="-2987" r="-1333" b="-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13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334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ctr">
                  <a:buNone/>
                </a:pPr>
                <a:r>
                  <a:rPr lang="en-US" sz="4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BINOMIAL DISTRIBUTION</a:t>
                </a:r>
              </a:p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communication system sends 20 bits. Each bit is correctly received with probability 0.97. Let X be the number of correctly received bits. Determine the MGF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 industrial monitoring system contains 5 smart sensors operating independently. Each sensor correctly detects machine vibration with probability p. The MGF of the random variable X, representing the number of sensors detecting correctly, is: M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(0.4+0.6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(a) The distribution type (b) The number of trials 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(c) The expected number of correctly functioning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sensors  (d) The variance of the system response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(e) Coefficient of skewness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334000"/>
              </a:xfrm>
              <a:blipFill>
                <a:blip r:embed="rId2"/>
                <a:stretch>
                  <a:fillRect l="-1037" t="-3429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337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POISSON DISTRIBUTION</a:t>
                </a:r>
              </a:p>
              <a:p>
                <a:pPr algn="just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web server receives an average of 6 requests per minute. Let X be the number of requests received per minute. Then X∼Poisson(6). Find MGF</a:t>
                </a:r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router receives data packets according to the MGF, 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sup>
                            </m:s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X is the number of packets arriving per millisecond. Determine: (a) The distribution type (b) Average packet arrival rate (c) Variance of packet arrivals (d) Third central moment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333" t="-1673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7191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:r>
                  <a:rPr lang="en-US" sz="3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DISCRETE UNIFORM DISTRIBUTION</a:t>
                </a:r>
              </a:p>
              <a:p>
                <a:pPr algn="just"/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robot randomly selects operating frequencies: X∈{50,100,150,200}. Find; (a) Distribution type (b) MGF</a:t>
                </a:r>
                <a:endPara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robotic controller randomly chooses one operating frequency from six equally spaced frequencies. The random variable X has MGF, M</a:t>
                </a:r>
                <a:r>
                  <a:rPr lang="en-US" sz="3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12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6(</m:t>
                        </m:r>
                        <m:sSup>
                          <m:sSupPr>
                            <m:ctrlPr>
                              <a:rPr lang="en-US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Find:</a:t>
                </a:r>
              </a:p>
              <a:p>
                <a:pPr marL="0" indent="0" algn="just">
                  <a:buNone/>
                </a:pP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(a) The probability distribution represented by</a:t>
                </a:r>
              </a:p>
              <a:p>
                <a:pPr marL="0" indent="0" algn="just">
                  <a:buNone/>
                </a:pP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the MGF  (b) The mean operating frequency </a:t>
                </a:r>
              </a:p>
              <a:p>
                <a:pPr marL="0" indent="0" algn="just">
                  <a:buNone/>
                </a:pP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(c) The variance  (d) Coefficient of skewness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>
                <a:blip r:embed="rId2"/>
                <a:stretch>
                  <a:fillRect l="-1111" t="-3448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88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robot randomly selects operating frequencies: X∈{8,16,24….1000}. Find; (a) Distribution type (b) MGF</a:t>
                </a:r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robotic controller randomly chooses one operating frequency from six equally spaced frequencies. The random variable X has MGF,   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50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den>
                    </m:f>
                    <m:r>
                      <a:rPr lang="en-US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Find: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(a) The probability distribution represented by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the MGF  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(b) The mean operating frequency 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(c) The variance  (d) Coefficient of skewness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111" t="-191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11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GEOMETRIC DISTRIBUTION</a:t>
                </a:r>
              </a:p>
              <a:p>
                <a:pPr algn="just"/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user successfully logs into a server with probability 0.7. Let X be the number of login attempts before the first successful login. Find The MGF</a:t>
                </a:r>
                <a:endPara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secure server requires repeated login attempts until authentication succeeds. Let X=number of login attempts before first successful login. The MGF of X is M</a:t>
                </a:r>
                <a:r>
                  <a:rPr lang="en-US" sz="3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0.3</m:t>
                        </m:r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1−0.7</m:t>
                        </m:r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  <m:r>
                      <a:rPr lang="en-US" sz="3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Find:</a:t>
                </a:r>
              </a:p>
              <a:p>
                <a:pPr marL="0" indent="0" algn="just">
                  <a:buNone/>
                </a:pP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(a) The distribution represented by the MGF </a:t>
                </a:r>
              </a:p>
              <a:p>
                <a:pPr marL="0" indent="0" algn="just">
                  <a:buNone/>
                </a:pP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(b) The expected number of startup attempts </a:t>
                </a:r>
              </a:p>
              <a:p>
                <a:pPr marL="0" indent="0" algn="just">
                  <a:buNone/>
                </a:pP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(c) The variance  (d) Third central moment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333" t="-3248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972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NORMAL DISTRIBUTION</a:t>
                </a:r>
              </a:p>
              <a:p>
                <a:pPr algn="just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Positioning errors in a robotic arm follow X∼N(5,1). Find: (a) Distribution type  (b) MGF</a:t>
                </a:r>
                <a:endParaRPr 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noise voltage in an electronic communication system follows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+8</m:t>
                        </m:r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 (a) Distribution type (b) Mean noise voltage (c) Variance (d) Third central moment</a:t>
                </a:r>
              </a:p>
              <a:p>
                <a:pPr algn="just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industrial sensor produces measurement errors with MGF, M</a:t>
                </a:r>
                <a:r>
                  <a:rPr lang="en-US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+4</m:t>
                        </m:r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Find; (a) Mean error </a:t>
                </a:r>
              </a:p>
              <a:p>
                <a:pPr marL="0" indent="0" algn="just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(b) Second moment  (c) Variance </a:t>
                </a:r>
              </a:p>
              <a:p>
                <a:pPr marL="0" indent="0" algn="just">
                  <a:buNone/>
                </a:pPr>
                <a:endParaRPr lang="en-US" sz="2400" dirty="0"/>
              </a:p>
              <a:p>
                <a:pPr algn="just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3"/>
                <a:stretch>
                  <a:fillRect l="-1111" t="-1624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888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OF A GENERATING FUNCTION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MGF FOR CONTINUOUS UNIFORM DISTRIBUTION</a:t>
                </a:r>
                <a:endParaRPr lang="en-US" dirty="0"/>
              </a:p>
              <a:p>
                <a:pPr algn="just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delay in a communication network is continuously uniformly distributed between 2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8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ms.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 the MGF</a:t>
                </a:r>
              </a:p>
              <a:p>
                <a:pPr algn="just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the MGF of a continuous random variable is 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Find: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(a) The distribution type (b) Mean  (c)Variance</a:t>
                </a:r>
              </a:p>
              <a:p>
                <a:pPr marL="0" indent="0" algn="just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(d) Coefficient of skewness</a:t>
                </a:r>
              </a:p>
              <a:p>
                <a:pPr algn="just"/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65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38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9982</TotalTime>
  <Words>1216</Words>
  <Application>Microsoft Office PowerPoint</Application>
  <PresentationFormat>On-screen Show (4:3)</PresentationFormat>
  <Paragraphs>83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Office Theme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  <vt:lpstr>MOMENT OF A GENERATING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Ibrahim Ally</cp:lastModifiedBy>
  <cp:revision>351</cp:revision>
  <dcterms:created xsi:type="dcterms:W3CDTF">2014-03-19T14:03:09Z</dcterms:created>
  <dcterms:modified xsi:type="dcterms:W3CDTF">2026-07-26T19:44:23Z</dcterms:modified>
</cp:coreProperties>
</file>